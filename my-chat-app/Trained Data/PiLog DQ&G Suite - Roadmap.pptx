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146848076" r:id="rId2"/>
    <p:sldId id="2147479417" r:id="rId3"/>
    <p:sldId id="2147479344" r:id="rId4"/>
    <p:sldId id="2147483335" r:id="rId5"/>
    <p:sldId id="214748333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1A31F-A47B-3033-6B82-6E35655BA59A}" name="Imad Syed" initials="IS" userId="S::imad.syed@piloggroup.com::5d747845-fc38-47e8-a112-9e81b06bd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79B"/>
    <a:srgbClr val="2D63AF"/>
    <a:srgbClr val="26B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EA0CC-B2D1-C043-9AFE-D5A392EE9B63}" v="537" dt="2025-05-20T13:24:29.361"/>
    <p1510:client id="{0B9B61FA-9469-A7A5-37FD-5366007C57ED}" v="209" dt="2025-05-20T12:12:11.018"/>
    <p1510:client id="{17800CC0-7D39-2143-9DB9-0AFED154D6BF}" v="1" dt="2025-05-20T05:05:46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71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Ahmed" userId="6d8d8120-f6a8-48c0-9ffd-54933a13dc73" providerId="ADAL" clId="{06AEA0CC-B2D1-C043-9AFE-D5A392EE9B63}"/>
    <pc:docChg chg="undo custSel addSld delSld modSld">
      <pc:chgData name="Asif Ahmed" userId="6d8d8120-f6a8-48c0-9ffd-54933a13dc73" providerId="ADAL" clId="{06AEA0CC-B2D1-C043-9AFE-D5A392EE9B63}" dt="2025-05-20T13:24:29.361" v="834" actId="1076"/>
      <pc:docMkLst>
        <pc:docMk/>
      </pc:docMkLst>
      <pc:sldChg chg="del">
        <pc:chgData name="Asif Ahmed" userId="6d8d8120-f6a8-48c0-9ffd-54933a13dc73" providerId="ADAL" clId="{06AEA0CC-B2D1-C043-9AFE-D5A392EE9B63}" dt="2025-05-20T05:33:04.008" v="26" actId="2696"/>
        <pc:sldMkLst>
          <pc:docMk/>
          <pc:sldMk cId="525634351" sldId="2063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0" sldId="16141395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0" sldId="16141397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9590237" sldId="2146847786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1494601431" sldId="2146847787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3966877609" sldId="2146847789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872077764" sldId="2146847791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1588461727" sldId="2146847792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96860808" sldId="2146847793"/>
        </pc:sldMkLst>
      </pc:sldChg>
      <pc:sldChg chg="modSp mod">
        <pc:chgData name="Asif Ahmed" userId="6d8d8120-f6a8-48c0-9ffd-54933a13dc73" providerId="ADAL" clId="{06AEA0CC-B2D1-C043-9AFE-D5A392EE9B63}" dt="2025-05-20T05:30:18.780" v="24" actId="20577"/>
        <pc:sldMkLst>
          <pc:docMk/>
          <pc:sldMk cId="2249063695" sldId="2146848076"/>
        </pc:sldMkLst>
        <pc:spChg chg="mod">
          <ac:chgData name="Asif Ahmed" userId="6d8d8120-f6a8-48c0-9ffd-54933a13dc73" providerId="ADAL" clId="{06AEA0CC-B2D1-C043-9AFE-D5A392EE9B63}" dt="2025-05-20T05:30:18.780" v="24" actId="20577"/>
          <ac:spMkLst>
            <pc:docMk/>
            <pc:sldMk cId="2249063695" sldId="2146848076"/>
            <ac:spMk id="3" creationId="{4F44CB82-A282-6DAD-99D6-A684991D8B72}"/>
          </ac:spMkLst>
        </pc:spChg>
      </pc:sldChg>
      <pc:sldChg chg="del">
        <pc:chgData name="Asif Ahmed" userId="6d8d8120-f6a8-48c0-9ffd-54933a13dc73" providerId="ADAL" clId="{06AEA0CC-B2D1-C043-9AFE-D5A392EE9B63}" dt="2025-05-20T05:41:01.490" v="89" actId="2696"/>
        <pc:sldMkLst>
          <pc:docMk/>
          <pc:sldMk cId="3195284925" sldId="2147479256"/>
        </pc:sldMkLst>
      </pc:sldChg>
      <pc:sldChg chg="del">
        <pc:chgData name="Asif Ahmed" userId="6d8d8120-f6a8-48c0-9ffd-54933a13dc73" providerId="ADAL" clId="{06AEA0CC-B2D1-C043-9AFE-D5A392EE9B63}" dt="2025-05-20T05:41:24.185" v="91" actId="2696"/>
        <pc:sldMkLst>
          <pc:docMk/>
          <pc:sldMk cId="2035515528" sldId="2147479308"/>
        </pc:sldMkLst>
      </pc:sldChg>
      <pc:sldChg chg="del">
        <pc:chgData name="Asif Ahmed" userId="6d8d8120-f6a8-48c0-9ffd-54933a13dc73" providerId="ADAL" clId="{06AEA0CC-B2D1-C043-9AFE-D5A392EE9B63}" dt="2025-05-20T12:04:11.253" v="617" actId="2696"/>
        <pc:sldMkLst>
          <pc:docMk/>
          <pc:sldMk cId="2677451711" sldId="2147479309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2739272310" sldId="2147479338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2851680887" sldId="2147479340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4198242572" sldId="2147479341"/>
        </pc:sldMkLst>
      </pc:sldChg>
      <pc:sldChg chg="del">
        <pc:chgData name="Asif Ahmed" userId="6d8d8120-f6a8-48c0-9ffd-54933a13dc73" providerId="ADAL" clId="{06AEA0CC-B2D1-C043-9AFE-D5A392EE9B63}" dt="2025-05-20T11:03:01.787" v="483" actId="2696"/>
        <pc:sldMkLst>
          <pc:docMk/>
          <pc:sldMk cId="3503397070" sldId="2147479343"/>
        </pc:sldMkLst>
      </pc:sldChg>
      <pc:sldChg chg="modSp mod modShow">
        <pc:chgData name="Asif Ahmed" userId="6d8d8120-f6a8-48c0-9ffd-54933a13dc73" providerId="ADAL" clId="{06AEA0CC-B2D1-C043-9AFE-D5A392EE9B63}" dt="2025-05-20T13:12:11.361" v="702" actId="729"/>
        <pc:sldMkLst>
          <pc:docMk/>
          <pc:sldMk cId="2979490824" sldId="2147479344"/>
        </pc:sldMkLst>
        <pc:graphicFrameChg chg="mod modGraphic">
          <ac:chgData name="Asif Ahmed" userId="6d8d8120-f6a8-48c0-9ffd-54933a13dc73" providerId="ADAL" clId="{06AEA0CC-B2D1-C043-9AFE-D5A392EE9B63}" dt="2025-05-20T12:08:01.105" v="634" actId="20577"/>
          <ac:graphicFrameMkLst>
            <pc:docMk/>
            <pc:sldMk cId="2979490824" sldId="2147479344"/>
            <ac:graphicFrameMk id="24" creationId="{99C2784A-6BC8-2A25-9F10-D92D0CF225F4}"/>
          </ac:graphicFrameMkLst>
        </pc:graphicFrameChg>
      </pc:sldChg>
      <pc:sldChg chg="del">
        <pc:chgData name="Asif Ahmed" userId="6d8d8120-f6a8-48c0-9ffd-54933a13dc73" providerId="ADAL" clId="{06AEA0CC-B2D1-C043-9AFE-D5A392EE9B63}" dt="2025-05-20T12:04:11.253" v="617" actId="2696"/>
        <pc:sldMkLst>
          <pc:docMk/>
          <pc:sldMk cId="4284756143" sldId="2147483333"/>
        </pc:sldMkLst>
      </pc:sldChg>
      <pc:sldChg chg="modSp add mod">
        <pc:chgData name="Asif Ahmed" userId="6d8d8120-f6a8-48c0-9ffd-54933a13dc73" providerId="ADAL" clId="{06AEA0CC-B2D1-C043-9AFE-D5A392EE9B63}" dt="2025-05-20T13:24:14.202" v="831" actId="15"/>
        <pc:sldMkLst>
          <pc:docMk/>
          <pc:sldMk cId="2340436650" sldId="2147483334"/>
        </pc:sldMkLst>
        <pc:graphicFrameChg chg="mod modGraphic">
          <ac:chgData name="Asif Ahmed" userId="6d8d8120-f6a8-48c0-9ffd-54933a13dc73" providerId="ADAL" clId="{06AEA0CC-B2D1-C043-9AFE-D5A392EE9B63}" dt="2025-05-20T13:24:14.202" v="831" actId="15"/>
          <ac:graphicFrameMkLst>
            <pc:docMk/>
            <pc:sldMk cId="2340436650" sldId="2147483334"/>
            <ac:graphicFrameMk id="24" creationId="{2B5DDC69-6315-7712-FA42-0280C624E077}"/>
          </ac:graphicFrameMkLst>
        </pc:graphicFrameChg>
      </pc:sldChg>
      <pc:sldChg chg="modSp add mod">
        <pc:chgData name="Asif Ahmed" userId="6d8d8120-f6a8-48c0-9ffd-54933a13dc73" providerId="ADAL" clId="{06AEA0CC-B2D1-C043-9AFE-D5A392EE9B63}" dt="2025-05-20T13:24:29.361" v="834" actId="1076"/>
        <pc:sldMkLst>
          <pc:docMk/>
          <pc:sldMk cId="922195623" sldId="2147483335"/>
        </pc:sldMkLst>
        <pc:spChg chg="mod">
          <ac:chgData name="Asif Ahmed" userId="6d8d8120-f6a8-48c0-9ffd-54933a13dc73" providerId="ADAL" clId="{06AEA0CC-B2D1-C043-9AFE-D5A392EE9B63}" dt="2025-05-20T13:24:29.361" v="834" actId="1076"/>
          <ac:spMkLst>
            <pc:docMk/>
            <pc:sldMk cId="922195623" sldId="2147483335"/>
            <ac:spMk id="7" creationId="{DDE2F2EA-6C66-0144-F82A-7D20A3F56132}"/>
          </ac:spMkLst>
        </pc:spChg>
        <pc:graphicFrameChg chg="mod modGraphic">
          <ac:chgData name="Asif Ahmed" userId="6d8d8120-f6a8-48c0-9ffd-54933a13dc73" providerId="ADAL" clId="{06AEA0CC-B2D1-C043-9AFE-D5A392EE9B63}" dt="2025-05-20T13:24:26.558" v="833" actId="1076"/>
          <ac:graphicFrameMkLst>
            <pc:docMk/>
            <pc:sldMk cId="922195623" sldId="2147483335"/>
            <ac:graphicFrameMk id="24" creationId="{E113B30A-9029-FE76-7E13-8466015C1739}"/>
          </ac:graphicFrameMkLst>
        </pc:graphicFrameChg>
      </pc:sldChg>
      <pc:sldChg chg="del">
        <pc:chgData name="Asif Ahmed" userId="6d8d8120-f6a8-48c0-9ffd-54933a13dc73" providerId="ADAL" clId="{06AEA0CC-B2D1-C043-9AFE-D5A392EE9B63}" dt="2025-05-20T05:41:08.542" v="90" actId="2696"/>
        <pc:sldMkLst>
          <pc:docMk/>
          <pc:sldMk cId="1653555246" sldId="2147483349"/>
        </pc:sldMkLst>
      </pc:sldChg>
      <pc:sldChg chg="del">
        <pc:chgData name="Asif Ahmed" userId="6d8d8120-f6a8-48c0-9ffd-54933a13dc73" providerId="ADAL" clId="{06AEA0CC-B2D1-C043-9AFE-D5A392EE9B63}" dt="2025-05-20T05:41:08.542" v="90" actId="2696"/>
        <pc:sldMkLst>
          <pc:docMk/>
          <pc:sldMk cId="2312451601" sldId="2147483352"/>
        </pc:sldMkLst>
      </pc:sldChg>
      <pc:sldChg chg="del">
        <pc:chgData name="Asif Ahmed" userId="6d8d8120-f6a8-48c0-9ffd-54933a13dc73" providerId="ADAL" clId="{06AEA0CC-B2D1-C043-9AFE-D5A392EE9B63}" dt="2025-05-20T05:41:08.542" v="90" actId="2696"/>
        <pc:sldMkLst>
          <pc:docMk/>
          <pc:sldMk cId="3282778083" sldId="2147483353"/>
        </pc:sldMkLst>
      </pc:sldChg>
      <pc:sldChg chg="del">
        <pc:chgData name="Asif Ahmed" userId="6d8d8120-f6a8-48c0-9ffd-54933a13dc73" providerId="ADAL" clId="{06AEA0CC-B2D1-C043-9AFE-D5A392EE9B63}" dt="2025-05-20T05:41:08.542" v="90" actId="2696"/>
        <pc:sldMkLst>
          <pc:docMk/>
          <pc:sldMk cId="1391700582" sldId="2147483354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2098598440" sldId="2147483362"/>
        </pc:sldMkLst>
      </pc:sldChg>
      <pc:sldChg chg="del">
        <pc:chgData name="Asif Ahmed" userId="6d8d8120-f6a8-48c0-9ffd-54933a13dc73" providerId="ADAL" clId="{06AEA0CC-B2D1-C043-9AFE-D5A392EE9B63}" dt="2025-05-20T05:30:36.129" v="25" actId="2696"/>
        <pc:sldMkLst>
          <pc:docMk/>
          <pc:sldMk cId="1183424207" sldId="2147483363"/>
        </pc:sldMkLst>
      </pc:sldChg>
    </pc:docChg>
  </pc:docChgLst>
  <pc:docChgLst>
    <pc:chgData name="Sasi Krishna" userId="S::sasi.krishna@piloggroup.com::57a27029-880a-403d-8a58-243b46afb65f" providerId="AD" clId="Web-{0B9B61FA-9469-A7A5-37FD-5366007C57ED}"/>
    <pc:docChg chg="modSld">
      <pc:chgData name="Sasi Krishna" userId="S::sasi.krishna@piloggroup.com::57a27029-880a-403d-8a58-243b46afb65f" providerId="AD" clId="Web-{0B9B61FA-9469-A7A5-37FD-5366007C57ED}" dt="2025-05-20T12:12:11.018" v="159"/>
      <pc:docMkLst>
        <pc:docMk/>
      </pc:docMkLst>
      <pc:sldChg chg="modSp">
        <pc:chgData name="Sasi Krishna" userId="S::sasi.krishna@piloggroup.com::57a27029-880a-403d-8a58-243b46afb65f" providerId="AD" clId="Web-{0B9B61FA-9469-A7A5-37FD-5366007C57ED}" dt="2025-05-20T12:12:11.018" v="159"/>
        <pc:sldMkLst>
          <pc:docMk/>
          <pc:sldMk cId="2979490824" sldId="2147479344"/>
        </pc:sldMkLst>
        <pc:graphicFrameChg chg="mod modGraphic">
          <ac:chgData name="Sasi Krishna" userId="S::sasi.krishna@piloggroup.com::57a27029-880a-403d-8a58-243b46afb65f" providerId="AD" clId="Web-{0B9B61FA-9469-A7A5-37FD-5366007C57ED}" dt="2025-05-20T12:12:11.018" v="159"/>
          <ac:graphicFrameMkLst>
            <pc:docMk/>
            <pc:sldMk cId="2979490824" sldId="2147479344"/>
            <ac:graphicFrameMk id="24" creationId="{99C2784A-6BC8-2A25-9F10-D92D0CF225F4}"/>
          </ac:graphicFrameMkLst>
        </pc:graphicFrameChg>
      </pc:sldChg>
      <pc:sldChg chg="modSp">
        <pc:chgData name="Sasi Krishna" userId="S::sasi.krishna@piloggroup.com::57a27029-880a-403d-8a58-243b46afb65f" providerId="AD" clId="Web-{0B9B61FA-9469-A7A5-37FD-5366007C57ED}" dt="2025-05-20T12:11:59.987" v="149"/>
        <pc:sldMkLst>
          <pc:docMk/>
          <pc:sldMk cId="2779313469" sldId="2147479417"/>
        </pc:sldMkLst>
        <pc:graphicFrameChg chg="mod modGraphic">
          <ac:chgData name="Sasi Krishna" userId="S::sasi.krishna@piloggroup.com::57a27029-880a-403d-8a58-243b46afb65f" providerId="AD" clId="Web-{0B9B61FA-9469-A7A5-37FD-5366007C57ED}" dt="2025-05-20T12:11:59.987" v="149"/>
          <ac:graphicFrameMkLst>
            <pc:docMk/>
            <pc:sldMk cId="2779313469" sldId="2147479417"/>
            <ac:graphicFrameMk id="24" creationId="{828B79D9-84B3-633A-6E3F-8562F87E51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capabilities and functionalities with comprehensive future roadmap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86AF1-957A-41C9-9017-258F244E245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55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Configurators accelerates the implementation of the solution by cutting down the effort &amp; cost by up to 40%, however Configurator licenses need to be procured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86AF1-957A-41C9-9017-258F244E24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9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254A-0AE8-9BD2-F684-50F2AFB04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59B1B-D81E-2DBC-A4DF-38DD84433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20F91-9F8E-F945-D1A8-C8D5826A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Configurators accelerates the implementation of the solution by cutting down the effort &amp; cost by up to 40%, however Configurator licenses need to be procured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BF230-00E9-F2BC-08E1-7B742551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86AF1-957A-41C9-9017-258F244E24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13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C4DD-FBB6-E277-73B9-F932C556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0F283-40DF-CB5E-D2B2-509DECA6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BA3D2-1632-00C3-7295-FB36C19F4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Configurators accelerates the implementation of the solution by cutting down the effort &amp; cost by up to 40%, however Configurator licenses need to be procured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4671-280E-50AC-3BBE-8904F15A2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86AF1-957A-41C9-9017-258F244E24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93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Mask group" descr="preencod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2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lor palette-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142240" y="6508115"/>
            <a:ext cx="12464415" cy="47561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7800" y="65792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2D63AF"/>
                </a:solidFill>
                <a:latin typeface="Optima" charset="0"/>
                <a:cs typeface="Optima" charset="0"/>
              </a:defRPr>
            </a:lvl1pPr>
          </a:lstStyle>
          <a:p>
            <a:r>
              <a:rPr lang="en-US"/>
              <a:t>© PiLog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792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Optima" charset="0"/>
                <a:cs typeface="Optima" charset="0"/>
              </a:defRPr>
            </a:lvl1pPr>
          </a:lstStyle>
          <a:p>
            <a:r>
              <a:rPr lang="en-US"/>
              <a:t>www.piloggroup.com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4490" y="65792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Optima" charset="0"/>
                <a:cs typeface="Optima" charset="0"/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Placeholder 18" descr="PiLog_Logo_New">
            <a:extLst>
              <a:ext uri="{FF2B5EF4-FFF2-40B4-BE49-F238E27FC236}">
                <a16:creationId xmlns:a16="http://schemas.microsoft.com/office/drawing/2014/main" id="{0BF992CD-2819-B8D4-1961-9B336CF828E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309682" y="22398"/>
            <a:ext cx="859168" cy="278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D63AF"/>
          </a:solidFill>
          <a:latin typeface="Optima" charset="0"/>
          <a:ea typeface="+mj-ea"/>
          <a:cs typeface="Optim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B4E9"/>
          </a:solidFill>
          <a:latin typeface="Optima" charset="0"/>
          <a:ea typeface="+mn-ea"/>
          <a:cs typeface="Optim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6B4E9"/>
          </a:solidFill>
          <a:latin typeface="Optima" charset="0"/>
          <a:ea typeface="+mn-ea"/>
          <a:cs typeface="Optim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6B4E9"/>
          </a:solidFill>
          <a:latin typeface="Optima" charset="0"/>
          <a:ea typeface="+mn-ea"/>
          <a:cs typeface="Optim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6B4E9"/>
          </a:solidFill>
          <a:latin typeface="Optima" charset="0"/>
          <a:ea typeface="+mn-ea"/>
          <a:cs typeface="Optim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6B4E9"/>
          </a:solidFill>
          <a:latin typeface="Optima" charset="0"/>
          <a:ea typeface="+mn-ea"/>
          <a:cs typeface="Optim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F44CB82-A282-6DAD-99D6-A684991D8B72}"/>
              </a:ext>
            </a:extLst>
          </p:cNvPr>
          <p:cNvSpPr txBox="1">
            <a:spLocks/>
          </p:cNvSpPr>
          <p:nvPr/>
        </p:nvSpPr>
        <p:spPr>
          <a:xfrm>
            <a:off x="180521" y="5471753"/>
            <a:ext cx="9144000" cy="96768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D63AF"/>
                </a:solidFill>
                <a:latin typeface="Optima" charset="0"/>
                <a:ea typeface="+mj-ea"/>
                <a:cs typeface="Optima" charset="0"/>
              </a:defRPr>
            </a:lvl1pPr>
          </a:lstStyle>
          <a:p>
            <a:r>
              <a:rPr lang="en-US" sz="3600" b="1" dirty="0">
                <a:solidFill>
                  <a:srgbClr val="10479B"/>
                </a:solidFill>
                <a:latin typeface="Optima"/>
                <a:cs typeface="Arial"/>
              </a:rPr>
              <a:t>PiLog DQG Suite - Roadmap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6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1E56-B112-F738-6322-C6417026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0219A-8BAD-BC6E-13C3-BA398EBC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D63AF"/>
                </a:solidFill>
                <a:effectLst/>
                <a:uLnTx/>
                <a:uFillTx/>
                <a:latin typeface="Optima" panose="02000503060000020004"/>
              </a:rPr>
              <a:t>© PiLog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7D6CD-5905-DED8-FCF9-2F56DCA7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tima" panose="020005030600000200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848A23-D75A-C145-BE69-E6963030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9" y="109380"/>
            <a:ext cx="10848892" cy="5546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/>
          <a:p>
            <a:pPr lvl="0">
              <a:defRPr/>
            </a:pPr>
            <a:r>
              <a:rPr lang="en-IN" sz="2400" b="1">
                <a:solidFill>
                  <a:srgbClr val="0B4A99"/>
                </a:solidFill>
                <a:latin typeface="Optima"/>
                <a:cs typeface="+mj-cs"/>
              </a:rPr>
              <a:t>PiLog’s Data Quality &amp; Governance Suite – Key Capabilities (1/2)</a:t>
            </a:r>
            <a:endParaRPr lang="en-US" sz="2400" b="1">
              <a:solidFill>
                <a:srgbClr val="10479B"/>
              </a:solidFill>
              <a:latin typeface="Optima" panose="02000503060000020004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9CB5F0E-7822-24A1-7BA3-688FDCEF97D4}"/>
              </a:ext>
            </a:extLst>
          </p:cNvPr>
          <p:cNvSpPr txBox="1">
            <a:spLocks/>
          </p:cNvSpPr>
          <p:nvPr/>
        </p:nvSpPr>
        <p:spPr bwMode="gray">
          <a:xfrm>
            <a:off x="4165600" y="6610659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72B57D5-5B65-C277-738E-76D3397FFB3F}"/>
              </a:ext>
            </a:extLst>
          </p:cNvPr>
          <p:cNvSpPr txBox="1"/>
          <p:nvPr/>
        </p:nvSpPr>
        <p:spPr bwMode="gray">
          <a:xfrm>
            <a:off x="9270694" y="6631285"/>
            <a:ext cx="1683252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Restricted Use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28B79D9-84B3-633A-6E3F-8562F87E5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049860"/>
              </p:ext>
            </p:extLst>
          </p:nvPr>
        </p:nvGraphicFramePr>
        <p:xfrm>
          <a:off x="240190" y="648507"/>
          <a:ext cx="11711620" cy="5784188"/>
        </p:xfrm>
        <a:graphic>
          <a:graphicData uri="http://schemas.openxmlformats.org/drawingml/2006/table">
            <a:tbl>
              <a:tblPr/>
              <a:tblGrid>
                <a:gridCol w="914053">
                  <a:extLst>
                    <a:ext uri="{9D8B030D-6E8A-4147-A177-3AD203B41FA5}">
                      <a16:colId xmlns:a16="http://schemas.microsoft.com/office/drawing/2014/main" val="3549511893"/>
                    </a:ext>
                  </a:extLst>
                </a:gridCol>
                <a:gridCol w="9623685">
                  <a:extLst>
                    <a:ext uri="{9D8B030D-6E8A-4147-A177-3AD203B41FA5}">
                      <a16:colId xmlns:a16="http://schemas.microsoft.com/office/drawing/2014/main" val="1627786549"/>
                    </a:ext>
                  </a:extLst>
                </a:gridCol>
                <a:gridCol w="1173882">
                  <a:extLst>
                    <a:ext uri="{9D8B030D-6E8A-4147-A177-3AD203B41FA5}">
                      <a16:colId xmlns:a16="http://schemas.microsoft.com/office/drawing/2014/main" val="1368759826"/>
                    </a:ext>
                  </a:extLst>
                </a:gridCol>
              </a:tblGrid>
              <a:tr h="33061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endParaRPr kumimoji="0" lang="en-US" sz="14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Features Released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12139"/>
                  </a:ext>
                </a:extLst>
              </a:tr>
              <a:tr h="734834">
                <a:tc rowSpan="15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Current</a:t>
                      </a: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Comprehensive Governance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: Material, Equipment / Asset, Vendor, Customer, On-Boarding Process (Vendor, Customer), Fixed Asset Registry, Service, iSPIR, eBOM, fBOM, mBOM​, MI, MP, TL, Measuring Point, Business Partner, Article Master, HR Mini Master (Tech. Resources), Work Center​ (Please refer to Product Availability slide)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r>
                        <a:rPr kumimoji="0" lang="en-I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✅</a:t>
                      </a: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Released​</a:t>
                      </a: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15081"/>
                  </a:ext>
                </a:extLst>
              </a:tr>
              <a:tr h="294547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Searchability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Smart (Fuzzy), Parametric, Category &amp; UNSPSC,  Dictionary &amp; Classification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936822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Workflows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Sequential, Parallel, Composite,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Graphical Workflow Builder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6299"/>
                  </a:ext>
                </a:extLst>
              </a:tr>
              <a:tr h="51346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Workbench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: Taxonomy WB, Rules Configuration WB​, Data Quality Assessment &amp; Remediation WB​, Data Routing WB, Data Synchronization WB​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0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253430"/>
                  </a:ext>
                </a:extLst>
              </a:tr>
              <a:tr h="31897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Integrations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: SAP ECC, S/4 HANA using middleware SAP PI / PO / CPI, BNAC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06247"/>
                  </a:ext>
                </a:extLst>
              </a:tr>
              <a:tr h="294547">
                <a:tc vMerge="1">
                  <a:txBody>
                    <a:bodyPr/>
                    <a:lstStyle/>
                    <a:p>
                      <a:pPr marL="0" lvl="0" algn="ctr" defTabSz="914400" rtl="0" eaLnBrk="1" fontAlgn="base" latinLnBrk="0" hangingPunct="1">
                        <a:lnSpc>
                          <a:spcPts val="1725"/>
                        </a:lnSpc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Copilot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AI Lens, AI Agents –DH Agent (iSPIR, Mass, PDF, Image), DE Agent, DQ Agent, 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0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335215"/>
                  </a:ext>
                </a:extLst>
              </a:tr>
              <a:tr h="29454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Mass Data Processing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Create, Change, Extend, Delete &amp; Undelete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0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9739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Audit Trail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</a:rPr>
                        <a:t>: Data Migration Logs, Checksum &amp; Audits​, Timeline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0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62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Configurators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Service Master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000456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Mobility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Search, Approve, Uploading Documents (Online, Offline), Barcode scanning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9963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Content Foundry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15 Million + Unique Records, 12 K + Templates &amp; Hierarchies for Assets, Products and Services, 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854875"/>
                  </a:ext>
                </a:extLst>
              </a:tr>
              <a:tr h="5146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Migration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Open &amp; SMART API for Data Extraction and Loading, with ability to integrate and operate with major ERP’s, COT’s, Databases, etc. for unstructured and structured data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57360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Transformation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AI enabled Transformation for Non-Governance based master, meta and transactional data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608704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Meta Data Optimizers: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For Planning, Procurement, Asset and Execution Business Processes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lang="en-US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100202"/>
                  </a:ext>
                </a:extLst>
              </a:tr>
              <a:tr h="310997"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Criticality Ranking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Asset &amp; Material: Maturity Optimizers – Data &amp; Process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ase">
                        <a:lnSpc>
                          <a:spcPts val="1725"/>
                        </a:lnSpc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82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31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B40458-8DF6-C7E8-304E-8BCA5937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69C3A-C94F-0DB3-A9F3-449EE556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D63AF"/>
                </a:solidFill>
                <a:effectLst/>
                <a:uLnTx/>
                <a:uFillTx/>
                <a:latin typeface="Optima" panose="02000503060000020004"/>
              </a:rPr>
              <a:t>© PiLog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243D-E0BC-096C-7521-C564C860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tima" panose="020005030600000200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638FA7-A4B4-E751-D9E1-9859B6DA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9" y="109380"/>
            <a:ext cx="10848892" cy="5546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/>
          <a:p>
            <a:pPr lvl="0">
              <a:defRPr/>
            </a:pPr>
            <a:r>
              <a:rPr lang="en-IN" sz="2400" b="1">
                <a:solidFill>
                  <a:srgbClr val="0B4A99"/>
                </a:solidFill>
                <a:latin typeface="Optima"/>
                <a:cs typeface="+mj-cs"/>
              </a:rPr>
              <a:t>PiLog’s Data Quality &amp; Governance Suite – Key Capabilities (2/2)</a:t>
            </a:r>
            <a:endParaRPr lang="en-US" sz="2400" b="1">
              <a:solidFill>
                <a:srgbClr val="10479B"/>
              </a:solidFill>
              <a:latin typeface="Optima" panose="02000503060000020004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4B41D85-4AEA-90E9-99B9-BBE312B13CE0}"/>
              </a:ext>
            </a:extLst>
          </p:cNvPr>
          <p:cNvSpPr txBox="1">
            <a:spLocks/>
          </p:cNvSpPr>
          <p:nvPr/>
        </p:nvSpPr>
        <p:spPr bwMode="gray">
          <a:xfrm>
            <a:off x="4165600" y="6610659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4361616-7F5D-7DEE-BE9E-111DA7B997BE}"/>
              </a:ext>
            </a:extLst>
          </p:cNvPr>
          <p:cNvSpPr txBox="1"/>
          <p:nvPr/>
        </p:nvSpPr>
        <p:spPr bwMode="gray">
          <a:xfrm>
            <a:off x="9270694" y="6631285"/>
            <a:ext cx="1683252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Restricted Use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9C2784A-6BC8-2A25-9F10-D92D0CF22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04722"/>
              </p:ext>
            </p:extLst>
          </p:nvPr>
        </p:nvGraphicFramePr>
        <p:xfrm>
          <a:off x="240190" y="616607"/>
          <a:ext cx="11711620" cy="5043562"/>
        </p:xfrm>
        <a:graphic>
          <a:graphicData uri="http://schemas.openxmlformats.org/drawingml/2006/table">
            <a:tbl>
              <a:tblPr/>
              <a:tblGrid>
                <a:gridCol w="914053">
                  <a:extLst>
                    <a:ext uri="{9D8B030D-6E8A-4147-A177-3AD203B41FA5}">
                      <a16:colId xmlns:a16="http://schemas.microsoft.com/office/drawing/2014/main" val="3549511893"/>
                    </a:ext>
                  </a:extLst>
                </a:gridCol>
                <a:gridCol w="9533744">
                  <a:extLst>
                    <a:ext uri="{9D8B030D-6E8A-4147-A177-3AD203B41FA5}">
                      <a16:colId xmlns:a16="http://schemas.microsoft.com/office/drawing/2014/main" val="1627786549"/>
                    </a:ext>
                  </a:extLst>
                </a:gridCol>
                <a:gridCol w="1263823">
                  <a:extLst>
                    <a:ext uri="{9D8B030D-6E8A-4147-A177-3AD203B41FA5}">
                      <a16:colId xmlns:a16="http://schemas.microsoft.com/office/drawing/2014/main" val="1368759826"/>
                    </a:ext>
                  </a:extLst>
                </a:gridCol>
              </a:tblGrid>
              <a:tr h="35830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Quarter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To Be Released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12139"/>
                  </a:ext>
                </a:extLst>
              </a:tr>
              <a:tr h="323348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Q2 2025</a:t>
                      </a:r>
                      <a:endParaRPr kumimoji="0" lang="en-IN" sz="14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Custom Object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(Cost Centre, Profit Centre, etc.)​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10479B"/>
                          </a:solidFill>
                          <a:latin typeface="Optimaa"/>
                        </a:rPr>
                        <a:t>⏳</a:t>
                      </a: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InProgress</a:t>
                      </a: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955938"/>
                  </a:ext>
                </a:extLst>
              </a:tr>
              <a:tr h="3189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725"/>
                        </a:lnSpc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Searchability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Voice Recognition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81744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lvl="0" algn="ctr" defTabSz="914400" rtl="0" eaLnBrk="1" fontAlgn="base" latinLnBrk="0" hangingPunct="1">
                        <a:lnSpc>
                          <a:spcPts val="1725"/>
                        </a:lnSpc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Configurators driven by AI Agents (For scaling)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Equipment, Material Master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00699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lvl="0" algn="ctr" defTabSz="914400" rtl="0" eaLnBrk="1" fontAlgn="base" latinLnBrk="0" hangingPunct="1">
                        <a:lnSpc>
                          <a:spcPts val="1725"/>
                        </a:lnSpc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UI/UX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Improved UI using UI5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847258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iContent Foundry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 20 Million + Unique Records, 20K + Templates &amp; Hierarchies for Assets, Products and Services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22882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AI Agents </a:t>
                      </a: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– Data Profiling Data Validation, Data Cleansing, Duplicate Identification, Task List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1318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Mass Data Processing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Scheduled Batch Processing​​​ using AI Agent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80642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Copilot: 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Voice based AI Agent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84286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lvl="0" algn="ctr" defTabSz="914400" rtl="0" eaLnBrk="1" fontAlgn="base" latinLnBrk="0" hangingPunct="1">
                        <a:lnSpc>
                          <a:spcPts val="1725"/>
                        </a:lnSpc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Integrations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IPD, FSM, Ariba, IBP MRO, APM, RISE (PCE), BN4P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82864"/>
                  </a:ext>
                </a:extLst>
              </a:tr>
              <a:tr h="278156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Q3 2025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iContent Foundry 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Vendor Master for Asset Model/Part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10479B"/>
                          </a:solidFill>
                          <a:latin typeface="Optimaa"/>
                        </a:rPr>
                        <a:t>⏳</a:t>
                      </a: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InProgress</a:t>
                      </a: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854238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Configuration Workbench – </a:t>
                      </a:r>
                      <a:r>
                        <a:rPr lang="en-US" sz="1200" b="0" kern="120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KDS, Description Rendering (Short, Long), Data Integration with ERP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1428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Workflow Engine </a:t>
                      </a: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-  </a:t>
                      </a:r>
                      <a:r>
                        <a:rPr lang="en-IN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Visual Workflow Designer</a:t>
                      </a:r>
                      <a:r>
                        <a:rPr lang="en-US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, </a:t>
                      </a:r>
                      <a:r>
                        <a:rPr lang="en-IN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Role-Based Routing, Dynamic Data Validation, Integration-Ready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987283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Maturity Assessment -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Maturity Assessment of Master &amp; Meta Data, Score Cards</a:t>
                      </a:r>
                      <a:endParaRPr lang="en-US" sz="1200" b="0" dirty="0">
                        <a:solidFill>
                          <a:srgbClr val="10479B"/>
                        </a:solidFill>
                        <a:latin typeface="Optima" panose="02000503060000020004"/>
                        <a:cs typeface="Arial" panose="020B0604020202020204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2449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Mera Data Optimizers -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AI-Driven Data Cleansing &amp; Enrichment, Real-Time Data Quality Scoring, Optimization Insights Dashboard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489944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Agentic AI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 – Agentic Workflow, Classification, DHA, Data Assessment (MCA, ECA) Data Insights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821239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SAP Analytics Cloud –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Business Intelligence &amp; Reporting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Planning &amp; Forecasting, Predictive Analytics, Augmented Analytics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08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49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A86E-404F-D243-F425-8F4BDAE5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2B1CB-D518-69E4-152E-96661989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D63AF"/>
                </a:solidFill>
                <a:effectLst/>
                <a:uLnTx/>
                <a:uFillTx/>
                <a:latin typeface="Optima" panose="02000503060000020004"/>
              </a:rPr>
              <a:t>© PiLog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5D39-4450-3C0A-5575-90EDB54D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tima" panose="020005030600000200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E2F2EA-6C66-0144-F82A-7D20A3F5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90" y="173729"/>
            <a:ext cx="10848892" cy="5546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/>
          <a:p>
            <a:pPr lvl="0">
              <a:defRPr/>
            </a:pPr>
            <a:r>
              <a:rPr lang="en-IN" sz="2400" b="1" dirty="0">
                <a:solidFill>
                  <a:srgbClr val="0B4A99"/>
                </a:solidFill>
                <a:latin typeface="Optima"/>
                <a:cs typeface="+mj-cs"/>
              </a:rPr>
              <a:t>PiLog’s Data Quality &amp; Governance Suite – Key Capabilities (2/2)</a:t>
            </a:r>
            <a:endParaRPr lang="en-US" sz="2400" b="1" dirty="0">
              <a:solidFill>
                <a:srgbClr val="10479B"/>
              </a:solidFill>
              <a:latin typeface="Optima" panose="02000503060000020004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0765D83-9C20-B254-07F6-90049E450B40}"/>
              </a:ext>
            </a:extLst>
          </p:cNvPr>
          <p:cNvSpPr txBox="1">
            <a:spLocks/>
          </p:cNvSpPr>
          <p:nvPr/>
        </p:nvSpPr>
        <p:spPr bwMode="gray">
          <a:xfrm>
            <a:off x="4165600" y="6610659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FA90A2C-9321-A7B3-0359-424640933F90}"/>
              </a:ext>
            </a:extLst>
          </p:cNvPr>
          <p:cNvSpPr txBox="1"/>
          <p:nvPr/>
        </p:nvSpPr>
        <p:spPr bwMode="gray">
          <a:xfrm>
            <a:off x="9270694" y="6631285"/>
            <a:ext cx="1683252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Restricted Use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113B30A-9029-FE76-7E13-8466015C1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85690"/>
              </p:ext>
            </p:extLst>
          </p:nvPr>
        </p:nvGraphicFramePr>
        <p:xfrm>
          <a:off x="240190" y="762249"/>
          <a:ext cx="11711620" cy="5625694"/>
        </p:xfrm>
        <a:graphic>
          <a:graphicData uri="http://schemas.openxmlformats.org/drawingml/2006/table">
            <a:tbl>
              <a:tblPr/>
              <a:tblGrid>
                <a:gridCol w="914053">
                  <a:extLst>
                    <a:ext uri="{9D8B030D-6E8A-4147-A177-3AD203B41FA5}">
                      <a16:colId xmlns:a16="http://schemas.microsoft.com/office/drawing/2014/main" val="3549511893"/>
                    </a:ext>
                  </a:extLst>
                </a:gridCol>
                <a:gridCol w="9533744">
                  <a:extLst>
                    <a:ext uri="{9D8B030D-6E8A-4147-A177-3AD203B41FA5}">
                      <a16:colId xmlns:a16="http://schemas.microsoft.com/office/drawing/2014/main" val="1627786549"/>
                    </a:ext>
                  </a:extLst>
                </a:gridCol>
                <a:gridCol w="1263823">
                  <a:extLst>
                    <a:ext uri="{9D8B030D-6E8A-4147-A177-3AD203B41FA5}">
                      <a16:colId xmlns:a16="http://schemas.microsoft.com/office/drawing/2014/main" val="1368759826"/>
                    </a:ext>
                  </a:extLst>
                </a:gridCol>
              </a:tblGrid>
              <a:tr h="35830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Quarter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To Be Released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12139"/>
                  </a:ext>
                </a:extLst>
              </a:tr>
              <a:tr h="32334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Q2 2025</a:t>
                      </a:r>
                      <a:endParaRPr kumimoji="0" lang="en-IN" sz="14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Governance 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Custom Object 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(Cost Centre, Profit Centre, etc.)​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Searchability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Voice Recognition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UI/UX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Improved UI using UI5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Configurators driven by AI Agents (For scaling)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Equipment, Material Master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Mass Data Processing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Scheduled Batch Processing​​​ using AI Agent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Copilot: 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Voice based AI Agent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Integrations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: IPD, FSM, Ariba, IBP MRO, APM, RISE (PCE), BN4P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10479B"/>
                          </a:solidFill>
                          <a:latin typeface="Optimaa"/>
                        </a:rPr>
                        <a:t>⏳</a:t>
                      </a: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InProgress</a:t>
                      </a: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955938"/>
                  </a:ext>
                </a:extLst>
              </a:tr>
              <a:tr h="3189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725"/>
                        </a:lnSpc>
                      </a:pP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Quality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AI Agents </a:t>
                      </a: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– Data Profiling Data Validation, Data Cleansing, Duplicate Identification, Task List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81744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iContent Foundry</a:t>
                      </a: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20 Million + Unique Records, 20K + Templates &amp; Hierarchies for Assets, Products and Services</a:t>
                      </a:r>
                    </a:p>
                  </a:txBody>
                  <a:tcPr marL="85670" marR="85670" marT="42835" marB="42835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6422882"/>
                  </a:ext>
                </a:extLst>
              </a:tr>
              <a:tr h="27815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Q3 2025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iContent Foundry </a:t>
                      </a: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Vendor Master for Asset Model/Part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10479B"/>
                          </a:solidFill>
                          <a:latin typeface="Optimaa"/>
                        </a:rPr>
                        <a:t>⏳</a:t>
                      </a: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InProgress</a:t>
                      </a:r>
                      <a:endParaRPr kumimoji="0" lang="en-I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854238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Data Governance</a:t>
                      </a:r>
                    </a:p>
                    <a:p>
                      <a:pPr marL="628650" marR="0" lvl="1" indent="-171450" algn="l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Configuration Workbench – </a:t>
                      </a:r>
                      <a:r>
                        <a:rPr lang="en-US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KDS, Description Rendering (Short, Long), Data Integration with ERP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Workflow Engine </a:t>
                      </a:r>
                      <a:r>
                        <a:rPr lang="en-US" sz="1200" b="0" dirty="0">
                          <a:solidFill>
                            <a:srgbClr val="10479B"/>
                          </a:solidFill>
                          <a:latin typeface="Optima" panose="02000503060000020004"/>
                          <a:cs typeface="Arial" panose="020B0604020202020204"/>
                        </a:rPr>
                        <a:t>-  </a:t>
                      </a:r>
                      <a:r>
                        <a:rPr lang="en-IN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Visual Workflow Designer</a:t>
                      </a:r>
                      <a:r>
                        <a:rPr lang="en-US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, </a:t>
                      </a:r>
                      <a:r>
                        <a:rPr lang="en-IN" sz="1200" b="0" kern="1200" dirty="0">
                          <a:solidFill>
                            <a:srgbClr val="10479B"/>
                          </a:solidFill>
                          <a:latin typeface="Optima" panose="02000503060000020004"/>
                          <a:ea typeface="+mn-ea"/>
                          <a:cs typeface="Arial" panose="020B0604020202020204"/>
                        </a:rPr>
                        <a:t>Role-Based Routing, Dynamic Data Validation, Integration-Ready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Agentic AI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 – Agentic Workflow, Classification, DHA, Data Assessment (MCA, ECA) Data Insights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1428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Quality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Maturity Assessment -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Data Maturity Assessment of Master &amp; Meta Data, Score Cards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Mera Data Optimizers -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AI-Driven Data Cleansing &amp; Enrichment, Real-Time Data Quality Scoring, Optimization Insights Dashboard</a:t>
                      </a:r>
                    </a:p>
                  </a:txBody>
                  <a:tcPr marL="85670" marR="85670" marT="42835" marB="42835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1092449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SAP Premium Certification 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96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9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819EB-A3AA-575A-7F1B-0BC32966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A5F6-02CE-FF25-1E5A-CA48334D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D63AF"/>
                </a:solidFill>
                <a:effectLst/>
                <a:uLnTx/>
                <a:uFillTx/>
                <a:latin typeface="Optima" panose="02000503060000020004"/>
              </a:rPr>
              <a:t>© PiLog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B9B2A-3370-1129-B6F5-8A2D619B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tima" panose="020005030600000200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4C8B7A-6DB2-1D3F-E347-A087A322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9" y="109380"/>
            <a:ext cx="10848892" cy="5546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/>
          <a:p>
            <a:pPr lvl="0">
              <a:defRPr/>
            </a:pPr>
            <a:r>
              <a:rPr lang="en-IN" sz="2400" b="1">
                <a:solidFill>
                  <a:srgbClr val="0B4A99"/>
                </a:solidFill>
                <a:latin typeface="Optima"/>
                <a:cs typeface="+mj-cs"/>
              </a:rPr>
              <a:t>PiLog’s Data Quality &amp; Governance Suite – Key Capabilities (2/2)</a:t>
            </a:r>
            <a:endParaRPr lang="en-US" sz="2400" b="1">
              <a:solidFill>
                <a:srgbClr val="10479B"/>
              </a:solidFill>
              <a:latin typeface="Optima" panose="02000503060000020004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968269E-EAA1-DDB3-0210-E8D99A855E41}"/>
              </a:ext>
            </a:extLst>
          </p:cNvPr>
          <p:cNvSpPr txBox="1">
            <a:spLocks/>
          </p:cNvSpPr>
          <p:nvPr/>
        </p:nvSpPr>
        <p:spPr bwMode="gray">
          <a:xfrm>
            <a:off x="4165600" y="6610659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3DF515A-0716-1A2D-F67D-FFBB71DBB089}"/>
              </a:ext>
            </a:extLst>
          </p:cNvPr>
          <p:cNvSpPr txBox="1"/>
          <p:nvPr/>
        </p:nvSpPr>
        <p:spPr bwMode="gray">
          <a:xfrm>
            <a:off x="9270694" y="6631285"/>
            <a:ext cx="1683252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cs typeface="Arial" panose="020B0604020202020204" pitchFamily="34" charset="0"/>
              </a:rPr>
              <a:t>Restricted Use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B5DDC69-6315-7712-FA42-0280C624E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6633"/>
              </p:ext>
            </p:extLst>
          </p:nvPr>
        </p:nvGraphicFramePr>
        <p:xfrm>
          <a:off x="240190" y="616607"/>
          <a:ext cx="11711620" cy="2161426"/>
        </p:xfrm>
        <a:graphic>
          <a:graphicData uri="http://schemas.openxmlformats.org/drawingml/2006/table">
            <a:tbl>
              <a:tblPr/>
              <a:tblGrid>
                <a:gridCol w="914053">
                  <a:extLst>
                    <a:ext uri="{9D8B030D-6E8A-4147-A177-3AD203B41FA5}">
                      <a16:colId xmlns:a16="http://schemas.microsoft.com/office/drawing/2014/main" val="3549511893"/>
                    </a:ext>
                  </a:extLst>
                </a:gridCol>
                <a:gridCol w="9533744">
                  <a:extLst>
                    <a:ext uri="{9D8B030D-6E8A-4147-A177-3AD203B41FA5}">
                      <a16:colId xmlns:a16="http://schemas.microsoft.com/office/drawing/2014/main" val="1627786549"/>
                    </a:ext>
                  </a:extLst>
                </a:gridCol>
                <a:gridCol w="1263823">
                  <a:extLst>
                    <a:ext uri="{9D8B030D-6E8A-4147-A177-3AD203B41FA5}">
                      <a16:colId xmlns:a16="http://schemas.microsoft.com/office/drawing/2014/main" val="1368759826"/>
                    </a:ext>
                  </a:extLst>
                </a:gridCol>
              </a:tblGrid>
              <a:tr h="35830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Quarter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To Be Released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12139"/>
                  </a:ext>
                </a:extLst>
              </a:tr>
              <a:tr h="278156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Q4 2025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Mobility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Registering new Equipment / Asset, Changing existing Equipment / Asset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r>
                        <a:rPr lang="en-IN" sz="1400" kern="1200" dirty="0">
                          <a:solidFill>
                            <a:srgbClr val="10479B"/>
                          </a:solidFill>
                          <a:latin typeface="Optimaa"/>
                          <a:ea typeface="+mn-ea"/>
                          <a:cs typeface="+mn-cs"/>
                        </a:rPr>
                        <a:t>🛠️</a:t>
                      </a:r>
                      <a:r>
                        <a:rPr kumimoji="0" lang="en-IN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6B4E9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Planned</a:t>
                      </a:r>
                      <a:endParaRPr kumimoji="0" lang="en-US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91089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lvl="0" algn="ctr" defTabSz="914400" rtl="0" eaLnBrk="1" fontAlgn="base" latinLnBrk="0" hangingPunct="1">
                        <a:lnSpc>
                          <a:spcPts val="1725"/>
                        </a:lnSpc>
                      </a:pPr>
                      <a:endParaRPr lang="en-IN" sz="1200" b="1" i="0" kern="120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Content Foundry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10479B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25 Million + Unique Records, 21K + Templates &amp; Hierarchies for Assets, Products and Services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lang="en-US" sz="1200" b="1" i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Optima" panose="02000503060000020004" pitchFamily="2" charset="0"/>
                      </a:endParaRP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497277"/>
                  </a:ext>
                </a:extLst>
              </a:tr>
              <a:tr h="27815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SAP QM Objects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kumimoji="0" lang="en-US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597946"/>
                  </a:ext>
                </a:extLst>
              </a:tr>
              <a:tr h="2781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SAP Analytics Cloud </a:t>
                      </a:r>
                    </a:p>
                    <a:p>
                      <a:pPr marL="628650" marR="0" lvl="1" indent="-171450" algn="l" defTabSz="914400" rtl="0" eaLnBrk="1" fontAlgn="base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Business Intelligence &amp; Reporting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IN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0479B"/>
                          </a:solidFill>
                          <a:effectLst/>
                          <a:uLnTx/>
                          <a:uFillTx/>
                          <a:latin typeface="Optima"/>
                          <a:ea typeface="+mn-ea"/>
                          <a:cs typeface="+mn-cs"/>
                        </a:rPr>
                        <a:t>Planning &amp; Forecasting, Predictive Analytics, Augmented Analytics</a:t>
                      </a:r>
                    </a:p>
                  </a:txBody>
                  <a:tcPr marL="85670" marR="85670" marT="42835" marB="42835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725"/>
                        </a:lnSpc>
                      </a:pPr>
                      <a:endParaRPr kumimoji="0" lang="en-US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B4E9"/>
                        </a:solidFill>
                        <a:effectLst/>
                        <a:uLnTx/>
                        <a:uFillTx/>
                        <a:latin typeface="Optima"/>
                        <a:ea typeface="+mn-ea"/>
                        <a:cs typeface="+mn-cs"/>
                      </a:endParaRPr>
                    </a:p>
                  </a:txBody>
                  <a:tcPr marL="85670" marR="85670" marT="42835" marB="42835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4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43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1003</Words>
  <Application>Microsoft Macintosh PowerPoint</Application>
  <PresentationFormat>Widescreen</PresentationFormat>
  <Paragraphs>112</Paragraphs>
  <Slides>5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Optima</vt:lpstr>
      <vt:lpstr>Optimaa</vt:lpstr>
      <vt:lpstr>Office Theme</vt:lpstr>
      <vt:lpstr>PowerPoint Presentation</vt:lpstr>
      <vt:lpstr>PiLog’s Data Quality &amp; Governance Suite – Key Capabilities (1/2)</vt:lpstr>
      <vt:lpstr>PiLog’s Data Quality &amp; Governance Suite – Key Capabilities (2/2)</vt:lpstr>
      <vt:lpstr>PiLog’s Data Quality &amp; Governance Suite – Key Capabilities (2/2)</vt:lpstr>
      <vt:lpstr>PiLog’s Data Quality &amp; Governance Suite – Key Capabilities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 Bhaskara</dc:creator>
  <cp:lastModifiedBy>Asif Ahmed</cp:lastModifiedBy>
  <cp:revision>3</cp:revision>
  <dcterms:created xsi:type="dcterms:W3CDTF">2024-12-24T10:09:13Z</dcterms:created>
  <dcterms:modified xsi:type="dcterms:W3CDTF">2025-05-20T13:24:35Z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4FB88E1D81AF40A096B40440A116DE81_11</vt:lpwstr>
  </property>
  <property fmtid="{D5CDD505-2E9C-101B-9397-08002B2CF9AE}" pid="3" name="KSOProductBuildVer">
    <vt:lpwstr>1033-12.2.0.19307</vt:lpwstr>
  </property>
</Properties>
</file>