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146847728" r:id="rId2"/>
    <p:sldId id="2146847605" r:id="rId3"/>
    <p:sldId id="214684772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ima Yasmeen" userId="a49fd7c6-5e1d-46e2-8eb3-bf69b384a318" providerId="ADAL" clId="{A34D5ED9-F38C-4F7B-9666-4FF50725A364}"/>
    <pc:docChg chg="addSld modSld">
      <pc:chgData name="Nazima Yasmeen" userId="a49fd7c6-5e1d-46e2-8eb3-bf69b384a318" providerId="ADAL" clId="{A34D5ED9-F38C-4F7B-9666-4FF50725A364}" dt="2024-07-03T06:29:42.346" v="0"/>
      <pc:docMkLst>
        <pc:docMk/>
      </pc:docMkLst>
      <pc:sldChg chg="add">
        <pc:chgData name="Nazima Yasmeen" userId="a49fd7c6-5e1d-46e2-8eb3-bf69b384a318" providerId="ADAL" clId="{A34D5ED9-F38C-4F7B-9666-4FF50725A364}" dt="2024-07-03T06:29:42.346" v="0"/>
        <pc:sldMkLst>
          <pc:docMk/>
          <pc:sldMk cId="576667795" sldId="2146847605"/>
        </pc:sldMkLst>
      </pc:sldChg>
      <pc:sldChg chg="add">
        <pc:chgData name="Nazima Yasmeen" userId="a49fd7c6-5e1d-46e2-8eb3-bf69b384a318" providerId="ADAL" clId="{A34D5ED9-F38C-4F7B-9666-4FF50725A364}" dt="2024-07-03T06:29:42.346" v="0"/>
        <pc:sldMkLst>
          <pc:docMk/>
          <pc:sldMk cId="297651816" sldId="2146847728"/>
        </pc:sldMkLst>
      </pc:sldChg>
    </pc:docChg>
  </pc:docChgLst>
  <pc:docChgLst>
    <pc:chgData name="Sasi Krishna" userId="57a27029-880a-403d-8a58-243b46afb65f" providerId="ADAL" clId="{87EC09B5-DDCD-490B-94E9-45A26B1F77A7}"/>
    <pc:docChg chg="modSld">
      <pc:chgData name="Sasi Krishna" userId="57a27029-880a-403d-8a58-243b46afb65f" providerId="ADAL" clId="{87EC09B5-DDCD-490B-94E9-45A26B1F77A7}" dt="2025-10-31T12:12:19.386" v="0" actId="1076"/>
      <pc:docMkLst>
        <pc:docMk/>
      </pc:docMkLst>
      <pc:sldChg chg="modSp mod">
        <pc:chgData name="Sasi Krishna" userId="57a27029-880a-403d-8a58-243b46afb65f" providerId="ADAL" clId="{87EC09B5-DDCD-490B-94E9-45A26B1F77A7}" dt="2025-10-31T12:12:19.386" v="0" actId="1076"/>
        <pc:sldMkLst>
          <pc:docMk/>
          <pc:sldMk cId="576667795" sldId="2146847605"/>
        </pc:sldMkLst>
        <pc:graphicFrameChg chg="mod">
          <ac:chgData name="Sasi Krishna" userId="57a27029-880a-403d-8a58-243b46afb65f" providerId="ADAL" clId="{87EC09B5-DDCD-490B-94E9-45A26B1F77A7}" dt="2025-10-31T12:12:19.386" v="0" actId="1076"/>
          <ac:graphicFrameMkLst>
            <pc:docMk/>
            <pc:sldMk cId="576667795" sldId="2146847605"/>
            <ac:graphicFrameMk id="13" creationId="{A290987F-00B6-BA5B-DB14-D89CF39249FF}"/>
          </ac:graphicFrameMkLst>
        </pc:graphicFrameChg>
      </pc:sldChg>
    </pc:docChg>
  </pc:docChgLst>
  <pc:docChgLst>
    <pc:chgData name="Nazima Yasmeen" userId="a49fd7c6-5e1d-46e2-8eb3-bf69b384a318" providerId="ADAL" clId="{B0533326-A799-4EFE-926E-8410F727096E}"/>
    <pc:docChg chg="undo custSel modSld">
      <pc:chgData name="Nazima Yasmeen" userId="a49fd7c6-5e1d-46e2-8eb3-bf69b384a318" providerId="ADAL" clId="{B0533326-A799-4EFE-926E-8410F727096E}" dt="2024-07-22T13:33:22.955" v="5" actId="207"/>
      <pc:docMkLst>
        <pc:docMk/>
      </pc:docMkLst>
      <pc:sldChg chg="modSp mod">
        <pc:chgData name="Nazima Yasmeen" userId="a49fd7c6-5e1d-46e2-8eb3-bf69b384a318" providerId="ADAL" clId="{B0533326-A799-4EFE-926E-8410F727096E}" dt="2024-07-22T13:33:22.955" v="5" actId="207"/>
        <pc:sldMkLst>
          <pc:docMk/>
          <pc:sldMk cId="2630208536" sldId="2146847729"/>
        </pc:sldMkLst>
      </pc:sldChg>
    </pc:docChg>
  </pc:docChgLst>
  <pc:docChgLst>
    <pc:chgData name="Nazima Yasmeen" userId="a49fd7c6-5e1d-46e2-8eb3-bf69b384a318" providerId="ADAL" clId="{E89B468D-13F3-4BA0-9A6C-FE511DC7F858}"/>
    <pc:docChg chg="undo custSel addSld modSld">
      <pc:chgData name="Nazima Yasmeen" userId="a49fd7c6-5e1d-46e2-8eb3-bf69b384a318" providerId="ADAL" clId="{E89B468D-13F3-4BA0-9A6C-FE511DC7F858}" dt="2024-07-22T09:09:15.797" v="11" actId="14734"/>
      <pc:docMkLst>
        <pc:docMk/>
      </pc:docMkLst>
      <pc:sldChg chg="modSp">
        <pc:chgData name="Nazima Yasmeen" userId="a49fd7c6-5e1d-46e2-8eb3-bf69b384a318" providerId="ADAL" clId="{E89B468D-13F3-4BA0-9A6C-FE511DC7F858}" dt="2024-07-22T09:08:47.613" v="4"/>
        <pc:sldMkLst>
          <pc:docMk/>
          <pc:sldMk cId="576667795" sldId="2146847605"/>
        </pc:sldMkLst>
      </pc:sldChg>
      <pc:sldChg chg="modSp add mod">
        <pc:chgData name="Nazima Yasmeen" userId="a49fd7c6-5e1d-46e2-8eb3-bf69b384a318" providerId="ADAL" clId="{E89B468D-13F3-4BA0-9A6C-FE511DC7F858}" dt="2024-07-22T09:09:15.797" v="11" actId="14734"/>
        <pc:sldMkLst>
          <pc:docMk/>
          <pc:sldMk cId="2630208536" sldId="214684772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ti.A\Desktop\Book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ti.A\Desktop\Book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ti.A\Desktop\Book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ti.A\Desktop\Book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ti.A\Desktop\Book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ti.A\Desktop\Book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oti.A\Desktop\Book1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>
                <a:solidFill>
                  <a:srgbClr val="FF0000"/>
                </a:solidFill>
                <a:latin typeface="Optima" panose="02000503060000020004"/>
              </a:rPr>
              <a:t>Data Duality</a:t>
            </a:r>
            <a:r>
              <a:rPr lang="en-IN" b="1" baseline="0">
                <a:solidFill>
                  <a:srgbClr val="FF0000"/>
                </a:solidFill>
                <a:latin typeface="Optima" panose="02000503060000020004"/>
              </a:rPr>
              <a:t> Dimensions</a:t>
            </a:r>
            <a:endParaRPr lang="en-IN" b="1">
              <a:solidFill>
                <a:srgbClr val="FF0000"/>
              </a:solidFill>
              <a:latin typeface="Optima" panose="02000503060000020004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Sheet2!$D$4</c:f>
              <c:strCache>
                <c:ptCount val="1"/>
                <c:pt idx="0">
                  <c:v>Compliant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C30-4BAF-9332-F62C3DB0BEE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70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C30-4BAF-9332-F62C3DB0BEE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65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C30-4BAF-9332-F62C3DB0BEE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85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C30-4BAF-9332-F62C3DB0BEE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70C0"/>
                    </a:solidFill>
                    <a:latin typeface="Optima" panose="020005030600000200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Sheet2!$C$5:$C$8</c:f>
              <c:strCache>
                <c:ptCount val="4"/>
                <c:pt idx="0">
                  <c:v>Accuracy</c:v>
                </c:pt>
                <c:pt idx="1">
                  <c:v>Completeness</c:v>
                </c:pt>
                <c:pt idx="2">
                  <c:v>Consistency</c:v>
                </c:pt>
                <c:pt idx="3">
                  <c:v>Uniqueness</c:v>
                </c:pt>
              </c:strCache>
            </c:strRef>
          </c:cat>
          <c:val>
            <c:numRef>
              <c:f>Sheet2!$D$5:$D$8</c:f>
              <c:numCache>
                <c:formatCode>0%</c:formatCode>
                <c:ptCount val="4"/>
                <c:pt idx="0">
                  <c:v>0.55000000000000004</c:v>
                </c:pt>
                <c:pt idx="1">
                  <c:v>0.7</c:v>
                </c:pt>
                <c:pt idx="2">
                  <c:v>0.65</c:v>
                </c:pt>
                <c:pt idx="3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30-4BAF-9332-F62C3DB0BEE6}"/>
            </c:ext>
          </c:extLst>
        </c:ser>
        <c:ser>
          <c:idx val="1"/>
          <c:order val="1"/>
          <c:tx>
            <c:strRef>
              <c:f>Sheet2!$E$4</c:f>
              <c:strCache>
                <c:ptCount val="1"/>
                <c:pt idx="0">
                  <c:v>Non - Compliant</c:v>
                </c:pt>
              </c:strCache>
            </c:strRef>
          </c:tx>
          <c:spPr>
            <a:solidFill>
              <a:srgbClr val="CB1618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45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C30-4BAF-9332-F62C3DB0BEE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C30-4BAF-9332-F62C3DB0BEE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35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C30-4BAF-9332-F62C3DB0BEE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C30-4BAF-9332-F62C3DB0BEE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70C0"/>
                    </a:solidFill>
                    <a:latin typeface="Optima" panose="020005030600000200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Sheet2!$C$5:$C$8</c:f>
              <c:strCache>
                <c:ptCount val="4"/>
                <c:pt idx="0">
                  <c:v>Accuracy</c:v>
                </c:pt>
                <c:pt idx="1">
                  <c:v>Completeness</c:v>
                </c:pt>
                <c:pt idx="2">
                  <c:v>Consistency</c:v>
                </c:pt>
                <c:pt idx="3">
                  <c:v>Uniqueness</c:v>
                </c:pt>
              </c:strCache>
            </c:strRef>
          </c:cat>
          <c:val>
            <c:numRef>
              <c:f>Sheet2!$E$5:$E$8</c:f>
              <c:numCache>
                <c:formatCode>0%</c:formatCode>
                <c:ptCount val="4"/>
                <c:pt idx="0">
                  <c:v>0.45</c:v>
                </c:pt>
                <c:pt idx="1">
                  <c:v>0.3</c:v>
                </c:pt>
                <c:pt idx="2">
                  <c:v>0.35</c:v>
                </c:pt>
                <c:pt idx="3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30-4BAF-9332-F62C3DB0BE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1093855712"/>
        <c:axId val="1093854752"/>
      </c:barChart>
      <c:catAx>
        <c:axId val="10938557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tima" panose="02000503060000020004"/>
                <a:ea typeface="+mn-ea"/>
                <a:cs typeface="+mn-cs"/>
              </a:defRPr>
            </a:pPr>
            <a:endParaRPr lang="en-US"/>
          </a:p>
        </c:txPr>
        <c:crossAx val="1093854752"/>
        <c:crosses val="autoZero"/>
        <c:auto val="1"/>
        <c:lblAlgn val="ctr"/>
        <c:lblOffset val="100"/>
        <c:noMultiLvlLbl val="0"/>
      </c:catAx>
      <c:valAx>
        <c:axId val="10938547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tima" panose="02000503060000020004"/>
                <a:ea typeface="+mn-ea"/>
                <a:cs typeface="+mn-cs"/>
              </a:defRPr>
            </a:pPr>
            <a:endParaRPr lang="en-US"/>
          </a:p>
        </c:txPr>
        <c:crossAx val="1093855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Optima" panose="02000503060000020004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rgbClr val="0070C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FF0000"/>
              </a:solidFill>
              <a:latin typeface="Optima" panose="02000503060000020004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Sheet2!$C$5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70C0"/>
                    </a:solidFill>
                    <a:latin typeface="Optima" panose="02000503060000020004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Sheet2!$D$4:$E$4</c:f>
              <c:strCache>
                <c:ptCount val="2"/>
                <c:pt idx="0">
                  <c:v>Compliant</c:v>
                </c:pt>
                <c:pt idx="1">
                  <c:v>Non - Compliant</c:v>
                </c:pt>
              </c:strCache>
            </c:strRef>
          </c:cat>
          <c:val>
            <c:numRef>
              <c:f>Sheet2!$D$5:$E$5</c:f>
              <c:numCache>
                <c:formatCode>0%</c:formatCode>
                <c:ptCount val="2"/>
                <c:pt idx="0">
                  <c:v>0.55000000000000004</c:v>
                </c:pt>
                <c:pt idx="1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25-4E87-9D71-5CD8B443EB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057357519"/>
        <c:axId val="1050798799"/>
        <c:axId val="0"/>
      </c:bar3DChart>
      <c:catAx>
        <c:axId val="105735751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50798799"/>
        <c:crosses val="autoZero"/>
        <c:auto val="1"/>
        <c:lblAlgn val="ctr"/>
        <c:lblOffset val="100"/>
        <c:noMultiLvlLbl val="0"/>
      </c:catAx>
      <c:valAx>
        <c:axId val="1050798799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0573575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70C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Optima" panose="02000503060000020004"/>
                <a:ea typeface="+mn-ea"/>
                <a:cs typeface="+mn-cs"/>
              </a:defRPr>
            </a:pPr>
            <a:r>
              <a:rPr lang="en-US" b="1">
                <a:solidFill>
                  <a:srgbClr val="FF0000"/>
                </a:solidFill>
                <a:latin typeface="Optima" panose="02000503060000020004"/>
              </a:rPr>
              <a:t>Completeness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Optima" panose="02000503060000020004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Sheet2!$C$6</c:f>
              <c:strCache>
                <c:ptCount val="1"/>
                <c:pt idx="0">
                  <c:v>Completeness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70C0"/>
                    </a:solidFill>
                    <a:latin typeface="Optima" panose="02000503060000020004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Sheet2!$D$4:$E$4</c:f>
              <c:strCache>
                <c:ptCount val="2"/>
                <c:pt idx="0">
                  <c:v>Compliant</c:v>
                </c:pt>
                <c:pt idx="1">
                  <c:v>Non - Compliant</c:v>
                </c:pt>
              </c:strCache>
            </c:strRef>
          </c:cat>
          <c:val>
            <c:numRef>
              <c:f>Sheet2!$D$6:$E$6</c:f>
              <c:numCache>
                <c:formatCode>0%</c:formatCode>
                <c:ptCount val="2"/>
                <c:pt idx="0">
                  <c:v>0.7</c:v>
                </c:pt>
                <c:pt idx="1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D9-4C9E-BAC2-7DFC6E11A4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361130559"/>
        <c:axId val="1361109439"/>
        <c:axId val="0"/>
      </c:bar3DChart>
      <c:catAx>
        <c:axId val="136113055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61109439"/>
        <c:crosses val="autoZero"/>
        <c:auto val="1"/>
        <c:lblAlgn val="ctr"/>
        <c:lblOffset val="100"/>
        <c:noMultiLvlLbl val="0"/>
      </c:catAx>
      <c:valAx>
        <c:axId val="1361109439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3611305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70C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Optima" panose="02000503060000020004"/>
                <a:ea typeface="+mn-ea"/>
                <a:cs typeface="+mn-cs"/>
              </a:defRPr>
            </a:pPr>
            <a:r>
              <a:rPr lang="en-US" b="1">
                <a:solidFill>
                  <a:srgbClr val="FF0000"/>
                </a:solidFill>
                <a:latin typeface="Optima" panose="02000503060000020004"/>
              </a:rPr>
              <a:t>Consistency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Optima" panose="02000503060000020004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Sheet2!$C$7</c:f>
              <c:strCache>
                <c:ptCount val="1"/>
                <c:pt idx="0">
                  <c:v>Consistency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70C0"/>
                    </a:solidFill>
                    <a:latin typeface="Optima" panose="02000503060000020004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Sheet2!$D$4:$E$4</c:f>
              <c:strCache>
                <c:ptCount val="2"/>
                <c:pt idx="0">
                  <c:v>Compliant</c:v>
                </c:pt>
                <c:pt idx="1">
                  <c:v>Non - Compliant</c:v>
                </c:pt>
              </c:strCache>
            </c:strRef>
          </c:cat>
          <c:val>
            <c:numRef>
              <c:f>Sheet2!$D$7:$E$7</c:f>
              <c:numCache>
                <c:formatCode>0%</c:formatCode>
                <c:ptCount val="2"/>
                <c:pt idx="0">
                  <c:v>0.65</c:v>
                </c:pt>
                <c:pt idx="1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2B-4FFC-BAEB-F776829853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361117119"/>
        <c:axId val="1361120479"/>
        <c:axId val="0"/>
      </c:bar3DChart>
      <c:catAx>
        <c:axId val="136111711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361120479"/>
        <c:crosses val="autoZero"/>
        <c:auto val="1"/>
        <c:lblAlgn val="ctr"/>
        <c:lblOffset val="100"/>
        <c:noMultiLvlLbl val="0"/>
      </c:catAx>
      <c:valAx>
        <c:axId val="1361120479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3611171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70C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Optima" panose="02000503060000020004"/>
                <a:ea typeface="+mn-ea"/>
                <a:cs typeface="+mn-cs"/>
              </a:defRPr>
            </a:pPr>
            <a:r>
              <a:rPr lang="en-US" b="1">
                <a:solidFill>
                  <a:srgbClr val="FF0000"/>
                </a:solidFill>
                <a:latin typeface="Optima" panose="02000503060000020004"/>
              </a:rPr>
              <a:t>Uniqueness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Optima" panose="02000503060000020004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Sheet2!$C$8</c:f>
              <c:strCache>
                <c:ptCount val="1"/>
                <c:pt idx="0">
                  <c:v>Uniqueness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rgbClr val="0070C0"/>
                    </a:solidFill>
                    <a:latin typeface="Optima" panose="02000503060000020004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Sheet2!$D$4:$E$4</c:f>
              <c:strCache>
                <c:ptCount val="2"/>
                <c:pt idx="0">
                  <c:v>Compliant</c:v>
                </c:pt>
                <c:pt idx="1">
                  <c:v>Non - Compliant</c:v>
                </c:pt>
              </c:strCache>
            </c:strRef>
          </c:cat>
          <c:val>
            <c:numRef>
              <c:f>Sheet2!$D$8:$E$8</c:f>
              <c:numCache>
                <c:formatCode>0%</c:formatCode>
                <c:ptCount val="2"/>
                <c:pt idx="0">
                  <c:v>0.85</c:v>
                </c:pt>
                <c:pt idx="1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41-494F-B960-C281AFA5D8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294069184"/>
        <c:axId val="1057351759"/>
        <c:axId val="0"/>
      </c:bar3DChart>
      <c:catAx>
        <c:axId val="12940691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57351759"/>
        <c:crosses val="autoZero"/>
        <c:auto val="1"/>
        <c:lblAlgn val="ctr"/>
        <c:lblOffset val="100"/>
        <c:noMultiLvlLbl val="0"/>
      </c:catAx>
      <c:valAx>
        <c:axId val="1057351759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294069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70C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kumimoji="0" lang="en-IN" sz="1600" b="1" i="0" u="none" strike="noStrike" kern="1200" cap="none" spc="0" normalizeH="0" baseline="0" dirty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 charset="0"/>
                <a:ea typeface="+mj-ea"/>
                <a:cs typeface="Arial" panose="020B0604020202020204" pitchFamily="34" charset="0"/>
              </a:defRPr>
            </a:pPr>
            <a:r>
              <a:rPr kumimoji="0" lang="en-IN" sz="1600" b="1" i="0" u="none" strike="noStrike" kern="1200" cap="none" spc="0" normalizeH="0" baseline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 charset="0"/>
                <a:ea typeface="+mj-ea"/>
                <a:cs typeface="Arial" panose="020B0604020202020204" pitchFamily="34" charset="0"/>
              </a:rPr>
              <a:t>Data Quality Process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kumimoji="0" lang="en-IN" sz="1600" b="1" i="0" u="none" strike="noStrike" kern="1200" cap="none" spc="0" normalizeH="0" baseline="0" dirty="0">
              <a:ln>
                <a:noFill/>
              </a:ln>
              <a:solidFill>
                <a:srgbClr val="10479B"/>
              </a:solidFill>
              <a:effectLst/>
              <a:uLnTx/>
              <a:uFillTx/>
              <a:latin typeface="Optima" charset="0"/>
              <a:ea typeface="+mj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Sheet7!$A$2</c:f>
              <c:strCache>
                <c:ptCount val="1"/>
                <c:pt idx="0">
                  <c:v>HALB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62A1-4731-A8A9-DC0FA68F8680}"/>
              </c:ext>
            </c:extLst>
          </c:dPt>
          <c:cat>
            <c:strRef>
              <c:f>Sheet7!$B$1:$H$1</c:f>
              <c:strCache>
                <c:ptCount val="7"/>
                <c:pt idx="0">
                  <c:v>Completeness</c:v>
                </c:pt>
                <c:pt idx="1">
                  <c:v>Consistency</c:v>
                </c:pt>
                <c:pt idx="2">
                  <c:v>Uniqueness</c:v>
                </c:pt>
                <c:pt idx="3">
                  <c:v>Accuracy</c:v>
                </c:pt>
                <c:pt idx="4">
                  <c:v>Timeliness</c:v>
                </c:pt>
                <c:pt idx="5">
                  <c:v>Validity</c:v>
                </c:pt>
                <c:pt idx="6">
                  <c:v>Integrity</c:v>
                </c:pt>
              </c:strCache>
            </c:strRef>
          </c:cat>
          <c:val>
            <c:numRef>
              <c:f>Sheet7!$B$2:$H$2</c:f>
              <c:numCache>
                <c:formatCode>General</c:formatCode>
                <c:ptCount val="7"/>
                <c:pt idx="0">
                  <c:v>70</c:v>
                </c:pt>
                <c:pt idx="1">
                  <c:v>65</c:v>
                </c:pt>
                <c:pt idx="2">
                  <c:v>70</c:v>
                </c:pt>
                <c:pt idx="3">
                  <c:v>65</c:v>
                </c:pt>
                <c:pt idx="4">
                  <c:v>85</c:v>
                </c:pt>
                <c:pt idx="5">
                  <c:v>70</c:v>
                </c:pt>
                <c:pt idx="6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AC-407D-9CEF-AE63A57EBB01}"/>
            </c:ext>
          </c:extLst>
        </c:ser>
        <c:ser>
          <c:idx val="1"/>
          <c:order val="1"/>
          <c:tx>
            <c:strRef>
              <c:f>Sheet7!$A$3</c:f>
              <c:strCache>
                <c:ptCount val="1"/>
                <c:pt idx="0">
                  <c:v>ROH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Sheet7!$B$1:$H$1</c:f>
              <c:strCache>
                <c:ptCount val="7"/>
                <c:pt idx="0">
                  <c:v>Completeness</c:v>
                </c:pt>
                <c:pt idx="1">
                  <c:v>Consistency</c:v>
                </c:pt>
                <c:pt idx="2">
                  <c:v>Uniqueness</c:v>
                </c:pt>
                <c:pt idx="3">
                  <c:v>Accuracy</c:v>
                </c:pt>
                <c:pt idx="4">
                  <c:v>Timeliness</c:v>
                </c:pt>
                <c:pt idx="5">
                  <c:v>Validity</c:v>
                </c:pt>
                <c:pt idx="6">
                  <c:v>Integrity</c:v>
                </c:pt>
              </c:strCache>
            </c:strRef>
          </c:cat>
          <c:val>
            <c:numRef>
              <c:f>Sheet7!$B$3:$H$3</c:f>
              <c:numCache>
                <c:formatCode>General</c:formatCode>
                <c:ptCount val="7"/>
                <c:pt idx="0">
                  <c:v>65</c:v>
                </c:pt>
                <c:pt idx="1">
                  <c:v>70</c:v>
                </c:pt>
                <c:pt idx="2">
                  <c:v>65</c:v>
                </c:pt>
                <c:pt idx="3">
                  <c:v>70</c:v>
                </c:pt>
                <c:pt idx="4">
                  <c:v>70</c:v>
                </c:pt>
                <c:pt idx="5">
                  <c:v>65</c:v>
                </c:pt>
                <c:pt idx="6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AC-407D-9CEF-AE63A57EBB01}"/>
            </c:ext>
          </c:extLst>
        </c:ser>
        <c:ser>
          <c:idx val="2"/>
          <c:order val="2"/>
          <c:tx>
            <c:strRef>
              <c:f>Sheet7!$A$4</c:f>
              <c:strCache>
                <c:ptCount val="1"/>
                <c:pt idx="0">
                  <c:v>FERT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2A1-4731-A8A9-DC0FA68F8680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2A1-4731-A8A9-DC0FA68F8680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2A1-4731-A8A9-DC0FA68F8680}"/>
              </c:ext>
            </c:extLst>
          </c:dPt>
          <c:dPt>
            <c:idx val="5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2A1-4731-A8A9-DC0FA68F8680}"/>
              </c:ext>
            </c:extLst>
          </c:dPt>
          <c:dPt>
            <c:idx val="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2A1-4731-A8A9-DC0FA68F8680}"/>
              </c:ext>
            </c:extLst>
          </c:dPt>
          <c:cat>
            <c:strRef>
              <c:f>Sheet7!$B$1:$H$1</c:f>
              <c:strCache>
                <c:ptCount val="7"/>
                <c:pt idx="0">
                  <c:v>Completeness</c:v>
                </c:pt>
                <c:pt idx="1">
                  <c:v>Consistency</c:v>
                </c:pt>
                <c:pt idx="2">
                  <c:v>Uniqueness</c:v>
                </c:pt>
                <c:pt idx="3">
                  <c:v>Accuracy</c:v>
                </c:pt>
                <c:pt idx="4">
                  <c:v>Timeliness</c:v>
                </c:pt>
                <c:pt idx="5">
                  <c:v>Validity</c:v>
                </c:pt>
                <c:pt idx="6">
                  <c:v>Integrity</c:v>
                </c:pt>
              </c:strCache>
            </c:strRef>
          </c:cat>
          <c:val>
            <c:numRef>
              <c:f>Sheet7!$B$4:$H$4</c:f>
              <c:numCache>
                <c:formatCode>General</c:formatCode>
                <c:ptCount val="7"/>
                <c:pt idx="0">
                  <c:v>80</c:v>
                </c:pt>
                <c:pt idx="1">
                  <c:v>55</c:v>
                </c:pt>
                <c:pt idx="2">
                  <c:v>50</c:v>
                </c:pt>
                <c:pt idx="3">
                  <c:v>55</c:v>
                </c:pt>
                <c:pt idx="4">
                  <c:v>88</c:v>
                </c:pt>
                <c:pt idx="5">
                  <c:v>50</c:v>
                </c:pt>
                <c:pt idx="6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AC-407D-9CEF-AE63A57EBB01}"/>
            </c:ext>
          </c:extLst>
        </c:ser>
        <c:ser>
          <c:idx val="3"/>
          <c:order val="3"/>
          <c:tx>
            <c:strRef>
              <c:f>Sheet7!$A$5</c:f>
              <c:strCache>
                <c:ptCount val="1"/>
                <c:pt idx="0">
                  <c:v>ERSA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2A1-4731-A8A9-DC0FA68F8680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62A1-4731-A8A9-DC0FA68F8680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2A1-4731-A8A9-DC0FA68F8680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62A1-4731-A8A9-DC0FA68F8680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2A1-4731-A8A9-DC0FA68F8680}"/>
              </c:ext>
            </c:extLst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62A1-4731-A8A9-DC0FA68F8680}"/>
              </c:ext>
            </c:extLst>
          </c:dPt>
          <c:dPt>
            <c:idx val="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2A1-4731-A8A9-DC0FA68F8680}"/>
              </c:ext>
            </c:extLst>
          </c:dPt>
          <c:cat>
            <c:strRef>
              <c:f>Sheet7!$B$1:$H$1</c:f>
              <c:strCache>
                <c:ptCount val="7"/>
                <c:pt idx="0">
                  <c:v>Completeness</c:v>
                </c:pt>
                <c:pt idx="1">
                  <c:v>Consistency</c:v>
                </c:pt>
                <c:pt idx="2">
                  <c:v>Uniqueness</c:v>
                </c:pt>
                <c:pt idx="3">
                  <c:v>Accuracy</c:v>
                </c:pt>
                <c:pt idx="4">
                  <c:v>Timeliness</c:v>
                </c:pt>
                <c:pt idx="5">
                  <c:v>Validity</c:v>
                </c:pt>
                <c:pt idx="6">
                  <c:v>Integrity</c:v>
                </c:pt>
              </c:strCache>
            </c:strRef>
          </c:cat>
          <c:val>
            <c:numRef>
              <c:f>Sheet7!$B$5:$H$5</c:f>
              <c:numCache>
                <c:formatCode>General</c:formatCode>
                <c:ptCount val="7"/>
                <c:pt idx="0">
                  <c:v>75</c:v>
                </c:pt>
                <c:pt idx="1">
                  <c:v>45</c:v>
                </c:pt>
                <c:pt idx="2">
                  <c:v>75</c:v>
                </c:pt>
                <c:pt idx="3">
                  <c:v>45</c:v>
                </c:pt>
                <c:pt idx="4">
                  <c:v>83</c:v>
                </c:pt>
                <c:pt idx="5">
                  <c:v>75</c:v>
                </c:pt>
                <c:pt idx="6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AC-407D-9CEF-AE63A57EBB01}"/>
            </c:ext>
          </c:extLst>
        </c:ser>
        <c:ser>
          <c:idx val="4"/>
          <c:order val="4"/>
          <c:tx>
            <c:strRef>
              <c:f>Sheet7!$A$6</c:f>
              <c:strCache>
                <c:ptCount val="1"/>
                <c:pt idx="0">
                  <c:v>HIBE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62A1-4731-A8A9-DC0FA68F8680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2A1-4731-A8A9-DC0FA68F8680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62A1-4731-A8A9-DC0FA68F8680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62A1-4731-A8A9-DC0FA68F8680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62A1-4731-A8A9-DC0FA68F8680}"/>
              </c:ext>
            </c:extLst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62A1-4731-A8A9-DC0FA68F8680}"/>
              </c:ext>
            </c:extLst>
          </c:dPt>
          <c:dPt>
            <c:idx val="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62A1-4731-A8A9-DC0FA68F8680}"/>
              </c:ext>
            </c:extLst>
          </c:dPt>
          <c:cat>
            <c:strRef>
              <c:f>Sheet7!$B$1:$H$1</c:f>
              <c:strCache>
                <c:ptCount val="7"/>
                <c:pt idx="0">
                  <c:v>Completeness</c:v>
                </c:pt>
                <c:pt idx="1">
                  <c:v>Consistency</c:v>
                </c:pt>
                <c:pt idx="2">
                  <c:v>Uniqueness</c:v>
                </c:pt>
                <c:pt idx="3">
                  <c:v>Accuracy</c:v>
                </c:pt>
                <c:pt idx="4">
                  <c:v>Timeliness</c:v>
                </c:pt>
                <c:pt idx="5">
                  <c:v>Validity</c:v>
                </c:pt>
                <c:pt idx="6">
                  <c:v>Integrity</c:v>
                </c:pt>
              </c:strCache>
            </c:strRef>
          </c:cat>
          <c:val>
            <c:numRef>
              <c:f>Sheet7!$B$6:$H$6</c:f>
              <c:numCache>
                <c:formatCode>General</c:formatCode>
                <c:ptCount val="7"/>
                <c:pt idx="0">
                  <c:v>95</c:v>
                </c:pt>
                <c:pt idx="1">
                  <c:v>35</c:v>
                </c:pt>
                <c:pt idx="2">
                  <c:v>70</c:v>
                </c:pt>
                <c:pt idx="3">
                  <c:v>35</c:v>
                </c:pt>
                <c:pt idx="4">
                  <c:v>80</c:v>
                </c:pt>
                <c:pt idx="5">
                  <c:v>70</c:v>
                </c:pt>
                <c:pt idx="6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FAC-407D-9CEF-AE63A57EBB01}"/>
            </c:ext>
          </c:extLst>
        </c:ser>
        <c:ser>
          <c:idx val="5"/>
          <c:order val="5"/>
          <c:tx>
            <c:strRef>
              <c:f>Sheet7!$A$7</c:f>
              <c:strCache>
                <c:ptCount val="1"/>
                <c:pt idx="0">
                  <c:v>NLAG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62A1-4731-A8A9-DC0FA68F8680}"/>
              </c:ext>
            </c:extLst>
          </c:dPt>
          <c:dPt>
            <c:idx val="1"/>
            <c:invertIfNegative val="0"/>
            <c:bubble3D val="0"/>
            <c:spPr>
              <a:solidFill>
                <a:srgbClr val="CB161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62A1-4731-A8A9-DC0FA68F8680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62A1-4731-A8A9-DC0FA68F8680}"/>
              </c:ext>
            </c:extLst>
          </c:dPt>
          <c:dPt>
            <c:idx val="3"/>
            <c:invertIfNegative val="0"/>
            <c:bubble3D val="0"/>
            <c:spPr>
              <a:solidFill>
                <a:srgbClr val="CB161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62A1-4731-A8A9-DC0FA68F8680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62A1-4731-A8A9-DC0FA68F8680}"/>
              </c:ext>
            </c:extLst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A-62A1-4731-A8A9-DC0FA68F8680}"/>
              </c:ext>
            </c:extLst>
          </c:dPt>
          <c:dPt>
            <c:idx val="6"/>
            <c:invertIfNegative val="0"/>
            <c:bubble3D val="0"/>
            <c:spPr>
              <a:solidFill>
                <a:srgbClr val="CB161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62A1-4731-A8A9-DC0FA68F8680}"/>
              </c:ext>
            </c:extLst>
          </c:dPt>
          <c:cat>
            <c:strRef>
              <c:f>Sheet7!$B$1:$H$1</c:f>
              <c:strCache>
                <c:ptCount val="7"/>
                <c:pt idx="0">
                  <c:v>Completeness</c:v>
                </c:pt>
                <c:pt idx="1">
                  <c:v>Consistency</c:v>
                </c:pt>
                <c:pt idx="2">
                  <c:v>Uniqueness</c:v>
                </c:pt>
                <c:pt idx="3">
                  <c:v>Accuracy</c:v>
                </c:pt>
                <c:pt idx="4">
                  <c:v>Timeliness</c:v>
                </c:pt>
                <c:pt idx="5">
                  <c:v>Validity</c:v>
                </c:pt>
                <c:pt idx="6">
                  <c:v>Integrity</c:v>
                </c:pt>
              </c:strCache>
            </c:strRef>
          </c:cat>
          <c:val>
            <c:numRef>
              <c:f>Sheet7!$B$7:$H$7</c:f>
              <c:numCache>
                <c:formatCode>General</c:formatCode>
                <c:ptCount val="7"/>
                <c:pt idx="0">
                  <c:v>23</c:v>
                </c:pt>
                <c:pt idx="1">
                  <c:v>20</c:v>
                </c:pt>
                <c:pt idx="2">
                  <c:v>65</c:v>
                </c:pt>
                <c:pt idx="3">
                  <c:v>20</c:v>
                </c:pt>
                <c:pt idx="4">
                  <c:v>75</c:v>
                </c:pt>
                <c:pt idx="5">
                  <c:v>65</c:v>
                </c:pt>
                <c:pt idx="6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FAC-407D-9CEF-AE63A57EBB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055344"/>
        <c:axId val="41056304"/>
      </c:barChart>
      <c:catAx>
        <c:axId val="41055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kumimoji="0" lang="en-US" sz="1100" b="1" i="0" u="none" strike="noStrike" kern="1200" cap="none" spc="0" normalizeH="0" baseline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 charset="0"/>
                <a:ea typeface="+mj-ea"/>
                <a:cs typeface="Arial" panose="020B0604020202020204" pitchFamily="34" charset="0"/>
              </a:defRPr>
            </a:pPr>
            <a:endParaRPr lang="en-US"/>
          </a:p>
        </c:txPr>
        <c:crossAx val="41056304"/>
        <c:crosses val="autoZero"/>
        <c:auto val="1"/>
        <c:lblAlgn val="ctr"/>
        <c:lblOffset val="100"/>
        <c:noMultiLvlLbl val="0"/>
      </c:catAx>
      <c:valAx>
        <c:axId val="410563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kumimoji="0" lang="en-US" sz="1100" b="1" i="0" u="none" strike="noStrike" kern="1200" cap="none" spc="0" normalizeH="0" baseline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 charset="0"/>
                <a:ea typeface="+mj-ea"/>
                <a:cs typeface="Arial" panose="020B0604020202020204" pitchFamily="34" charset="0"/>
              </a:defRPr>
            </a:pPr>
            <a:endParaRPr lang="en-US"/>
          </a:p>
        </c:txPr>
        <c:crossAx val="41055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kumimoji="0" lang="en-IN" sz="1600" b="1" i="0" u="none" strike="noStrike" kern="1200" cap="none" spc="0" normalizeH="0" baseline="0" dirty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 charset="0"/>
                <a:ea typeface="+mj-ea"/>
                <a:cs typeface="Arial" panose="020B0604020202020204" pitchFamily="34" charset="0"/>
              </a:defRPr>
            </a:pPr>
            <a:r>
              <a:rPr kumimoji="0" lang="en-IN" sz="1600" b="1" i="0" u="none" strike="noStrike" kern="1200" cap="none" spc="0" normalizeH="0" baseline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 charset="0"/>
                <a:ea typeface="+mj-ea"/>
                <a:cs typeface="Arial" panose="020B0604020202020204" pitchFamily="34" charset="0"/>
              </a:rPr>
              <a:t>Data Quality Process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kumimoji="0" lang="en-IN" sz="1600" b="1" i="0" u="none" strike="noStrike" kern="1200" cap="none" spc="0" normalizeH="0" baseline="0" dirty="0">
              <a:ln>
                <a:noFill/>
              </a:ln>
              <a:solidFill>
                <a:srgbClr val="10479B"/>
              </a:solidFill>
              <a:effectLst/>
              <a:uLnTx/>
              <a:uFillTx/>
              <a:latin typeface="Optima" charset="0"/>
              <a:ea typeface="+mj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Sheet7!$A$2</c:f>
              <c:strCache>
                <c:ptCount val="1"/>
                <c:pt idx="0">
                  <c:v>HALB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62A1-4731-A8A9-DC0FA68F8680}"/>
              </c:ext>
            </c:extLst>
          </c:dPt>
          <c:cat>
            <c:strRef>
              <c:f>Sheet7!$B$1:$H$1</c:f>
              <c:strCache>
                <c:ptCount val="7"/>
                <c:pt idx="0">
                  <c:v>Completeness</c:v>
                </c:pt>
                <c:pt idx="1">
                  <c:v>Consistency</c:v>
                </c:pt>
                <c:pt idx="2">
                  <c:v>Uniqueness</c:v>
                </c:pt>
                <c:pt idx="3">
                  <c:v>Accuracy</c:v>
                </c:pt>
                <c:pt idx="4">
                  <c:v>Timeliness</c:v>
                </c:pt>
                <c:pt idx="5">
                  <c:v>Validity</c:v>
                </c:pt>
                <c:pt idx="6">
                  <c:v>Integrity</c:v>
                </c:pt>
              </c:strCache>
            </c:strRef>
          </c:cat>
          <c:val>
            <c:numRef>
              <c:f>Sheet7!$B$2:$H$2</c:f>
              <c:numCache>
                <c:formatCode>General</c:formatCode>
                <c:ptCount val="7"/>
                <c:pt idx="0">
                  <c:v>70</c:v>
                </c:pt>
                <c:pt idx="1">
                  <c:v>65</c:v>
                </c:pt>
                <c:pt idx="2">
                  <c:v>70</c:v>
                </c:pt>
                <c:pt idx="3">
                  <c:v>65</c:v>
                </c:pt>
                <c:pt idx="4">
                  <c:v>85</c:v>
                </c:pt>
                <c:pt idx="5">
                  <c:v>70</c:v>
                </c:pt>
                <c:pt idx="6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AC-407D-9CEF-AE63A57EBB01}"/>
            </c:ext>
          </c:extLst>
        </c:ser>
        <c:ser>
          <c:idx val="1"/>
          <c:order val="1"/>
          <c:tx>
            <c:strRef>
              <c:f>Sheet7!$A$3</c:f>
              <c:strCache>
                <c:ptCount val="1"/>
                <c:pt idx="0">
                  <c:v>ROH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Sheet7!$B$1:$H$1</c:f>
              <c:strCache>
                <c:ptCount val="7"/>
                <c:pt idx="0">
                  <c:v>Completeness</c:v>
                </c:pt>
                <c:pt idx="1">
                  <c:v>Consistency</c:v>
                </c:pt>
                <c:pt idx="2">
                  <c:v>Uniqueness</c:v>
                </c:pt>
                <c:pt idx="3">
                  <c:v>Accuracy</c:v>
                </c:pt>
                <c:pt idx="4">
                  <c:v>Timeliness</c:v>
                </c:pt>
                <c:pt idx="5">
                  <c:v>Validity</c:v>
                </c:pt>
                <c:pt idx="6">
                  <c:v>Integrity</c:v>
                </c:pt>
              </c:strCache>
            </c:strRef>
          </c:cat>
          <c:val>
            <c:numRef>
              <c:f>Sheet7!$B$3:$H$3</c:f>
              <c:numCache>
                <c:formatCode>General</c:formatCode>
                <c:ptCount val="7"/>
                <c:pt idx="0">
                  <c:v>65</c:v>
                </c:pt>
                <c:pt idx="1">
                  <c:v>70</c:v>
                </c:pt>
                <c:pt idx="2">
                  <c:v>65</c:v>
                </c:pt>
                <c:pt idx="3">
                  <c:v>70</c:v>
                </c:pt>
                <c:pt idx="4">
                  <c:v>70</c:v>
                </c:pt>
                <c:pt idx="5">
                  <c:v>65</c:v>
                </c:pt>
                <c:pt idx="6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AC-407D-9CEF-AE63A57EBB01}"/>
            </c:ext>
          </c:extLst>
        </c:ser>
        <c:ser>
          <c:idx val="2"/>
          <c:order val="2"/>
          <c:tx>
            <c:strRef>
              <c:f>Sheet7!$A$4</c:f>
              <c:strCache>
                <c:ptCount val="1"/>
                <c:pt idx="0">
                  <c:v>FERT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2A1-4731-A8A9-DC0FA68F8680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62A1-4731-A8A9-DC0FA68F8680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2A1-4731-A8A9-DC0FA68F8680}"/>
              </c:ext>
            </c:extLst>
          </c:dPt>
          <c:dPt>
            <c:idx val="5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62A1-4731-A8A9-DC0FA68F8680}"/>
              </c:ext>
            </c:extLst>
          </c:dPt>
          <c:dPt>
            <c:idx val="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2A1-4731-A8A9-DC0FA68F8680}"/>
              </c:ext>
            </c:extLst>
          </c:dPt>
          <c:cat>
            <c:strRef>
              <c:f>Sheet7!$B$1:$H$1</c:f>
              <c:strCache>
                <c:ptCount val="7"/>
                <c:pt idx="0">
                  <c:v>Completeness</c:v>
                </c:pt>
                <c:pt idx="1">
                  <c:v>Consistency</c:v>
                </c:pt>
                <c:pt idx="2">
                  <c:v>Uniqueness</c:v>
                </c:pt>
                <c:pt idx="3">
                  <c:v>Accuracy</c:v>
                </c:pt>
                <c:pt idx="4">
                  <c:v>Timeliness</c:v>
                </c:pt>
                <c:pt idx="5">
                  <c:v>Validity</c:v>
                </c:pt>
                <c:pt idx="6">
                  <c:v>Integrity</c:v>
                </c:pt>
              </c:strCache>
            </c:strRef>
          </c:cat>
          <c:val>
            <c:numRef>
              <c:f>Sheet7!$B$4:$H$4</c:f>
              <c:numCache>
                <c:formatCode>General</c:formatCode>
                <c:ptCount val="7"/>
                <c:pt idx="0">
                  <c:v>80</c:v>
                </c:pt>
                <c:pt idx="1">
                  <c:v>55</c:v>
                </c:pt>
                <c:pt idx="2">
                  <c:v>50</c:v>
                </c:pt>
                <c:pt idx="3">
                  <c:v>55</c:v>
                </c:pt>
                <c:pt idx="4">
                  <c:v>88</c:v>
                </c:pt>
                <c:pt idx="5">
                  <c:v>50</c:v>
                </c:pt>
                <c:pt idx="6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AC-407D-9CEF-AE63A57EBB01}"/>
            </c:ext>
          </c:extLst>
        </c:ser>
        <c:ser>
          <c:idx val="3"/>
          <c:order val="3"/>
          <c:tx>
            <c:strRef>
              <c:f>Sheet7!$A$5</c:f>
              <c:strCache>
                <c:ptCount val="1"/>
                <c:pt idx="0">
                  <c:v>ERSA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2A1-4731-A8A9-DC0FA68F8680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62A1-4731-A8A9-DC0FA68F8680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2A1-4731-A8A9-DC0FA68F8680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62A1-4731-A8A9-DC0FA68F8680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2A1-4731-A8A9-DC0FA68F8680}"/>
              </c:ext>
            </c:extLst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62A1-4731-A8A9-DC0FA68F8680}"/>
              </c:ext>
            </c:extLst>
          </c:dPt>
          <c:dPt>
            <c:idx val="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62A1-4731-A8A9-DC0FA68F8680}"/>
              </c:ext>
            </c:extLst>
          </c:dPt>
          <c:cat>
            <c:strRef>
              <c:f>Sheet7!$B$1:$H$1</c:f>
              <c:strCache>
                <c:ptCount val="7"/>
                <c:pt idx="0">
                  <c:v>Completeness</c:v>
                </c:pt>
                <c:pt idx="1">
                  <c:v>Consistency</c:v>
                </c:pt>
                <c:pt idx="2">
                  <c:v>Uniqueness</c:v>
                </c:pt>
                <c:pt idx="3">
                  <c:v>Accuracy</c:v>
                </c:pt>
                <c:pt idx="4">
                  <c:v>Timeliness</c:v>
                </c:pt>
                <c:pt idx="5">
                  <c:v>Validity</c:v>
                </c:pt>
                <c:pt idx="6">
                  <c:v>Integrity</c:v>
                </c:pt>
              </c:strCache>
            </c:strRef>
          </c:cat>
          <c:val>
            <c:numRef>
              <c:f>Sheet7!$B$5:$H$5</c:f>
              <c:numCache>
                <c:formatCode>General</c:formatCode>
                <c:ptCount val="7"/>
                <c:pt idx="0">
                  <c:v>75</c:v>
                </c:pt>
                <c:pt idx="1">
                  <c:v>45</c:v>
                </c:pt>
                <c:pt idx="2">
                  <c:v>75</c:v>
                </c:pt>
                <c:pt idx="3">
                  <c:v>45</c:v>
                </c:pt>
                <c:pt idx="4">
                  <c:v>83</c:v>
                </c:pt>
                <c:pt idx="5">
                  <c:v>75</c:v>
                </c:pt>
                <c:pt idx="6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FAC-407D-9CEF-AE63A57EBB01}"/>
            </c:ext>
          </c:extLst>
        </c:ser>
        <c:ser>
          <c:idx val="4"/>
          <c:order val="4"/>
          <c:tx>
            <c:strRef>
              <c:f>Sheet7!$A$6</c:f>
              <c:strCache>
                <c:ptCount val="1"/>
                <c:pt idx="0">
                  <c:v>HIBE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62A1-4731-A8A9-DC0FA68F8680}"/>
              </c:ext>
            </c:extLst>
          </c:dPt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2A1-4731-A8A9-DC0FA68F8680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62A1-4731-A8A9-DC0FA68F8680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62A1-4731-A8A9-DC0FA68F8680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62A1-4731-A8A9-DC0FA68F8680}"/>
              </c:ext>
            </c:extLst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62A1-4731-A8A9-DC0FA68F8680}"/>
              </c:ext>
            </c:extLst>
          </c:dPt>
          <c:dPt>
            <c:idx val="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62A1-4731-A8A9-DC0FA68F8680}"/>
              </c:ext>
            </c:extLst>
          </c:dPt>
          <c:cat>
            <c:strRef>
              <c:f>Sheet7!$B$1:$H$1</c:f>
              <c:strCache>
                <c:ptCount val="7"/>
                <c:pt idx="0">
                  <c:v>Completeness</c:v>
                </c:pt>
                <c:pt idx="1">
                  <c:v>Consistency</c:v>
                </c:pt>
                <c:pt idx="2">
                  <c:v>Uniqueness</c:v>
                </c:pt>
                <c:pt idx="3">
                  <c:v>Accuracy</c:v>
                </c:pt>
                <c:pt idx="4">
                  <c:v>Timeliness</c:v>
                </c:pt>
                <c:pt idx="5">
                  <c:v>Validity</c:v>
                </c:pt>
                <c:pt idx="6">
                  <c:v>Integrity</c:v>
                </c:pt>
              </c:strCache>
            </c:strRef>
          </c:cat>
          <c:val>
            <c:numRef>
              <c:f>Sheet7!$B$6:$H$6</c:f>
              <c:numCache>
                <c:formatCode>General</c:formatCode>
                <c:ptCount val="7"/>
                <c:pt idx="0">
                  <c:v>95</c:v>
                </c:pt>
                <c:pt idx="1">
                  <c:v>35</c:v>
                </c:pt>
                <c:pt idx="2">
                  <c:v>70</c:v>
                </c:pt>
                <c:pt idx="3">
                  <c:v>35</c:v>
                </c:pt>
                <c:pt idx="4">
                  <c:v>80</c:v>
                </c:pt>
                <c:pt idx="5">
                  <c:v>70</c:v>
                </c:pt>
                <c:pt idx="6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FAC-407D-9CEF-AE63A57EBB01}"/>
            </c:ext>
          </c:extLst>
        </c:ser>
        <c:ser>
          <c:idx val="5"/>
          <c:order val="5"/>
          <c:tx>
            <c:strRef>
              <c:f>Sheet7!$A$7</c:f>
              <c:strCache>
                <c:ptCount val="1"/>
                <c:pt idx="0">
                  <c:v>NLAG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62A1-4731-A8A9-DC0FA68F8680}"/>
              </c:ext>
            </c:extLst>
          </c:dPt>
          <c:dPt>
            <c:idx val="1"/>
            <c:invertIfNegative val="0"/>
            <c:bubble3D val="0"/>
            <c:spPr>
              <a:solidFill>
                <a:srgbClr val="CB161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62A1-4731-A8A9-DC0FA68F8680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62A1-4731-A8A9-DC0FA68F8680}"/>
              </c:ext>
            </c:extLst>
          </c:dPt>
          <c:dPt>
            <c:idx val="3"/>
            <c:invertIfNegative val="0"/>
            <c:bubble3D val="0"/>
            <c:spPr>
              <a:solidFill>
                <a:srgbClr val="CB161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62A1-4731-A8A9-DC0FA68F8680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62A1-4731-A8A9-DC0FA68F8680}"/>
              </c:ext>
            </c:extLst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A-62A1-4731-A8A9-DC0FA68F8680}"/>
              </c:ext>
            </c:extLst>
          </c:dPt>
          <c:dPt>
            <c:idx val="6"/>
            <c:invertIfNegative val="0"/>
            <c:bubble3D val="0"/>
            <c:spPr>
              <a:solidFill>
                <a:srgbClr val="CB161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62A1-4731-A8A9-DC0FA68F8680}"/>
              </c:ext>
            </c:extLst>
          </c:dPt>
          <c:cat>
            <c:strRef>
              <c:f>Sheet7!$B$1:$H$1</c:f>
              <c:strCache>
                <c:ptCount val="7"/>
                <c:pt idx="0">
                  <c:v>Completeness</c:v>
                </c:pt>
                <c:pt idx="1">
                  <c:v>Consistency</c:v>
                </c:pt>
                <c:pt idx="2">
                  <c:v>Uniqueness</c:v>
                </c:pt>
                <c:pt idx="3">
                  <c:v>Accuracy</c:v>
                </c:pt>
                <c:pt idx="4">
                  <c:v>Timeliness</c:v>
                </c:pt>
                <c:pt idx="5">
                  <c:v>Validity</c:v>
                </c:pt>
                <c:pt idx="6">
                  <c:v>Integrity</c:v>
                </c:pt>
              </c:strCache>
            </c:strRef>
          </c:cat>
          <c:val>
            <c:numRef>
              <c:f>Sheet7!$B$7:$H$7</c:f>
              <c:numCache>
                <c:formatCode>General</c:formatCode>
                <c:ptCount val="7"/>
                <c:pt idx="0">
                  <c:v>23</c:v>
                </c:pt>
                <c:pt idx="1">
                  <c:v>20</c:v>
                </c:pt>
                <c:pt idx="2">
                  <c:v>65</c:v>
                </c:pt>
                <c:pt idx="3">
                  <c:v>20</c:v>
                </c:pt>
                <c:pt idx="4">
                  <c:v>75</c:v>
                </c:pt>
                <c:pt idx="5">
                  <c:v>65</c:v>
                </c:pt>
                <c:pt idx="6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FAC-407D-9CEF-AE63A57EBB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055344"/>
        <c:axId val="41056304"/>
      </c:barChart>
      <c:catAx>
        <c:axId val="410553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kumimoji="0" lang="en-US" sz="1100" b="1" i="0" u="none" strike="noStrike" kern="1200" cap="none" spc="0" normalizeH="0" baseline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 charset="0"/>
                <a:ea typeface="+mj-ea"/>
                <a:cs typeface="Arial" panose="020B0604020202020204" pitchFamily="34" charset="0"/>
              </a:defRPr>
            </a:pPr>
            <a:endParaRPr lang="en-US"/>
          </a:p>
        </c:txPr>
        <c:crossAx val="41056304"/>
        <c:crosses val="autoZero"/>
        <c:auto val="1"/>
        <c:lblAlgn val="ctr"/>
        <c:lblOffset val="100"/>
        <c:noMultiLvlLbl val="0"/>
      </c:catAx>
      <c:valAx>
        <c:axId val="410563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kumimoji="0" lang="en-US" sz="1100" b="1" i="0" u="none" strike="noStrike" kern="1200" cap="none" spc="0" normalizeH="0" baseline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 charset="0"/>
                <a:ea typeface="+mj-ea"/>
                <a:cs typeface="Arial" panose="020B0604020202020204" pitchFamily="34" charset="0"/>
              </a:defRPr>
            </a:pPr>
            <a:endParaRPr lang="en-US"/>
          </a:p>
        </c:txPr>
        <c:crossAx val="41055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chemeClr val="accent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75E96A-E758-42D8-809D-F76E0AC5C7F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7B4AC11E-A206-4538-B989-9EA882DA1F24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>
              <a:solidFill>
                <a:schemeClr val="tx1"/>
              </a:solidFill>
              <a:latin typeface="Optima" panose="02000503060000020004"/>
            </a:rPr>
            <a:t>&gt;80</a:t>
          </a:r>
        </a:p>
      </dgm:t>
    </dgm:pt>
    <dgm:pt modelId="{4A5E5756-D9B2-49B4-B17F-6E39844E3E9D}" type="parTrans" cxnId="{63563C5E-828A-4955-9EB9-A731E12E33AD}">
      <dgm:prSet/>
      <dgm:spPr/>
      <dgm:t>
        <a:bodyPr/>
        <a:lstStyle/>
        <a:p>
          <a:endParaRPr lang="en-IN" sz="1000"/>
        </a:p>
      </dgm:t>
    </dgm:pt>
    <dgm:pt modelId="{72B43ACC-08A0-4173-BAB0-23C4E10CD61B}" type="sibTrans" cxnId="{63563C5E-828A-4955-9EB9-A731E12E33AD}">
      <dgm:prSet/>
      <dgm:spPr/>
      <dgm:t>
        <a:bodyPr/>
        <a:lstStyle/>
        <a:p>
          <a:endParaRPr lang="en-IN" sz="1000"/>
        </a:p>
      </dgm:t>
    </dgm:pt>
    <dgm:pt modelId="{03BD4B86-583D-4C47-9127-FD55F2558106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>
              <a:solidFill>
                <a:schemeClr val="tx1"/>
              </a:solidFill>
              <a:latin typeface="Optima" panose="02000503060000020004"/>
            </a:rPr>
            <a:t>60-80</a:t>
          </a:r>
        </a:p>
      </dgm:t>
    </dgm:pt>
    <dgm:pt modelId="{8983D52C-2C19-4846-81C6-9698F5721475}" type="parTrans" cxnId="{CDEB6530-3813-4212-8FF9-BCA9BD09D040}">
      <dgm:prSet/>
      <dgm:spPr/>
      <dgm:t>
        <a:bodyPr/>
        <a:lstStyle/>
        <a:p>
          <a:endParaRPr lang="en-IN" sz="1000"/>
        </a:p>
      </dgm:t>
    </dgm:pt>
    <dgm:pt modelId="{F76A9CF5-8212-43F9-8A46-60548D6AC152}" type="sibTrans" cxnId="{CDEB6530-3813-4212-8FF9-BCA9BD09D040}">
      <dgm:prSet/>
      <dgm:spPr/>
      <dgm:t>
        <a:bodyPr/>
        <a:lstStyle/>
        <a:p>
          <a:endParaRPr lang="en-IN" sz="1000"/>
        </a:p>
      </dgm:t>
    </dgm:pt>
    <dgm:pt modelId="{A2B7DE11-8F64-4825-84C5-D18ADD7DB027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IN" sz="1100" b="1">
              <a:solidFill>
                <a:schemeClr val="tx1"/>
              </a:solidFill>
              <a:latin typeface="Optima" panose="02000503060000020004"/>
            </a:rPr>
            <a:t>&lt;60</a:t>
          </a:r>
        </a:p>
      </dgm:t>
    </dgm:pt>
    <dgm:pt modelId="{EFC6436E-0003-4BAB-B5D9-272A349CBB77}" type="parTrans" cxnId="{595CEB8D-751A-450E-8FF6-9E3EA3BD6811}">
      <dgm:prSet/>
      <dgm:spPr/>
      <dgm:t>
        <a:bodyPr/>
        <a:lstStyle/>
        <a:p>
          <a:endParaRPr lang="en-IN" sz="1000"/>
        </a:p>
      </dgm:t>
    </dgm:pt>
    <dgm:pt modelId="{14D74F8C-511D-4B49-829B-1E6281E4374D}" type="sibTrans" cxnId="{595CEB8D-751A-450E-8FF6-9E3EA3BD6811}">
      <dgm:prSet/>
      <dgm:spPr/>
      <dgm:t>
        <a:bodyPr/>
        <a:lstStyle/>
        <a:p>
          <a:endParaRPr lang="en-IN" sz="1000"/>
        </a:p>
      </dgm:t>
    </dgm:pt>
    <dgm:pt modelId="{5D26B5EC-4C4F-4C53-A850-BFAFE8092110}" type="pres">
      <dgm:prSet presAssocID="{D175E96A-E758-42D8-809D-F76E0AC5C7FA}" presName="linearFlow" presStyleCnt="0">
        <dgm:presLayoutVars>
          <dgm:dir/>
          <dgm:resizeHandles val="exact"/>
        </dgm:presLayoutVars>
      </dgm:prSet>
      <dgm:spPr/>
    </dgm:pt>
    <dgm:pt modelId="{582B1599-146A-417B-B61A-B133389B37A7}" type="pres">
      <dgm:prSet presAssocID="{7B4AC11E-A206-4538-B989-9EA882DA1F24}" presName="composite" presStyleCnt="0"/>
      <dgm:spPr/>
    </dgm:pt>
    <dgm:pt modelId="{5E5F43D7-9B2B-4A08-8EF7-44AD40BB88F2}" type="pres">
      <dgm:prSet presAssocID="{7B4AC11E-A206-4538-B989-9EA882DA1F24}" presName="imgShp" presStyleLbl="fgImgPlace1" presStyleIdx="0" presStyleCnt="3"/>
      <dgm:spPr>
        <a:solidFill>
          <a:srgbClr val="00B050"/>
        </a:solidFill>
      </dgm:spPr>
    </dgm:pt>
    <dgm:pt modelId="{DEFEC6C2-7ED3-4430-A4FB-7C283D7EF104}" type="pres">
      <dgm:prSet presAssocID="{7B4AC11E-A206-4538-B989-9EA882DA1F24}" presName="txShp" presStyleLbl="node1" presStyleIdx="0" presStyleCnt="3">
        <dgm:presLayoutVars>
          <dgm:bulletEnabled val="1"/>
        </dgm:presLayoutVars>
      </dgm:prSet>
      <dgm:spPr/>
    </dgm:pt>
    <dgm:pt modelId="{52257C42-69CB-4C8A-B621-DCAA7C7ED6C0}" type="pres">
      <dgm:prSet presAssocID="{72B43ACC-08A0-4173-BAB0-23C4E10CD61B}" presName="spacing" presStyleCnt="0"/>
      <dgm:spPr/>
    </dgm:pt>
    <dgm:pt modelId="{D86339A2-3A1B-40B0-ADE6-908619848C26}" type="pres">
      <dgm:prSet presAssocID="{03BD4B86-583D-4C47-9127-FD55F2558106}" presName="composite" presStyleCnt="0"/>
      <dgm:spPr/>
    </dgm:pt>
    <dgm:pt modelId="{BFC52C8B-581E-4653-8BF0-AA69DAE0B1C3}" type="pres">
      <dgm:prSet presAssocID="{03BD4B86-583D-4C47-9127-FD55F2558106}" presName="imgShp" presStyleLbl="fgImgPlace1" presStyleIdx="1" presStyleCnt="3"/>
      <dgm:spPr>
        <a:solidFill>
          <a:srgbClr val="FFFF00"/>
        </a:solidFill>
      </dgm:spPr>
    </dgm:pt>
    <dgm:pt modelId="{49DC682B-74C4-4107-910D-904744C58D74}" type="pres">
      <dgm:prSet presAssocID="{03BD4B86-583D-4C47-9127-FD55F2558106}" presName="txShp" presStyleLbl="node1" presStyleIdx="1" presStyleCnt="3">
        <dgm:presLayoutVars>
          <dgm:bulletEnabled val="1"/>
        </dgm:presLayoutVars>
      </dgm:prSet>
      <dgm:spPr/>
    </dgm:pt>
    <dgm:pt modelId="{38327C46-02DF-4587-9480-C3C127604923}" type="pres">
      <dgm:prSet presAssocID="{F76A9CF5-8212-43F9-8A46-60548D6AC152}" presName="spacing" presStyleCnt="0"/>
      <dgm:spPr/>
    </dgm:pt>
    <dgm:pt modelId="{527D3663-5512-4E1F-9015-5374529D4ED8}" type="pres">
      <dgm:prSet presAssocID="{A2B7DE11-8F64-4825-84C5-D18ADD7DB027}" presName="composite" presStyleCnt="0"/>
      <dgm:spPr/>
    </dgm:pt>
    <dgm:pt modelId="{1130D4DB-6E17-418E-913E-74D0BA28C057}" type="pres">
      <dgm:prSet presAssocID="{A2B7DE11-8F64-4825-84C5-D18ADD7DB027}" presName="imgShp" presStyleLbl="fgImgPlace1" presStyleIdx="2" presStyleCnt="3" custLinFactNeighborX="-3140" custLinFactNeighborY="-6478"/>
      <dgm:spPr>
        <a:solidFill>
          <a:srgbClr val="FF0000"/>
        </a:solidFill>
      </dgm:spPr>
    </dgm:pt>
    <dgm:pt modelId="{4BFBFFE5-2861-402F-8003-1662AD0AA042}" type="pres">
      <dgm:prSet presAssocID="{A2B7DE11-8F64-4825-84C5-D18ADD7DB027}" presName="txShp" presStyleLbl="node1" presStyleIdx="2" presStyleCnt="3">
        <dgm:presLayoutVars>
          <dgm:bulletEnabled val="1"/>
        </dgm:presLayoutVars>
      </dgm:prSet>
      <dgm:spPr/>
    </dgm:pt>
  </dgm:ptLst>
  <dgm:cxnLst>
    <dgm:cxn modelId="{CDEB6530-3813-4212-8FF9-BCA9BD09D040}" srcId="{D175E96A-E758-42D8-809D-F76E0AC5C7FA}" destId="{03BD4B86-583D-4C47-9127-FD55F2558106}" srcOrd="1" destOrd="0" parTransId="{8983D52C-2C19-4846-81C6-9698F5721475}" sibTransId="{F76A9CF5-8212-43F9-8A46-60548D6AC152}"/>
    <dgm:cxn modelId="{63563C5E-828A-4955-9EB9-A731E12E33AD}" srcId="{D175E96A-E758-42D8-809D-F76E0AC5C7FA}" destId="{7B4AC11E-A206-4538-B989-9EA882DA1F24}" srcOrd="0" destOrd="0" parTransId="{4A5E5756-D9B2-49B4-B17F-6E39844E3E9D}" sibTransId="{72B43ACC-08A0-4173-BAB0-23C4E10CD61B}"/>
    <dgm:cxn modelId="{41C64648-1D9B-4C06-A8F9-2454C4AB3E2B}" type="presOf" srcId="{7B4AC11E-A206-4538-B989-9EA882DA1F24}" destId="{DEFEC6C2-7ED3-4430-A4FB-7C283D7EF104}" srcOrd="0" destOrd="0" presId="urn:microsoft.com/office/officeart/2005/8/layout/vList3"/>
    <dgm:cxn modelId="{595CEB8D-751A-450E-8FF6-9E3EA3BD6811}" srcId="{D175E96A-E758-42D8-809D-F76E0AC5C7FA}" destId="{A2B7DE11-8F64-4825-84C5-D18ADD7DB027}" srcOrd="2" destOrd="0" parTransId="{EFC6436E-0003-4BAB-B5D9-272A349CBB77}" sibTransId="{14D74F8C-511D-4B49-829B-1E6281E4374D}"/>
    <dgm:cxn modelId="{C83328C1-6709-460D-99F0-F362F2056E70}" type="presOf" srcId="{03BD4B86-583D-4C47-9127-FD55F2558106}" destId="{49DC682B-74C4-4107-910D-904744C58D74}" srcOrd="0" destOrd="0" presId="urn:microsoft.com/office/officeart/2005/8/layout/vList3"/>
    <dgm:cxn modelId="{DA6FC7C4-D4AE-4C18-9C22-751170E61B5F}" type="presOf" srcId="{A2B7DE11-8F64-4825-84C5-D18ADD7DB027}" destId="{4BFBFFE5-2861-402F-8003-1662AD0AA042}" srcOrd="0" destOrd="0" presId="urn:microsoft.com/office/officeart/2005/8/layout/vList3"/>
    <dgm:cxn modelId="{77EB5AF5-071B-4BE4-96E7-1D5E3B53E005}" type="presOf" srcId="{D175E96A-E758-42D8-809D-F76E0AC5C7FA}" destId="{5D26B5EC-4C4F-4C53-A850-BFAFE8092110}" srcOrd="0" destOrd="0" presId="urn:microsoft.com/office/officeart/2005/8/layout/vList3"/>
    <dgm:cxn modelId="{3D1B3F6D-3AAB-446B-AC87-21526CACB969}" type="presParOf" srcId="{5D26B5EC-4C4F-4C53-A850-BFAFE8092110}" destId="{582B1599-146A-417B-B61A-B133389B37A7}" srcOrd="0" destOrd="0" presId="urn:microsoft.com/office/officeart/2005/8/layout/vList3"/>
    <dgm:cxn modelId="{369FC86F-801D-4BBE-BB4B-991ED34DCD30}" type="presParOf" srcId="{582B1599-146A-417B-B61A-B133389B37A7}" destId="{5E5F43D7-9B2B-4A08-8EF7-44AD40BB88F2}" srcOrd="0" destOrd="0" presId="urn:microsoft.com/office/officeart/2005/8/layout/vList3"/>
    <dgm:cxn modelId="{8B4CC19A-07D5-4217-89EE-B52FAC1D8774}" type="presParOf" srcId="{582B1599-146A-417B-B61A-B133389B37A7}" destId="{DEFEC6C2-7ED3-4430-A4FB-7C283D7EF104}" srcOrd="1" destOrd="0" presId="urn:microsoft.com/office/officeart/2005/8/layout/vList3"/>
    <dgm:cxn modelId="{8439CB04-E5C8-444F-B381-2058FCA83ACF}" type="presParOf" srcId="{5D26B5EC-4C4F-4C53-A850-BFAFE8092110}" destId="{52257C42-69CB-4C8A-B621-DCAA7C7ED6C0}" srcOrd="1" destOrd="0" presId="urn:microsoft.com/office/officeart/2005/8/layout/vList3"/>
    <dgm:cxn modelId="{ACE99361-AE75-43F8-9111-F05E6A77E2EA}" type="presParOf" srcId="{5D26B5EC-4C4F-4C53-A850-BFAFE8092110}" destId="{D86339A2-3A1B-40B0-ADE6-908619848C26}" srcOrd="2" destOrd="0" presId="urn:microsoft.com/office/officeart/2005/8/layout/vList3"/>
    <dgm:cxn modelId="{635DA2C6-8506-4735-B6F4-C2AB9408F64D}" type="presParOf" srcId="{D86339A2-3A1B-40B0-ADE6-908619848C26}" destId="{BFC52C8B-581E-4653-8BF0-AA69DAE0B1C3}" srcOrd="0" destOrd="0" presId="urn:microsoft.com/office/officeart/2005/8/layout/vList3"/>
    <dgm:cxn modelId="{3C26592F-26D2-41E9-8C72-0691EBBFEB96}" type="presParOf" srcId="{D86339A2-3A1B-40B0-ADE6-908619848C26}" destId="{49DC682B-74C4-4107-910D-904744C58D74}" srcOrd="1" destOrd="0" presId="urn:microsoft.com/office/officeart/2005/8/layout/vList3"/>
    <dgm:cxn modelId="{50DF1A29-747B-478B-B2FD-059AEFE8AB26}" type="presParOf" srcId="{5D26B5EC-4C4F-4C53-A850-BFAFE8092110}" destId="{38327C46-02DF-4587-9480-C3C127604923}" srcOrd="3" destOrd="0" presId="urn:microsoft.com/office/officeart/2005/8/layout/vList3"/>
    <dgm:cxn modelId="{84375490-37E5-4A71-BF58-A45685DD1280}" type="presParOf" srcId="{5D26B5EC-4C4F-4C53-A850-BFAFE8092110}" destId="{527D3663-5512-4E1F-9015-5374529D4ED8}" srcOrd="4" destOrd="0" presId="urn:microsoft.com/office/officeart/2005/8/layout/vList3"/>
    <dgm:cxn modelId="{7439F482-82EA-47EE-A554-2961BB825866}" type="presParOf" srcId="{527D3663-5512-4E1F-9015-5374529D4ED8}" destId="{1130D4DB-6E17-418E-913E-74D0BA28C057}" srcOrd="0" destOrd="0" presId="urn:microsoft.com/office/officeart/2005/8/layout/vList3"/>
    <dgm:cxn modelId="{A41B18D4-2BAD-4C92-95A5-FCE2559C0686}" type="presParOf" srcId="{527D3663-5512-4E1F-9015-5374529D4ED8}" destId="{4BFBFFE5-2861-402F-8003-1662AD0AA04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EC6C2-7ED3-4430-A4FB-7C283D7EF104}">
      <dsp:nvSpPr>
        <dsp:cNvPr id="0" name=""/>
        <dsp:cNvSpPr/>
      </dsp:nvSpPr>
      <dsp:spPr>
        <a:xfrm rot="10800000">
          <a:off x="324951" y="62"/>
          <a:ext cx="1145250" cy="145946"/>
        </a:xfrm>
        <a:prstGeom prst="homePlate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4358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>
              <a:solidFill>
                <a:schemeClr val="tx1"/>
              </a:solidFill>
              <a:latin typeface="Optima" panose="02000503060000020004"/>
            </a:rPr>
            <a:t>&gt;80</a:t>
          </a:r>
        </a:p>
      </dsp:txBody>
      <dsp:txXfrm rot="10800000">
        <a:off x="361437" y="62"/>
        <a:ext cx="1108764" cy="145946"/>
      </dsp:txXfrm>
    </dsp:sp>
    <dsp:sp modelId="{5E5F43D7-9B2B-4A08-8EF7-44AD40BB88F2}">
      <dsp:nvSpPr>
        <dsp:cNvPr id="0" name=""/>
        <dsp:cNvSpPr/>
      </dsp:nvSpPr>
      <dsp:spPr>
        <a:xfrm>
          <a:off x="251978" y="62"/>
          <a:ext cx="145946" cy="145946"/>
        </a:xfrm>
        <a:prstGeom prst="ellipse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DC682B-74C4-4107-910D-904744C58D74}">
      <dsp:nvSpPr>
        <dsp:cNvPr id="0" name=""/>
        <dsp:cNvSpPr/>
      </dsp:nvSpPr>
      <dsp:spPr>
        <a:xfrm rot="10800000">
          <a:off x="324951" y="182494"/>
          <a:ext cx="1145250" cy="145946"/>
        </a:xfrm>
        <a:prstGeom prst="homePlate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4358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>
              <a:solidFill>
                <a:schemeClr val="tx1"/>
              </a:solidFill>
              <a:latin typeface="Optima" panose="02000503060000020004"/>
            </a:rPr>
            <a:t>60-80</a:t>
          </a:r>
        </a:p>
      </dsp:txBody>
      <dsp:txXfrm rot="10800000">
        <a:off x="361437" y="182494"/>
        <a:ext cx="1108764" cy="145946"/>
      </dsp:txXfrm>
    </dsp:sp>
    <dsp:sp modelId="{BFC52C8B-581E-4653-8BF0-AA69DAE0B1C3}">
      <dsp:nvSpPr>
        <dsp:cNvPr id="0" name=""/>
        <dsp:cNvSpPr/>
      </dsp:nvSpPr>
      <dsp:spPr>
        <a:xfrm>
          <a:off x="251978" y="182494"/>
          <a:ext cx="145946" cy="145946"/>
        </a:xfrm>
        <a:prstGeom prst="ellipse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FBFFE5-2861-402F-8003-1662AD0AA042}">
      <dsp:nvSpPr>
        <dsp:cNvPr id="0" name=""/>
        <dsp:cNvSpPr/>
      </dsp:nvSpPr>
      <dsp:spPr>
        <a:xfrm rot="10800000">
          <a:off x="324951" y="364927"/>
          <a:ext cx="1145250" cy="145946"/>
        </a:xfrm>
        <a:prstGeom prst="homePlate">
          <a:avLst/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64358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>
              <a:solidFill>
                <a:schemeClr val="tx1"/>
              </a:solidFill>
              <a:latin typeface="Optima" panose="02000503060000020004"/>
            </a:rPr>
            <a:t>&lt;60</a:t>
          </a:r>
        </a:p>
      </dsp:txBody>
      <dsp:txXfrm rot="10800000">
        <a:off x="361437" y="364927"/>
        <a:ext cx="1108764" cy="145946"/>
      </dsp:txXfrm>
    </dsp:sp>
    <dsp:sp modelId="{1130D4DB-6E17-418E-913E-74D0BA28C057}">
      <dsp:nvSpPr>
        <dsp:cNvPr id="0" name=""/>
        <dsp:cNvSpPr/>
      </dsp:nvSpPr>
      <dsp:spPr>
        <a:xfrm>
          <a:off x="247396" y="355473"/>
          <a:ext cx="145946" cy="145946"/>
        </a:xfrm>
        <a:prstGeom prst="ellipse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EC123-B204-48B8-9756-006E9AD5EC45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7BBAA-C4FE-40A2-8FE2-35D5D7D74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950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4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3F84-4A10-2254-3506-C7138DC97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15B91-E514-45D3-EBFA-2D28B0C46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17322-8AAC-3837-F736-88E0C9A23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D1A0E-DCAD-486B-B97B-88E70732007F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7B39A-E1BF-6AB2-5DCB-C1E62F6A3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1D3A0-E2E0-1FF4-1B40-4F0B2312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0D73-DEFA-4240-8E2B-A2F1682EE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404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4F58-7BCA-7EFD-EC27-38B0B794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273E6-3F70-BA2F-36D7-C0326CABF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24496-91D6-A729-E981-50DCF0ED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D1A0E-DCAD-486B-B97B-88E70732007F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AAA1C-D6F9-6192-19E8-CE019819A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32978-6B08-83AB-DE5D-0B162935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0D73-DEFA-4240-8E2B-A2F1682EE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5812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57522-D0F5-8881-F273-D761CAF58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CB39E-D414-39C5-A7F5-5D148A2E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3970B-8AD6-3BEB-5FF5-9C971AED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D1A0E-DCAD-486B-B97B-88E70732007F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7E553-1BD6-1CF6-7C73-823227B7D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75C52-2382-15CF-66F8-AC3B16CC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0D73-DEFA-4240-8E2B-A2F1682EE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32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08018-6403-895E-1A6C-9376A6BB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931DD-D1F4-0D3D-6BDE-968A202F3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C98AD-4935-9B07-D1DE-D3874CE9A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9AF3D-867D-6740-40AB-AA24D361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D1A0E-DCAD-486B-B97B-88E70732007F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0C0D2-ECD0-8557-45D2-B9865C36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4B2C5-0744-C707-BB2B-5B8AB095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0D73-DEFA-4240-8E2B-A2F1682EE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404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EB760-0428-2598-6EAA-46E9BC7BF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B85FF-C27E-885D-C932-E5B41B331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74F0CD-C47F-2BD1-1E4F-5D88A1966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B15869-ACB7-60BF-0D80-1239588C5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FD4727-5F2C-CAA3-34AE-2BD3CA1B3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2C8D49-FCD8-2951-8643-4324EB27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D1A0E-DCAD-486B-B97B-88E70732007F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F7B059-B34A-ED3D-5E30-85E9DADCD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260647-551D-4CCB-0444-021CF3D02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0D73-DEFA-4240-8E2B-A2F1682EE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42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94C7B-88E8-1906-0CBF-9D6F0DA9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0F6E86-165E-5501-F6AD-83E4F5AF0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D1A0E-DCAD-486B-B97B-88E70732007F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7EE52-5B37-2174-057F-4D0AACE90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00EE3-4924-FC10-A406-64F5032A0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0D73-DEFA-4240-8E2B-A2F1682EE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32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FEDAD9-0E6F-872A-C63C-C153C99DB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D1A0E-DCAD-486B-B97B-88E70732007F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61A2B-E6B4-B095-05FF-8D756722F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F8FDE-2EAF-F92E-DE70-71CCA421B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0D73-DEFA-4240-8E2B-A2F1682EE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081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84325-E924-1FC8-2E70-457B29A2C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0AAEB-FA6C-105C-F0E8-D6D086912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E375C-E5FC-0A40-710C-6054D8AC5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0BA79-DE1B-BA07-0DE7-ABF81D41C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D1A0E-DCAD-486B-B97B-88E70732007F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8EEF5-D7D7-5822-F7B0-C51A1B636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AB6EE-EB13-6BC8-29E2-B38480E8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0D73-DEFA-4240-8E2B-A2F1682EE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09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2056-9CD2-66BB-450A-A97AB0AFD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D2D149-398D-A22C-A1C9-72F2792FFB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86683-A273-BB08-08D5-0E909AC1A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D5EBB-7D44-ABB9-AFD5-AC3159BC4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D1A0E-DCAD-486B-B97B-88E70732007F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6C256-125C-560A-E221-296358A6C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D14DC-4F1B-CC32-584F-B4F51AEE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0D73-DEFA-4240-8E2B-A2F1682EE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413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F06A7-5A7B-A69D-75C2-7146A0249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31C4A-6B35-D5F2-20AD-85AF85D28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F9A5E-8662-7F55-F3EC-F2B506A5D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D1A0E-DCAD-486B-B97B-88E70732007F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5BC7D-BF7D-C0B7-CB45-AD673297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429FB-1069-AC74-F98B-06FC5015E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0D73-DEFA-4240-8E2B-A2F1682EE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77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5E392C-47BD-33A6-F748-34A8D53AC0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B595B8-63D5-A6E3-57E7-BCA196F53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61284-DE4C-0DBF-EFFF-5413C846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D1A0E-DCAD-486B-B97B-88E70732007F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B24C1-163A-4D3B-8D80-DAE4E1C12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83925-74DA-1AA8-DBBE-074E1E044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C0D73-DEFA-4240-8E2B-A2F1682EE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896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0142" y="6492875"/>
            <a:ext cx="2743200" cy="365125"/>
          </a:xfrm>
        </p:spPr>
        <p:txBody>
          <a:bodyPr/>
          <a:lstStyle>
            <a:lvl1pPr>
              <a:defRPr b="1">
                <a:solidFill>
                  <a:srgbClr val="10479B"/>
                </a:solidFill>
                <a:latin typeface="Optima"/>
              </a:defRPr>
            </a:lvl1pPr>
          </a:lstStyle>
          <a:p>
            <a:r>
              <a:rPr lang="en-US"/>
              <a:t>© PiLog</a:t>
            </a:r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20960" y="6489700"/>
            <a:ext cx="4114800" cy="365125"/>
          </a:xfrm>
        </p:spPr>
        <p:txBody>
          <a:bodyPr/>
          <a:lstStyle>
            <a:lvl1pPr>
              <a:defRPr b="1">
                <a:solidFill>
                  <a:srgbClr val="10479B"/>
                </a:solidFill>
                <a:latin typeface="Optima"/>
              </a:defRPr>
            </a:lvl1pPr>
          </a:lstStyle>
          <a:p>
            <a:r>
              <a:rPr lang="en-ZA"/>
              <a:t>www.piloggroup.com</a:t>
            </a:r>
          </a:p>
        </p:txBody>
      </p:sp>
      <p:sp>
        <p:nvSpPr>
          <p:cNvPr id="6" name="Title 1"/>
          <p:cNvSpPr txBox="1"/>
          <p:nvPr userDrawn="1"/>
        </p:nvSpPr>
        <p:spPr>
          <a:xfrm>
            <a:off x="241926" y="309330"/>
            <a:ext cx="11672869" cy="435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2800">
                <a:solidFill>
                  <a:schemeClr val="tx2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66321402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AC4CC6-F44D-94ED-F1CE-0C6F6BEB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A471D-E005-A389-CEF1-28AC8CB6E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6E8AF-AC84-7984-5C50-4D13CF503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CD1A0E-DCAD-486B-B97B-88E70732007F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FE4B5-305E-7050-CA51-FD155CA63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492CA-C0F2-418C-3640-64D392BA9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C0D73-DEFA-4240-8E2B-A2F1682EE0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728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microsoft.com/office/2007/relationships/diagramDrawing" Target="../diagrams/drawing1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12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11" Type="http://schemas.openxmlformats.org/officeDocument/2006/relationships/diagramQuickStyle" Target="../diagrams/quickStyle1.xml"/><Relationship Id="rId5" Type="http://schemas.openxmlformats.org/officeDocument/2006/relationships/chart" Target="../charts/chart3.xml"/><Relationship Id="rId10" Type="http://schemas.openxmlformats.org/officeDocument/2006/relationships/diagramLayout" Target="../diagrams/layout1.xml"/><Relationship Id="rId4" Type="http://schemas.openxmlformats.org/officeDocument/2006/relationships/chart" Target="../charts/chart2.xml"/><Relationship Id="rId9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 txBox="1"/>
          <p:nvPr/>
        </p:nvSpPr>
        <p:spPr>
          <a:xfrm>
            <a:off x="11703324" y="6535420"/>
            <a:ext cx="44805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79FC5F6-1581-D948-A184-FDB0977145C6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10479B"/>
              </a:solidFill>
              <a:effectLst/>
              <a:uLnTx/>
              <a:uFillTx/>
              <a:latin typeface="Optima"/>
              <a:ea typeface="+mn-ea"/>
              <a:cs typeface="+mn-cs"/>
            </a:endParaRPr>
          </a:p>
        </p:txBody>
      </p:sp>
      <p:sp>
        <p:nvSpPr>
          <p:cNvPr id="11" name="Footer Placeholder 4"/>
          <p:cNvSpPr txBox="1"/>
          <p:nvPr/>
        </p:nvSpPr>
        <p:spPr bwMode="gray">
          <a:xfrm>
            <a:off x="4165447" y="6583353"/>
            <a:ext cx="3860800" cy="226715"/>
          </a:xfrm>
          <a:prstGeom prst="rect">
            <a:avLst/>
          </a:prstGeom>
        </p:spPr>
        <p:txBody>
          <a:bodyPr vert="horz" lIns="35998" tIns="45718" rIns="35998" bIns="45718" rtlCol="0">
            <a:noAutofit/>
          </a:bodyPr>
          <a:lstStyle>
            <a:lvl1pPr marL="233045" indent="-2330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954405" indent="-344805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438910" indent="-2203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2132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ZA" sz="1300" b="1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Arial" panose="020B0604020202020204" pitchFamily="34" charset="0"/>
              </a:rPr>
              <a:t>www.piloggroup.com</a:t>
            </a:r>
          </a:p>
        </p:txBody>
      </p:sp>
      <p:sp>
        <p:nvSpPr>
          <p:cNvPr id="12" name="Footer Placeholder 4"/>
          <p:cNvSpPr txBox="1"/>
          <p:nvPr/>
        </p:nvSpPr>
        <p:spPr bwMode="gray">
          <a:xfrm>
            <a:off x="-206186" y="6614391"/>
            <a:ext cx="1004047" cy="207181"/>
          </a:xfrm>
          <a:prstGeom prst="rect">
            <a:avLst/>
          </a:prstGeom>
        </p:spPr>
        <p:txBody>
          <a:bodyPr vert="horz" lIns="35998" tIns="45718" rIns="35998" bIns="45718" rtlCol="0">
            <a:noAutofit/>
          </a:bodyPr>
          <a:lstStyle>
            <a:lvl1pPr marL="233045" indent="-2330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954405" indent="-344805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438910" indent="-2203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2132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ZA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/>
                <a:ea typeface="+mn-ea"/>
                <a:cs typeface="Arial" panose="020B0604020202020204" pitchFamily="34" charset="0"/>
              </a:rPr>
              <a:t>© PiLog</a:t>
            </a:r>
          </a:p>
        </p:txBody>
      </p:sp>
      <p:sp>
        <p:nvSpPr>
          <p:cNvPr id="35" name="Title 1"/>
          <p:cNvSpPr txBox="1"/>
          <p:nvPr/>
        </p:nvSpPr>
        <p:spPr>
          <a:xfrm>
            <a:off x="797861" y="173023"/>
            <a:ext cx="10291480" cy="69751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 charset="0"/>
                <a:ea typeface="+mj-ea"/>
                <a:cs typeface="Arial" panose="020B0604020202020204" pitchFamily="34" charset="0"/>
              </a:rPr>
              <a:t>Data Maturity Assessment of Master &amp; Meta Data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Optima" charset="0"/>
                <a:ea typeface="+mj-ea"/>
                <a:cs typeface="Arial" panose="020B0604020202020204" pitchFamily="34" charset="0"/>
              </a:rPr>
              <a:t> Sample Outcome Data Quality Scorecard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Optima" charset="0"/>
              <a:ea typeface="+mj-ea"/>
              <a:cs typeface="+mj-cs"/>
            </a:endParaRP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87FD064A-711B-9AD2-A47B-B97652E9E58D}"/>
              </a:ext>
            </a:extLst>
          </p:cNvPr>
          <p:cNvSpPr/>
          <p:nvPr/>
        </p:nvSpPr>
        <p:spPr>
          <a:xfrm>
            <a:off x="10745380" y="3836897"/>
            <a:ext cx="1012371" cy="914400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 panose="02000503060000020004"/>
                <a:ea typeface="+mn-ea"/>
                <a:cs typeface="+mn-cs"/>
              </a:rPr>
              <a:t>65%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EA5F3052-9C6D-0339-A190-98CA0CD0F8FD}"/>
              </a:ext>
            </a:extLst>
          </p:cNvPr>
          <p:cNvSpPr/>
          <p:nvPr/>
        </p:nvSpPr>
        <p:spPr>
          <a:xfrm>
            <a:off x="10745379" y="1194331"/>
            <a:ext cx="1012371" cy="914400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55%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4B0C7B3D-A456-126B-C8A1-B5C93AD250B4}"/>
              </a:ext>
            </a:extLst>
          </p:cNvPr>
          <p:cNvSpPr/>
          <p:nvPr/>
        </p:nvSpPr>
        <p:spPr>
          <a:xfrm>
            <a:off x="10745380" y="2457874"/>
            <a:ext cx="1012371" cy="914400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 panose="02000503060000020004"/>
                <a:ea typeface="+mn-ea"/>
                <a:cs typeface="+mn-cs"/>
              </a:rPr>
              <a:t>70%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DA0913BF-1277-2CA3-15E2-6E62201CF8A3}"/>
              </a:ext>
            </a:extLst>
          </p:cNvPr>
          <p:cNvSpPr/>
          <p:nvPr/>
        </p:nvSpPr>
        <p:spPr>
          <a:xfrm>
            <a:off x="10745382" y="5235246"/>
            <a:ext cx="1012371" cy="914400"/>
          </a:xfrm>
          <a:prstGeom prst="flowChartConnector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 panose="02000503060000020004"/>
                <a:ea typeface="+mn-ea"/>
                <a:cs typeface="+mn-cs"/>
              </a:rPr>
              <a:t>85%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370B87-63E4-A89F-E2CD-D97FD3E6F617}"/>
              </a:ext>
            </a:extLst>
          </p:cNvPr>
          <p:cNvSpPr txBox="1"/>
          <p:nvPr/>
        </p:nvSpPr>
        <p:spPr>
          <a:xfrm>
            <a:off x="10745380" y="4873082"/>
            <a:ext cx="1589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+mn-cs"/>
              </a:rPr>
              <a:t>Uniqueness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FD970E-97DE-4568-8EB1-511C66980E8E}"/>
              </a:ext>
            </a:extLst>
          </p:cNvPr>
          <p:cNvSpPr txBox="1"/>
          <p:nvPr/>
        </p:nvSpPr>
        <p:spPr>
          <a:xfrm>
            <a:off x="10654877" y="3474733"/>
            <a:ext cx="1417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+mn-cs"/>
              </a:rPr>
              <a:t>Consistency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ACFA25-36D4-5D7B-32FA-75D2AFC7CA45}"/>
              </a:ext>
            </a:extLst>
          </p:cNvPr>
          <p:cNvSpPr txBox="1"/>
          <p:nvPr/>
        </p:nvSpPr>
        <p:spPr>
          <a:xfrm>
            <a:off x="10612514" y="2171808"/>
            <a:ext cx="2321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+mn-cs"/>
              </a:rPr>
              <a:t>Completeness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1F4E19-8069-5570-6E33-B80D54716FD1}"/>
              </a:ext>
            </a:extLst>
          </p:cNvPr>
          <p:cNvSpPr txBox="1"/>
          <p:nvPr/>
        </p:nvSpPr>
        <p:spPr>
          <a:xfrm>
            <a:off x="10745379" y="772987"/>
            <a:ext cx="16413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+mn-cs"/>
              </a:rPr>
              <a:t>Accuracy</a:t>
            </a: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47E5D826-C056-2510-9A70-8D6611D4CA8C}"/>
              </a:ext>
            </a:extLst>
          </p:cNvPr>
          <p:cNvGraphicFramePr>
            <a:graphicFrameLocks/>
          </p:cNvGraphicFramePr>
          <p:nvPr/>
        </p:nvGraphicFramePr>
        <p:xfrm>
          <a:off x="3227935" y="948344"/>
          <a:ext cx="7239135" cy="2811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9C863A58-DF4D-59AB-0E67-DC4FBB7DC590}"/>
              </a:ext>
            </a:extLst>
          </p:cNvPr>
          <p:cNvGraphicFramePr>
            <a:graphicFrameLocks/>
          </p:cNvGraphicFramePr>
          <p:nvPr/>
        </p:nvGraphicFramePr>
        <p:xfrm>
          <a:off x="1046374" y="3924217"/>
          <a:ext cx="2104817" cy="2225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3" name="Chart 32">
            <a:extLst>
              <a:ext uri="{FF2B5EF4-FFF2-40B4-BE49-F238E27FC236}">
                <a16:creationId xmlns:a16="http://schemas.microsoft.com/office/drawing/2014/main" id="{879727D2-4EC5-CCE6-5D08-29FE18631F31}"/>
              </a:ext>
            </a:extLst>
          </p:cNvPr>
          <p:cNvGraphicFramePr>
            <a:graphicFrameLocks/>
          </p:cNvGraphicFramePr>
          <p:nvPr/>
        </p:nvGraphicFramePr>
        <p:xfrm>
          <a:off x="3429501" y="3931764"/>
          <a:ext cx="2093125" cy="2225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9F83F975-6935-A035-4DF7-A06B24010AC8}"/>
              </a:ext>
            </a:extLst>
          </p:cNvPr>
          <p:cNvGraphicFramePr>
            <a:graphicFrameLocks/>
          </p:cNvGraphicFramePr>
          <p:nvPr/>
        </p:nvGraphicFramePr>
        <p:xfrm>
          <a:off x="5767415" y="3931764"/>
          <a:ext cx="2228557" cy="2217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C188069C-E3BA-3209-9780-E1A264BA6E01}"/>
              </a:ext>
            </a:extLst>
          </p:cNvPr>
          <p:cNvGraphicFramePr>
            <a:graphicFrameLocks/>
          </p:cNvGraphicFramePr>
          <p:nvPr/>
        </p:nvGraphicFramePr>
        <p:xfrm>
          <a:off x="8307807" y="3931764"/>
          <a:ext cx="2159263" cy="2217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22C95A0-B24A-BE07-92D0-A186A3CE59DE}"/>
              </a:ext>
            </a:extLst>
          </p:cNvPr>
          <p:cNvSpPr/>
          <p:nvPr/>
        </p:nvSpPr>
        <p:spPr>
          <a:xfrm>
            <a:off x="1436311" y="2294464"/>
            <a:ext cx="1230561" cy="1263542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 panose="02000503060000020004"/>
                <a:ea typeface="+mn-ea"/>
                <a:cs typeface="+mn-cs"/>
              </a:rPr>
              <a:t>69%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8206A-15B6-4F11-19F9-20CE54D194A6}"/>
              </a:ext>
            </a:extLst>
          </p:cNvPr>
          <p:cNvSpPr txBox="1"/>
          <p:nvPr/>
        </p:nvSpPr>
        <p:spPr>
          <a:xfrm>
            <a:off x="817495" y="1753205"/>
            <a:ext cx="2321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+mn-cs"/>
              </a:rPr>
              <a:t>Overall Score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F59A76-64CD-4DE3-96AB-AF32C378AD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4930" y="1111541"/>
            <a:ext cx="723711" cy="723711"/>
          </a:xfrm>
          <a:prstGeom prst="rect">
            <a:avLst/>
          </a:prstGeom>
        </p:spPr>
      </p:pic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46F810C6-AFB1-6BC3-789E-1E0903A574BF}"/>
              </a:ext>
            </a:extLst>
          </p:cNvPr>
          <p:cNvGraphicFramePr/>
          <p:nvPr/>
        </p:nvGraphicFramePr>
        <p:xfrm>
          <a:off x="10427455" y="6249798"/>
          <a:ext cx="1722181" cy="510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297651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B608CF6-C5C6-4C37-A656-04AE9901295B}"/>
              </a:ext>
            </a:extLst>
          </p:cNvPr>
          <p:cNvSpPr txBox="1"/>
          <p:nvPr/>
        </p:nvSpPr>
        <p:spPr>
          <a:xfrm>
            <a:off x="11703324" y="6535420"/>
            <a:ext cx="44805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79FC5F6-1581-D948-A184-FDB0977145C6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10479B"/>
              </a:solidFill>
              <a:effectLst/>
              <a:uLnTx/>
              <a:uFillTx/>
              <a:latin typeface="Optima"/>
              <a:ea typeface="+mn-ea"/>
              <a:cs typeface="+mn-cs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FFF7428-2267-4724-A12F-02323AB73C83}"/>
              </a:ext>
            </a:extLst>
          </p:cNvPr>
          <p:cNvSpPr txBox="1"/>
          <p:nvPr/>
        </p:nvSpPr>
        <p:spPr bwMode="gray">
          <a:xfrm>
            <a:off x="4165447" y="6583353"/>
            <a:ext cx="3860800" cy="226715"/>
          </a:xfrm>
          <a:prstGeom prst="rect">
            <a:avLst/>
          </a:prstGeom>
        </p:spPr>
        <p:txBody>
          <a:bodyPr vert="horz" lIns="35998" tIns="45718" rIns="35998" bIns="45718" rtlCol="0">
            <a:noAutofit/>
          </a:bodyPr>
          <a:lstStyle>
            <a:lvl1pPr marL="233045" indent="-2330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954405" indent="-344805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438910" indent="-2203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2132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ZA" sz="1300" b="1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Arial" panose="020B0604020202020204" pitchFamily="34" charset="0"/>
              </a:rPr>
              <a:t>www.piloggroup.com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EFA34C1-E0AC-4B47-961B-F7639AFA84FA}"/>
              </a:ext>
            </a:extLst>
          </p:cNvPr>
          <p:cNvSpPr txBox="1"/>
          <p:nvPr/>
        </p:nvSpPr>
        <p:spPr bwMode="gray">
          <a:xfrm>
            <a:off x="-206186" y="6614391"/>
            <a:ext cx="1004047" cy="207181"/>
          </a:xfrm>
          <a:prstGeom prst="rect">
            <a:avLst/>
          </a:prstGeom>
        </p:spPr>
        <p:txBody>
          <a:bodyPr vert="horz" lIns="35998" tIns="45718" rIns="35998" bIns="45718" rtlCol="0">
            <a:noAutofit/>
          </a:bodyPr>
          <a:lstStyle>
            <a:lvl1pPr marL="233045" indent="-2330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954405" indent="-344805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438910" indent="-2203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2132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ZA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/>
                <a:ea typeface="+mn-ea"/>
                <a:cs typeface="Arial" panose="020B0604020202020204" pitchFamily="34" charset="0"/>
              </a:rPr>
              <a:t>© PiLog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ABF012-51C2-C8D8-01AA-DA731E6A00EE}"/>
              </a:ext>
            </a:extLst>
          </p:cNvPr>
          <p:cNvSpPr txBox="1"/>
          <p:nvPr/>
        </p:nvSpPr>
        <p:spPr>
          <a:xfrm>
            <a:off x="797861" y="88395"/>
            <a:ext cx="10291480" cy="69751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 charset="0"/>
                <a:ea typeface="+mj-ea"/>
                <a:cs typeface="Arial" panose="020B0604020202020204" pitchFamily="34" charset="0"/>
              </a:rPr>
              <a:t>Data Maturity Assessment of Master &amp; Meta Data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Optima" charset="0"/>
                <a:ea typeface="+mj-ea"/>
                <a:cs typeface="Arial" panose="020B0604020202020204" pitchFamily="34" charset="0"/>
              </a:rPr>
              <a:t> Sample Outcome Data Quality Scorecard 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Optima" charset="0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4DAAFE-CFEA-F447-0BD9-46866D758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113101"/>
              </p:ext>
            </p:extLst>
          </p:nvPr>
        </p:nvGraphicFramePr>
        <p:xfrm>
          <a:off x="932542" y="1044444"/>
          <a:ext cx="11049488" cy="2514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7706">
                  <a:extLst>
                    <a:ext uri="{9D8B030D-6E8A-4147-A177-3AD203B41FA5}">
                      <a16:colId xmlns:a16="http://schemas.microsoft.com/office/drawing/2014/main" val="1861951394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3601826071"/>
                    </a:ext>
                  </a:extLst>
                </a:gridCol>
                <a:gridCol w="1580452">
                  <a:extLst>
                    <a:ext uri="{9D8B030D-6E8A-4147-A177-3AD203B41FA5}">
                      <a16:colId xmlns:a16="http://schemas.microsoft.com/office/drawing/2014/main" val="3277450208"/>
                    </a:ext>
                  </a:extLst>
                </a:gridCol>
                <a:gridCol w="1374140">
                  <a:extLst>
                    <a:ext uri="{9D8B030D-6E8A-4147-A177-3AD203B41FA5}">
                      <a16:colId xmlns:a16="http://schemas.microsoft.com/office/drawing/2014/main" val="1531440280"/>
                    </a:ext>
                  </a:extLst>
                </a:gridCol>
                <a:gridCol w="1435240">
                  <a:extLst>
                    <a:ext uri="{9D8B030D-6E8A-4147-A177-3AD203B41FA5}">
                      <a16:colId xmlns:a16="http://schemas.microsoft.com/office/drawing/2014/main" val="2767259232"/>
                    </a:ext>
                  </a:extLst>
                </a:gridCol>
                <a:gridCol w="1087865">
                  <a:extLst>
                    <a:ext uri="{9D8B030D-6E8A-4147-A177-3AD203B41FA5}">
                      <a16:colId xmlns:a16="http://schemas.microsoft.com/office/drawing/2014/main" val="854541624"/>
                    </a:ext>
                  </a:extLst>
                </a:gridCol>
                <a:gridCol w="1357026">
                  <a:extLst>
                    <a:ext uri="{9D8B030D-6E8A-4147-A177-3AD203B41FA5}">
                      <a16:colId xmlns:a16="http://schemas.microsoft.com/office/drawing/2014/main" val="497492420"/>
                    </a:ext>
                  </a:extLst>
                </a:gridCol>
                <a:gridCol w="889959">
                  <a:extLst>
                    <a:ext uri="{9D8B030D-6E8A-4147-A177-3AD203B41FA5}">
                      <a16:colId xmlns:a16="http://schemas.microsoft.com/office/drawing/2014/main" val="1661940511"/>
                    </a:ext>
                  </a:extLst>
                </a:gridCol>
                <a:gridCol w="971750">
                  <a:extLst>
                    <a:ext uri="{9D8B030D-6E8A-4147-A177-3AD203B41FA5}">
                      <a16:colId xmlns:a16="http://schemas.microsoft.com/office/drawing/2014/main" val="142171941"/>
                    </a:ext>
                  </a:extLst>
                </a:gridCol>
              </a:tblGrid>
              <a:tr h="320122">
                <a:tc>
                  <a:txBody>
                    <a:bodyPr/>
                    <a:lstStyle/>
                    <a:p>
                      <a:r>
                        <a:rPr lang="en-IN" sz="1400" kern="120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Material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Counts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Completeness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Consistency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Uniqueness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Timeliness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Validity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Integrity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649257"/>
                  </a:ext>
                </a:extLst>
              </a:tr>
              <a:tr h="365664">
                <a:tc>
                  <a:txBody>
                    <a:bodyPr/>
                    <a:lstStyle/>
                    <a:p>
                      <a:r>
                        <a:rPr lang="en-IN" sz="1200" b="1" kern="1200" dirty="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HALB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kern="120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20,000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 dirty="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65 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069271"/>
                  </a:ext>
                </a:extLst>
              </a:tr>
              <a:tr h="365664">
                <a:tc>
                  <a:txBody>
                    <a:bodyPr/>
                    <a:lstStyle/>
                    <a:p>
                      <a:r>
                        <a:rPr lang="en-IN" sz="1200" b="1" kern="120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ROH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kern="120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10,000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65 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660669"/>
                  </a:ext>
                </a:extLst>
              </a:tr>
              <a:tr h="365664">
                <a:tc>
                  <a:txBody>
                    <a:bodyPr/>
                    <a:lstStyle/>
                    <a:p>
                      <a:r>
                        <a:rPr lang="en-IN" sz="1200" b="1" kern="120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FERT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kern="120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5,000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80 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480"/>
                  </a:ext>
                </a:extLst>
              </a:tr>
              <a:tr h="365664">
                <a:tc>
                  <a:txBody>
                    <a:bodyPr/>
                    <a:lstStyle/>
                    <a:p>
                      <a:r>
                        <a:rPr lang="en-IN" sz="1200" b="1" kern="120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ERSA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kern="120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50,000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75 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75803"/>
                  </a:ext>
                </a:extLst>
              </a:tr>
              <a:tr h="365664">
                <a:tc>
                  <a:txBody>
                    <a:bodyPr/>
                    <a:lstStyle/>
                    <a:p>
                      <a:r>
                        <a:rPr lang="en-IN" sz="1200" b="1" kern="120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HIBE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kern="120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10,000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95 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76602"/>
                  </a:ext>
                </a:extLst>
              </a:tr>
              <a:tr h="365664">
                <a:tc>
                  <a:txBody>
                    <a:bodyPr/>
                    <a:lstStyle/>
                    <a:p>
                      <a:r>
                        <a:rPr lang="en-IN" sz="1200" b="1" kern="120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NLAG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 kern="120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5,000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23 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16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16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 dirty="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16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59876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3AFCFA-2EBB-082A-DEEB-8643536CD5D3}"/>
              </a:ext>
            </a:extLst>
          </p:cNvPr>
          <p:cNvGraphicFramePr>
            <a:graphicFrameLocks noGrp="1"/>
          </p:cNvGraphicFramePr>
          <p:nvPr/>
        </p:nvGraphicFramePr>
        <p:xfrm>
          <a:off x="7781908" y="676625"/>
          <a:ext cx="389328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862">
                  <a:extLst>
                    <a:ext uri="{9D8B030D-6E8A-4147-A177-3AD203B41FA5}">
                      <a16:colId xmlns:a16="http://schemas.microsoft.com/office/drawing/2014/main" val="699480876"/>
                    </a:ext>
                  </a:extLst>
                </a:gridCol>
                <a:gridCol w="780493">
                  <a:extLst>
                    <a:ext uri="{9D8B030D-6E8A-4147-A177-3AD203B41FA5}">
                      <a16:colId xmlns:a16="http://schemas.microsoft.com/office/drawing/2014/main" val="753539633"/>
                    </a:ext>
                  </a:extLst>
                </a:gridCol>
                <a:gridCol w="817221">
                  <a:extLst>
                    <a:ext uri="{9D8B030D-6E8A-4147-A177-3AD203B41FA5}">
                      <a16:colId xmlns:a16="http://schemas.microsoft.com/office/drawing/2014/main" val="800840857"/>
                    </a:ext>
                  </a:extLst>
                </a:gridCol>
                <a:gridCol w="624394">
                  <a:extLst>
                    <a:ext uri="{9D8B030D-6E8A-4147-A177-3AD203B41FA5}">
                      <a16:colId xmlns:a16="http://schemas.microsoft.com/office/drawing/2014/main" val="907560508"/>
                    </a:ext>
                  </a:extLst>
                </a:gridCol>
                <a:gridCol w="771310">
                  <a:extLst>
                    <a:ext uri="{9D8B030D-6E8A-4147-A177-3AD203B41FA5}">
                      <a16:colId xmlns:a16="http://schemas.microsoft.com/office/drawing/2014/main" val="2459142"/>
                    </a:ext>
                  </a:extLst>
                </a:gridCol>
              </a:tblGrid>
              <a:tr h="243541"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kern="1200">
                          <a:solidFill>
                            <a:srgbClr val="FFFFFF"/>
                          </a:solidFill>
                          <a:effectLst/>
                          <a:highlight>
                            <a:srgbClr val="CB1618"/>
                          </a:highlight>
                          <a:latin typeface="Optima" panose="02000503060000020004"/>
                        </a:rPr>
                        <a:t>&lt; 25</a:t>
                      </a:r>
                      <a:endParaRPr lang="en-IN" sz="1400" b="0" i="0" u="none" strike="noStrike">
                        <a:effectLst/>
                        <a:highlight>
                          <a:srgbClr val="CB1618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1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kern="1200">
                          <a:solidFill>
                            <a:srgbClr val="FFFFFF"/>
                          </a:solidFill>
                          <a:effectLst/>
                          <a:highlight>
                            <a:srgbClr val="FC2110"/>
                          </a:highlight>
                          <a:latin typeface="Optima" panose="02000503060000020004"/>
                        </a:rPr>
                        <a:t>25 - 59</a:t>
                      </a:r>
                      <a:endParaRPr lang="en-IN" sz="1400" b="0" i="0" u="none" strike="noStrike">
                        <a:effectLst/>
                        <a:highlight>
                          <a:srgbClr val="FC2110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211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kern="1200">
                          <a:solidFill>
                            <a:srgbClr val="FFFFFF"/>
                          </a:solidFill>
                          <a:effectLst/>
                          <a:highlight>
                            <a:srgbClr val="FFC000"/>
                          </a:highlight>
                          <a:latin typeface="Optima" panose="02000503060000020004"/>
                        </a:rPr>
                        <a:t>60 - 79</a:t>
                      </a:r>
                      <a:endParaRPr lang="en-IN" sz="1400" b="0" i="0" u="none" strike="noStrike">
                        <a:effectLst/>
                        <a:highlight>
                          <a:srgbClr val="FFC000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kern="1200">
                          <a:solidFill>
                            <a:srgbClr val="FFFFFF"/>
                          </a:solidFill>
                          <a:effectLst/>
                          <a:highlight>
                            <a:srgbClr val="92D050"/>
                          </a:highlight>
                          <a:latin typeface="Optima" panose="02000503060000020004"/>
                        </a:rPr>
                        <a:t>80 - 95</a:t>
                      </a:r>
                      <a:endParaRPr lang="en-IN" sz="1400" b="0" i="0" u="none" strike="noStrike">
                        <a:effectLst/>
                        <a:highlight>
                          <a:srgbClr val="92D050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kern="1200">
                          <a:solidFill>
                            <a:srgbClr val="FFFFFF"/>
                          </a:solidFill>
                          <a:effectLst/>
                          <a:highlight>
                            <a:srgbClr val="00B050"/>
                          </a:highlight>
                          <a:latin typeface="Optima" panose="02000503060000020004"/>
                        </a:rPr>
                        <a:t>&gt; 95</a:t>
                      </a:r>
                      <a:endParaRPr lang="en-IN" sz="1400" b="0" i="0" u="none" strike="noStrike">
                        <a:effectLst/>
                        <a:highlight>
                          <a:srgbClr val="00B050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8608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1A1928A-92F8-F2ED-2CCD-102354BFA3A5}"/>
              </a:ext>
            </a:extLst>
          </p:cNvPr>
          <p:cNvSpPr txBox="1"/>
          <p:nvPr/>
        </p:nvSpPr>
        <p:spPr>
          <a:xfrm>
            <a:off x="7322118" y="632021"/>
            <a:ext cx="487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+mn-cs"/>
              </a:rPr>
              <a:t>Low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10479B"/>
              </a:solidFill>
              <a:effectLst/>
              <a:uLnTx/>
              <a:uFillTx/>
              <a:latin typeface="Optim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12921-C459-F95E-B7A7-E7205761070E}"/>
              </a:ext>
            </a:extLst>
          </p:cNvPr>
          <p:cNvSpPr txBox="1"/>
          <p:nvPr/>
        </p:nvSpPr>
        <p:spPr>
          <a:xfrm>
            <a:off x="11663454" y="632020"/>
            <a:ext cx="528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+mn-cs"/>
              </a:rPr>
              <a:t>High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10479B"/>
              </a:solidFill>
              <a:effectLst/>
              <a:uLnTx/>
              <a:uFillTx/>
              <a:latin typeface="Optima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03064-BAC0-A3BC-E4D6-D16C8BBC9227}"/>
              </a:ext>
            </a:extLst>
          </p:cNvPr>
          <p:cNvSpPr txBox="1"/>
          <p:nvPr/>
        </p:nvSpPr>
        <p:spPr>
          <a:xfrm>
            <a:off x="9151171" y="396743"/>
            <a:ext cx="1662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+mn-cs"/>
              </a:rPr>
              <a:t>Process Maturity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10479B"/>
              </a:solidFill>
              <a:effectLst/>
              <a:uLnTx/>
              <a:uFillTx/>
              <a:latin typeface="Optima"/>
              <a:ea typeface="+mn-ea"/>
              <a:cs typeface="+mn-cs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290987F-00B6-BA5B-DB14-D89CF39249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2036265"/>
              </p:ext>
            </p:extLst>
          </p:nvPr>
        </p:nvGraphicFramePr>
        <p:xfrm>
          <a:off x="797861" y="3663196"/>
          <a:ext cx="1096965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76667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B608CF6-C5C6-4C37-A656-04AE9901295B}"/>
              </a:ext>
            </a:extLst>
          </p:cNvPr>
          <p:cNvSpPr txBox="1"/>
          <p:nvPr/>
        </p:nvSpPr>
        <p:spPr>
          <a:xfrm>
            <a:off x="11703324" y="6535420"/>
            <a:ext cx="44805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79FC5F6-1581-D948-A184-FDB0977145C6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10479B"/>
              </a:solidFill>
              <a:effectLst/>
              <a:uLnTx/>
              <a:uFillTx/>
              <a:latin typeface="Optima"/>
              <a:ea typeface="+mn-ea"/>
              <a:cs typeface="+mn-cs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FFF7428-2267-4724-A12F-02323AB73C83}"/>
              </a:ext>
            </a:extLst>
          </p:cNvPr>
          <p:cNvSpPr txBox="1"/>
          <p:nvPr/>
        </p:nvSpPr>
        <p:spPr bwMode="gray">
          <a:xfrm>
            <a:off x="4165447" y="6583353"/>
            <a:ext cx="3860800" cy="226715"/>
          </a:xfrm>
          <a:prstGeom prst="rect">
            <a:avLst/>
          </a:prstGeom>
        </p:spPr>
        <p:txBody>
          <a:bodyPr vert="horz" lIns="35998" tIns="45718" rIns="35998" bIns="45718" rtlCol="0">
            <a:noAutofit/>
          </a:bodyPr>
          <a:lstStyle>
            <a:lvl1pPr marL="233045" indent="-2330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954405" indent="-344805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438910" indent="-2203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2132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ZA" sz="1300" b="1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Arial" panose="020B0604020202020204" pitchFamily="34" charset="0"/>
              </a:rPr>
              <a:t>www.piloggroup.com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EFA34C1-E0AC-4B47-961B-F7639AFA84FA}"/>
              </a:ext>
            </a:extLst>
          </p:cNvPr>
          <p:cNvSpPr txBox="1"/>
          <p:nvPr/>
        </p:nvSpPr>
        <p:spPr bwMode="gray">
          <a:xfrm>
            <a:off x="-206186" y="6614391"/>
            <a:ext cx="1004047" cy="207181"/>
          </a:xfrm>
          <a:prstGeom prst="rect">
            <a:avLst/>
          </a:prstGeom>
        </p:spPr>
        <p:txBody>
          <a:bodyPr vert="horz" lIns="35998" tIns="45718" rIns="35998" bIns="45718" rtlCol="0">
            <a:noAutofit/>
          </a:bodyPr>
          <a:lstStyle>
            <a:lvl1pPr marL="233045" indent="-2330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954405" indent="-344805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438910" indent="-220345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2132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7425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900" kern="1200">
                <a:solidFill>
                  <a:srgbClr val="10479B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33521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3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965" indent="-304800" algn="l" defTabSz="6096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ZA" sz="13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tima"/>
                <a:ea typeface="+mn-ea"/>
                <a:cs typeface="Arial" panose="020B0604020202020204" pitchFamily="34" charset="0"/>
              </a:rPr>
              <a:t>© PiLog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ABF012-51C2-C8D8-01AA-DA731E6A00EE}"/>
              </a:ext>
            </a:extLst>
          </p:cNvPr>
          <p:cNvSpPr txBox="1"/>
          <p:nvPr/>
        </p:nvSpPr>
        <p:spPr>
          <a:xfrm>
            <a:off x="797861" y="88395"/>
            <a:ext cx="10291480" cy="69751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 charset="0"/>
                <a:ea typeface="+mj-ea"/>
                <a:cs typeface="Arial" panose="020B0604020202020204" pitchFamily="34" charset="0"/>
              </a:rPr>
              <a:t>Data Maturity Assessment of Master &amp; Meta Data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Optima" charset="0"/>
                <a:ea typeface="+mj-ea"/>
                <a:cs typeface="Arial" panose="020B0604020202020204" pitchFamily="34" charset="0"/>
              </a:rPr>
              <a:t> Sample Outcome Data Quality Scorecard 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Optima" charset="0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4DAAFE-CFEA-F447-0BD9-46866D758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014422"/>
              </p:ext>
            </p:extLst>
          </p:nvPr>
        </p:nvGraphicFramePr>
        <p:xfrm>
          <a:off x="932542" y="1044444"/>
          <a:ext cx="11049488" cy="2633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6022">
                  <a:extLst>
                    <a:ext uri="{9D8B030D-6E8A-4147-A177-3AD203B41FA5}">
                      <a16:colId xmlns:a16="http://schemas.microsoft.com/office/drawing/2014/main" val="1861951394"/>
                    </a:ext>
                  </a:extLst>
                </a:gridCol>
                <a:gridCol w="854439">
                  <a:extLst>
                    <a:ext uri="{9D8B030D-6E8A-4147-A177-3AD203B41FA5}">
                      <a16:colId xmlns:a16="http://schemas.microsoft.com/office/drawing/2014/main" val="3601826071"/>
                    </a:ext>
                  </a:extLst>
                </a:gridCol>
                <a:gridCol w="1823047">
                  <a:extLst>
                    <a:ext uri="{9D8B030D-6E8A-4147-A177-3AD203B41FA5}">
                      <a16:colId xmlns:a16="http://schemas.microsoft.com/office/drawing/2014/main" val="3277450208"/>
                    </a:ext>
                  </a:extLst>
                </a:gridCol>
                <a:gridCol w="1374140">
                  <a:extLst>
                    <a:ext uri="{9D8B030D-6E8A-4147-A177-3AD203B41FA5}">
                      <a16:colId xmlns:a16="http://schemas.microsoft.com/office/drawing/2014/main" val="1531440280"/>
                    </a:ext>
                  </a:extLst>
                </a:gridCol>
                <a:gridCol w="1435240">
                  <a:extLst>
                    <a:ext uri="{9D8B030D-6E8A-4147-A177-3AD203B41FA5}">
                      <a16:colId xmlns:a16="http://schemas.microsoft.com/office/drawing/2014/main" val="2767259232"/>
                    </a:ext>
                  </a:extLst>
                </a:gridCol>
                <a:gridCol w="1087865">
                  <a:extLst>
                    <a:ext uri="{9D8B030D-6E8A-4147-A177-3AD203B41FA5}">
                      <a16:colId xmlns:a16="http://schemas.microsoft.com/office/drawing/2014/main" val="854541624"/>
                    </a:ext>
                  </a:extLst>
                </a:gridCol>
                <a:gridCol w="1357026">
                  <a:extLst>
                    <a:ext uri="{9D8B030D-6E8A-4147-A177-3AD203B41FA5}">
                      <a16:colId xmlns:a16="http://schemas.microsoft.com/office/drawing/2014/main" val="497492420"/>
                    </a:ext>
                  </a:extLst>
                </a:gridCol>
                <a:gridCol w="889959">
                  <a:extLst>
                    <a:ext uri="{9D8B030D-6E8A-4147-A177-3AD203B41FA5}">
                      <a16:colId xmlns:a16="http://schemas.microsoft.com/office/drawing/2014/main" val="1661940511"/>
                    </a:ext>
                  </a:extLst>
                </a:gridCol>
                <a:gridCol w="971750">
                  <a:extLst>
                    <a:ext uri="{9D8B030D-6E8A-4147-A177-3AD203B41FA5}">
                      <a16:colId xmlns:a16="http://schemas.microsoft.com/office/drawing/2014/main" val="142171941"/>
                    </a:ext>
                  </a:extLst>
                </a:gridCol>
              </a:tblGrid>
              <a:tr h="439582"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Material 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Counts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Completeness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Consistency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Uniqueness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 dirty="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Timeliness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Validity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kern="1200">
                          <a:solidFill>
                            <a:schemeClr val="bg1"/>
                          </a:solidFill>
                          <a:latin typeface="Optima"/>
                          <a:ea typeface="+mn-ea"/>
                          <a:cs typeface="+mn-cs"/>
                        </a:rPr>
                        <a:t>Integrity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649257"/>
                  </a:ext>
                </a:extLst>
              </a:tr>
              <a:tr h="36566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1200" b="1" kern="1200" dirty="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ZCON 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IN" sz="1200" b="1" kern="1200" dirty="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1,64,849 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 dirty="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65 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069271"/>
                  </a:ext>
                </a:extLst>
              </a:tr>
              <a:tr h="36566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1200" b="1" kern="1200" dirty="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ZMAT 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IN" sz="1200" b="1" kern="1200" dirty="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13,665 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 dirty="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660669"/>
                  </a:ext>
                </a:extLst>
              </a:tr>
              <a:tr h="36566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1200" b="1" kern="1200" dirty="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SERV 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IN" sz="1200" b="1" kern="1200" dirty="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11,745 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 dirty="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87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88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902480"/>
                  </a:ext>
                </a:extLst>
              </a:tr>
              <a:tr h="36566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1200" b="1" kern="120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NLAG 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IN" sz="1200" b="1" kern="1200" dirty="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9,909 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 dirty="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83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75803"/>
                  </a:ext>
                </a:extLst>
              </a:tr>
              <a:tr h="36566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1200" b="1" kern="120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ERSA 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IN" sz="1200" b="1" kern="1200" dirty="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4,545 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 dirty="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76602"/>
                  </a:ext>
                </a:extLst>
              </a:tr>
              <a:tr h="365664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1200" b="1" kern="1200" dirty="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FERT 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IN" sz="1200" b="1" kern="1200" dirty="0">
                          <a:solidFill>
                            <a:srgbClr val="10479B"/>
                          </a:solidFill>
                          <a:latin typeface="Optima"/>
                          <a:ea typeface="+mn-ea"/>
                          <a:cs typeface="+mn-cs"/>
                        </a:rPr>
                        <a:t>3,002 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 dirty="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16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16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kern="1200" dirty="0">
                          <a:solidFill>
                            <a:srgbClr val="10119B"/>
                          </a:solidFill>
                          <a:latin typeface="Optim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16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59876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3AFCFA-2EBB-082A-DEEB-8643536CD5D3}"/>
              </a:ext>
            </a:extLst>
          </p:cNvPr>
          <p:cNvGraphicFramePr>
            <a:graphicFrameLocks noGrp="1"/>
          </p:cNvGraphicFramePr>
          <p:nvPr/>
        </p:nvGraphicFramePr>
        <p:xfrm>
          <a:off x="7781908" y="676625"/>
          <a:ext cx="389328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862">
                  <a:extLst>
                    <a:ext uri="{9D8B030D-6E8A-4147-A177-3AD203B41FA5}">
                      <a16:colId xmlns:a16="http://schemas.microsoft.com/office/drawing/2014/main" val="699480876"/>
                    </a:ext>
                  </a:extLst>
                </a:gridCol>
                <a:gridCol w="780493">
                  <a:extLst>
                    <a:ext uri="{9D8B030D-6E8A-4147-A177-3AD203B41FA5}">
                      <a16:colId xmlns:a16="http://schemas.microsoft.com/office/drawing/2014/main" val="753539633"/>
                    </a:ext>
                  </a:extLst>
                </a:gridCol>
                <a:gridCol w="817221">
                  <a:extLst>
                    <a:ext uri="{9D8B030D-6E8A-4147-A177-3AD203B41FA5}">
                      <a16:colId xmlns:a16="http://schemas.microsoft.com/office/drawing/2014/main" val="800840857"/>
                    </a:ext>
                  </a:extLst>
                </a:gridCol>
                <a:gridCol w="624394">
                  <a:extLst>
                    <a:ext uri="{9D8B030D-6E8A-4147-A177-3AD203B41FA5}">
                      <a16:colId xmlns:a16="http://schemas.microsoft.com/office/drawing/2014/main" val="907560508"/>
                    </a:ext>
                  </a:extLst>
                </a:gridCol>
                <a:gridCol w="771310">
                  <a:extLst>
                    <a:ext uri="{9D8B030D-6E8A-4147-A177-3AD203B41FA5}">
                      <a16:colId xmlns:a16="http://schemas.microsoft.com/office/drawing/2014/main" val="2459142"/>
                    </a:ext>
                  </a:extLst>
                </a:gridCol>
              </a:tblGrid>
              <a:tr h="243541"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kern="1200">
                          <a:solidFill>
                            <a:srgbClr val="FFFFFF"/>
                          </a:solidFill>
                          <a:effectLst/>
                          <a:highlight>
                            <a:srgbClr val="CB1618"/>
                          </a:highlight>
                          <a:latin typeface="Optima" panose="02000503060000020004"/>
                        </a:rPr>
                        <a:t>&lt; 25</a:t>
                      </a:r>
                      <a:endParaRPr lang="en-IN" sz="1400" b="0" i="0" u="none" strike="noStrike">
                        <a:effectLst/>
                        <a:highlight>
                          <a:srgbClr val="CB1618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161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kern="1200">
                          <a:solidFill>
                            <a:srgbClr val="FFFFFF"/>
                          </a:solidFill>
                          <a:effectLst/>
                          <a:highlight>
                            <a:srgbClr val="FC2110"/>
                          </a:highlight>
                          <a:latin typeface="Optima" panose="02000503060000020004"/>
                        </a:rPr>
                        <a:t>25 - 59</a:t>
                      </a:r>
                      <a:endParaRPr lang="en-IN" sz="1400" b="0" i="0" u="none" strike="noStrike">
                        <a:effectLst/>
                        <a:highlight>
                          <a:srgbClr val="FC2110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211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kern="1200">
                          <a:solidFill>
                            <a:srgbClr val="FFFFFF"/>
                          </a:solidFill>
                          <a:effectLst/>
                          <a:highlight>
                            <a:srgbClr val="FFC000"/>
                          </a:highlight>
                          <a:latin typeface="Optima" panose="02000503060000020004"/>
                        </a:rPr>
                        <a:t>60 - 79</a:t>
                      </a:r>
                      <a:endParaRPr lang="en-IN" sz="1400" b="0" i="0" u="none" strike="noStrike">
                        <a:effectLst/>
                        <a:highlight>
                          <a:srgbClr val="FFC000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kern="1200">
                          <a:solidFill>
                            <a:srgbClr val="FFFFFF"/>
                          </a:solidFill>
                          <a:effectLst/>
                          <a:highlight>
                            <a:srgbClr val="92D050"/>
                          </a:highlight>
                          <a:latin typeface="Optima" panose="02000503060000020004"/>
                        </a:rPr>
                        <a:t>80 - 95</a:t>
                      </a:r>
                      <a:endParaRPr lang="en-IN" sz="1400" b="0" i="0" u="none" strike="noStrike">
                        <a:effectLst/>
                        <a:highlight>
                          <a:srgbClr val="92D050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eaLnBrk="1" fontAlgn="auto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kern="1200">
                          <a:solidFill>
                            <a:srgbClr val="FFFFFF"/>
                          </a:solidFill>
                          <a:effectLst/>
                          <a:highlight>
                            <a:srgbClr val="00B050"/>
                          </a:highlight>
                          <a:latin typeface="Optima" panose="02000503060000020004"/>
                        </a:rPr>
                        <a:t>&gt; 95</a:t>
                      </a:r>
                      <a:endParaRPr lang="en-IN" sz="1400" b="0" i="0" u="none" strike="noStrike">
                        <a:effectLst/>
                        <a:highlight>
                          <a:srgbClr val="00B050"/>
                        </a:highlight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8608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1A1928A-92F8-F2ED-2CCD-102354BFA3A5}"/>
              </a:ext>
            </a:extLst>
          </p:cNvPr>
          <p:cNvSpPr txBox="1"/>
          <p:nvPr/>
        </p:nvSpPr>
        <p:spPr>
          <a:xfrm>
            <a:off x="7322118" y="632021"/>
            <a:ext cx="487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+mn-cs"/>
              </a:rPr>
              <a:t>Low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10479B"/>
              </a:solidFill>
              <a:effectLst/>
              <a:uLnTx/>
              <a:uFillTx/>
              <a:latin typeface="Optim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12921-C459-F95E-B7A7-E7205761070E}"/>
              </a:ext>
            </a:extLst>
          </p:cNvPr>
          <p:cNvSpPr txBox="1"/>
          <p:nvPr/>
        </p:nvSpPr>
        <p:spPr>
          <a:xfrm>
            <a:off x="11663454" y="632020"/>
            <a:ext cx="528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+mn-cs"/>
              </a:rPr>
              <a:t>High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10479B"/>
              </a:solidFill>
              <a:effectLst/>
              <a:uLnTx/>
              <a:uFillTx/>
              <a:latin typeface="Optima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03064-BAC0-A3BC-E4D6-D16C8BBC9227}"/>
              </a:ext>
            </a:extLst>
          </p:cNvPr>
          <p:cNvSpPr txBox="1"/>
          <p:nvPr/>
        </p:nvSpPr>
        <p:spPr>
          <a:xfrm>
            <a:off x="9151171" y="396743"/>
            <a:ext cx="1662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10479B"/>
                </a:solidFill>
                <a:effectLst/>
                <a:uLnTx/>
                <a:uFillTx/>
                <a:latin typeface="Optima"/>
                <a:ea typeface="+mn-ea"/>
                <a:cs typeface="+mn-cs"/>
              </a:rPr>
              <a:t>Process Maturity </a:t>
            </a:r>
            <a:endParaRPr kumimoji="0" lang="en-IN" sz="1100" b="0" i="0" u="none" strike="noStrike" kern="1200" cap="none" spc="0" normalizeH="0" baseline="0" noProof="0">
              <a:ln>
                <a:noFill/>
              </a:ln>
              <a:solidFill>
                <a:srgbClr val="10479B"/>
              </a:solidFill>
              <a:effectLst/>
              <a:uLnTx/>
              <a:uFillTx/>
              <a:latin typeface="Optima"/>
              <a:ea typeface="+mn-ea"/>
              <a:cs typeface="+mn-cs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A290987F-00B6-BA5B-DB14-D89CF39249FF}"/>
              </a:ext>
            </a:extLst>
          </p:cNvPr>
          <p:cNvGraphicFramePr>
            <a:graphicFrameLocks/>
          </p:cNvGraphicFramePr>
          <p:nvPr/>
        </p:nvGraphicFramePr>
        <p:xfrm>
          <a:off x="1012370" y="3667207"/>
          <a:ext cx="1096965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30208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270</Words>
  <Application>Microsoft Office PowerPoint</Application>
  <PresentationFormat>Widescreen</PresentationFormat>
  <Paragraphs>185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Optima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Nazima Yasmeen</dc:creator>
  <cp:lastModifiedBy>Sasi Krishna</cp:lastModifiedBy>
  <cp:revision>2</cp:revision>
  <dcterms:created xsi:type="dcterms:W3CDTF">2024-07-03T06:29:39Z</dcterms:created>
  <dcterms:modified xsi:type="dcterms:W3CDTF">2025-10-31T12:12:28Z</dcterms:modified>
</cp:coreProperties>
</file>