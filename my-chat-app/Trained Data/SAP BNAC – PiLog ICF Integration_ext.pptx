
<file path=[Content_Types].xml><?xml version="1.0" encoding="utf-8"?>
<Types xmlns="http://schemas.openxmlformats.org/package/2006/content-types">
  <Default Extension="bin" ContentType="image/png"/>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3" r:id="rId14"/>
  </p:sldMasterIdLst>
  <p:notesMasterIdLst>
    <p:notesMasterId r:id="rId30"/>
  </p:notesMasterIdLst>
  <p:handoutMasterIdLst>
    <p:handoutMasterId r:id="rId31"/>
  </p:handoutMasterIdLst>
  <p:sldIdLst>
    <p:sldId id="370" r:id="rId15"/>
    <p:sldId id="374" r:id="rId16"/>
    <p:sldId id="371" r:id="rId17"/>
    <p:sldId id="367" r:id="rId18"/>
    <p:sldId id="369" r:id="rId19"/>
    <p:sldId id="379" r:id="rId20"/>
    <p:sldId id="375" r:id="rId21"/>
    <p:sldId id="376" r:id="rId22"/>
    <p:sldId id="377" r:id="rId23"/>
    <p:sldId id="378" r:id="rId24"/>
    <p:sldId id="372" r:id="rId25"/>
    <p:sldId id="364" r:id="rId26"/>
    <p:sldId id="365" r:id="rId27"/>
    <p:sldId id="366" r:id="rId28"/>
    <p:sldId id="368" r:id="rId29"/>
  </p:sldIdLst>
  <p:sldSz cx="12195175" cy="6858000"/>
  <p:notesSz cx="6858000" cy="9144000"/>
  <p:embeddedFontLst>
    <p:embeddedFont>
      <p:font typeface="72 Brand" panose="020B0504030603020204" pitchFamily="34" charset="0"/>
      <p:regular r:id="rId32"/>
      <p:bold r:id="rId33"/>
      <p:italic r:id="rId34"/>
      <p:boldItalic r:id="rId35"/>
    </p:embeddedFont>
    <p:embeddedFont>
      <p:font typeface="72 Brand Medium" panose="020B0604030603020204" pitchFamily="34" charset="0"/>
      <p:regular r:id="rId36"/>
      <p:italic r:id="rId37"/>
    </p:embeddedFont>
    <p:embeddedFont>
      <p:font typeface="Roboto" panose="02000000000000000000" pitchFamily="2" charset="0"/>
      <p:regular r:id="rId38"/>
      <p:bold r:id="rId39"/>
      <p:italic r:id="rId40"/>
      <p:boldItalic r:id="rId41"/>
    </p:embeddedFont>
  </p:embeddedFontLst>
  <p:custDataLst>
    <p:tags r:id="rId42"/>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3317"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93" autoAdjust="0"/>
    <p:restoredTop sz="94484" autoAdjust="0"/>
  </p:normalViewPr>
  <p:slideViewPr>
    <p:cSldViewPr snapToGrid="0" showGuides="1">
      <p:cViewPr varScale="1">
        <p:scale>
          <a:sx n="105" d="100"/>
          <a:sy n="105" d="100"/>
        </p:scale>
        <p:origin x="1040" y="496"/>
      </p:cViewPr>
      <p:guideLst>
        <p:guide pos="3841"/>
        <p:guide orient="horz" pos="331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92" d="100"/>
          <a:sy n="92" d="100"/>
        </p:scale>
        <p:origin x="4008" y="168"/>
      </p:cViewPr>
      <p:guideLst>
        <p:guide orient="horz" pos="2880"/>
        <p:guide pos="2160"/>
      </p:guideLst>
    </p:cSldViewPr>
  </p:notesViewPr>
  <p:gridSpacing cx="936117" cy="936117"/>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font" Target="fonts/font8.fntdata"/><Relationship Id="rId21" Type="http://schemas.openxmlformats.org/officeDocument/2006/relationships/slide" Target="slides/slide7.xml"/><Relationship Id="rId34" Type="http://schemas.openxmlformats.org/officeDocument/2006/relationships/font" Target="fonts/font3.fntdata"/><Relationship Id="rId42" Type="http://schemas.openxmlformats.org/officeDocument/2006/relationships/tags" Target="tags/tag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2.xml"/><Relationship Id="rId29"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1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font" Target="fonts/font5.fntdata"/><Relationship Id="rId10" Type="http://schemas.openxmlformats.org/officeDocument/2006/relationships/customXml" Target="../customXml/item10.xml"/><Relationship Id="rId19" Type="http://schemas.openxmlformats.org/officeDocument/2006/relationships/slide" Target="slides/slide5.xml"/><Relationship Id="rId31" Type="http://schemas.openxmlformats.org/officeDocument/2006/relationships/handoutMaster" Target="handoutMasters/handoutMaster1.xml"/><Relationship Id="rId4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presProps" Target="presProps.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0" Type="http://schemas.openxmlformats.org/officeDocument/2006/relationships/slide" Target="slides/slide6.xml"/><Relationship Id="rId41"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latin typeface="Arial" panose="020B0604020202020204" pitchFamily="34" charset="0"/>
              </a:rPr>
              <a:pPr algn="ctr"/>
              <a:t>‹#›</a:t>
            </a:fld>
            <a:endParaRPr lang="de-DE" sz="1000" dirty="0">
              <a:latin typeface="Arial" panose="020B0604020202020204" pitchFamily="34" charset="0"/>
            </a:endParaRPr>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b="0" i="0">
                <a:latin typeface="Arial" panose="020B0604020202020204" pitchFamily="34" charset="0"/>
              </a:defRPr>
            </a:lvl1pPr>
          </a:lstStyle>
          <a:p>
            <a:fld id="{7D8C2C35-2B8A-446E-BEC0-FD36716C29AC}" type="slidenum">
              <a:rPr lang="en-DE" smtClean="0"/>
              <a:pPr/>
              <a:t>‹#›</a:t>
            </a:fld>
            <a:endParaRPr lang="en-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b="0" i="0" kern="1200">
        <a:solidFill>
          <a:schemeClr val="tx1"/>
        </a:solidFill>
        <a:latin typeface="Arial" panose="020B0604020202020204" pitchFamily="34" charset="0"/>
        <a:ea typeface="+mn-ea"/>
        <a:cs typeface="+mn-cs"/>
      </a:defRPr>
    </a:lvl1pPr>
    <a:lvl2pPr marL="180000" indent="-180000" algn="l" defTabSz="1088776" rtl="0" eaLnBrk="1" latinLnBrk="0" hangingPunct="1">
      <a:buClr>
        <a:schemeClr val="accent1"/>
      </a:buClr>
      <a:buSzPct val="100000"/>
      <a:buFont typeface="Wingdings" pitchFamily="2" charset="2"/>
      <a:buChar char=""/>
      <a:defRPr sz="1400" b="0" i="0" kern="1200">
        <a:solidFill>
          <a:schemeClr val="tx1"/>
        </a:solidFill>
        <a:latin typeface="Arial" panose="020B0604020202020204" pitchFamily="34" charset="0"/>
        <a:ea typeface="+mn-ea"/>
        <a:cs typeface="+mn-cs"/>
      </a:defRPr>
    </a:lvl2pPr>
    <a:lvl3pPr marL="360000" indent="-180000" algn="l" defTabSz="1088776" rtl="0" eaLnBrk="1" latinLnBrk="0" hangingPunct="1">
      <a:buClr>
        <a:schemeClr val="accent2"/>
      </a:buClr>
      <a:buSzPct val="80000"/>
      <a:buFont typeface="Symbol" pitchFamily="18" charset="2"/>
      <a:buChar char="-"/>
      <a:defRPr sz="1200" b="0" i="0" kern="1200">
        <a:solidFill>
          <a:schemeClr val="tx1"/>
        </a:solidFill>
        <a:latin typeface="Arial" panose="020B0604020202020204" pitchFamily="34" charset="0"/>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bin"/><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White cover with blue pattern">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369E6551-269A-D225-4CF8-EC6D532E4902}"/>
              </a:ext>
            </a:extLst>
          </p:cNvPr>
          <p:cNvSpPr/>
          <p:nvPr userDrawn="1"/>
        </p:nvSpPr>
        <p:spPr bwMode="gray">
          <a:xfrm>
            <a:off x="0"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4" name="Title"/>
          <p:cNvSpPr>
            <a:spLocks noGrp="1"/>
          </p:cNvSpPr>
          <p:nvPr>
            <p:ph type="title" hasCustomPrompt="1"/>
          </p:nvPr>
        </p:nvSpPr>
        <p:spPr>
          <a:xfrm>
            <a:off x="288000" y="2706317"/>
            <a:ext cx="5441288" cy="997196"/>
          </a:xfrm>
        </p:spPr>
        <p:txBody>
          <a:bodyPr anchor="b" anchorCtr="0">
            <a:noAutofit/>
          </a:bodyPr>
          <a:lstStyle>
            <a:lvl1pPr>
              <a:lnSpc>
                <a:spcPct val="90000"/>
              </a:lnSpc>
              <a:defRPr sz="3600" b="0" i="0">
                <a:latin typeface="+mj-lt"/>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6075363" y="0"/>
            <a:ext cx="6119812" cy="6858000"/>
          </a:xfrm>
        </p:spPr>
        <p:txBody>
          <a:bodyPr anchor="ctr" anchorCtr="0"/>
          <a:lstStyle>
            <a:lvl1pPr algn="ctr">
              <a:defRPr/>
            </a:lvl1pPr>
          </a:lstStyle>
          <a:p>
            <a:r>
              <a:rPr lang="en-US"/>
              <a:t>Click to insert picture</a:t>
            </a:r>
          </a:p>
        </p:txBody>
      </p:sp>
      <p:sp>
        <p:nvSpPr>
          <p:cNvPr id="5" name="LogoBlue-Dynamic" descr="{&quot;templafy&quot;:{&quot;id&quot;:&quot;3d54de16-7ff7-43cf-899c-d5422f27d665&quot;}}">
            <a:extLst>
              <a:ext uri="{FF2B5EF4-FFF2-40B4-BE49-F238E27FC236}">
                <a16:creationId xmlns:a16="http://schemas.microsoft.com/office/drawing/2014/main" id="{FF7B8CD0-1BFA-08E1-444C-DB5F568BB12F}"/>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6" name="Classification-Dynamic" descr="{&quot;templafy&quot;:{&quot;id&quot;:&quot;8e786751-e0dd-43bd-8e2f-2e14a6417cf4&quot;}}">
            <a:extLst>
              <a:ext uri="{FF2B5EF4-FFF2-40B4-BE49-F238E27FC236}">
                <a16:creationId xmlns:a16="http://schemas.microsoft.com/office/drawing/2014/main" id="{870EB466-B92B-9D4D-974E-A49C0F424152}"/>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2470047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704">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cover, anvil and image">
    <p:bg>
      <p:bgRef idx="1001">
        <a:schemeClr val="bg1"/>
      </p:bgRef>
    </p:bg>
    <p:spTree>
      <p:nvGrpSpPr>
        <p:cNvPr id="1" name=""/>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9DE307C8-D1C3-00E2-C5B0-2A7EBB981384}"/>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0" y="0"/>
            <a:ext cx="12195175" cy="6861496"/>
          </a:xfrm>
          <a:prstGeom prst="rect">
            <a:avLst/>
          </a:prstGeom>
        </p:spPr>
      </p:pic>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752355" y="1156532"/>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6062" y="0"/>
            <a:ext cx="4359114"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338" y="2206502"/>
            <a:ext cx="5567804" cy="997196"/>
          </a:xfrm>
        </p:spPr>
        <p:txBody>
          <a:bodyPr anchor="b" anchorCtr="0">
            <a:noAutofit/>
          </a:bodyPr>
          <a:lstStyle>
            <a:lvl1pPr>
              <a:lnSpc>
                <a:spcPct val="90000"/>
              </a:lnSpc>
              <a:defRPr sz="3600" b="0" i="0">
                <a:solidFill>
                  <a:schemeClr val="bg1"/>
                </a:solidFill>
                <a:latin typeface="+mj-lt"/>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2" name="LogoWhite-Dynamic" descr="{&quot;templafy&quot;:{&quot;id&quot;:&quot;11bb3951-a028-45cd-b69d-bc5f7c40b564&quot;}}">
            <a:extLst>
              <a:ext uri="{FF2B5EF4-FFF2-40B4-BE49-F238E27FC236}">
                <a16:creationId xmlns:a16="http://schemas.microsoft.com/office/drawing/2014/main" id="{032494F6-48CD-A02A-329B-1D3AE74E0E9C}"/>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6bcf7b52-6bee-4840-a22f-aadf1006735d&quot;}}">
            <a:extLst>
              <a:ext uri="{FF2B5EF4-FFF2-40B4-BE49-F238E27FC236}">
                <a16:creationId xmlns:a16="http://schemas.microsoft.com/office/drawing/2014/main" id="{A6D6797F-FF5B-BE1A-D940-2289CF2968F7}"/>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6860786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389">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nk cover with anvil">
    <p:bg>
      <p:bgPr>
        <a:solidFill>
          <a:srgbClr val="28004A"/>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37E79459-E5C5-5E87-E38B-80855D38E462}"/>
              </a:ext>
            </a:extLst>
          </p:cNvPr>
          <p:cNvSpPr/>
          <p:nvPr userDrawn="1"/>
        </p:nvSpPr>
        <p:spPr bwMode="gray">
          <a:xfrm>
            <a:off x="-1" y="0"/>
            <a:ext cx="12195175" cy="6858000"/>
          </a:xfrm>
          <a:prstGeom prst="rect">
            <a:avLst/>
          </a:prstGeom>
          <a:solidFill>
            <a:srgbClr val="28004A"/>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pic>
        <p:nvPicPr>
          <p:cNvPr id="2" name="Picture 1">
            <a:extLst>
              <a:ext uri="{FF2B5EF4-FFF2-40B4-BE49-F238E27FC236}">
                <a16:creationId xmlns:a16="http://schemas.microsoft.com/office/drawing/2014/main" id="{1846E736-979F-0D4B-6D59-D0EA5D367E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99111" y="1216759"/>
            <a:ext cx="8887864" cy="4424483"/>
          </a:xfrm>
          <a:prstGeom prst="rect">
            <a:avLst/>
          </a:prstGeom>
        </p:spPr>
      </p:pic>
      <p:sp>
        <p:nvSpPr>
          <p:cNvPr id="4" name="Title"/>
          <p:cNvSpPr>
            <a:spLocks noGrp="1"/>
          </p:cNvSpPr>
          <p:nvPr>
            <p:ph type="title" hasCustomPrompt="1"/>
          </p:nvPr>
        </p:nvSpPr>
        <p:spPr>
          <a:xfrm>
            <a:off x="288000" y="2706317"/>
            <a:ext cx="10900800" cy="997196"/>
          </a:xfrm>
        </p:spPr>
        <p:txBody>
          <a:bodyPr>
            <a:noAutofit/>
          </a:bodyPr>
          <a:lstStyle>
            <a:lvl1pPr>
              <a:lnSpc>
                <a:spcPct val="90000"/>
              </a:lnSpc>
              <a:defRPr sz="3600"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5" name="LogoWhite-Dynamic" descr="{&quot;templafy&quot;:{&quot;id&quot;:&quot;93f40684-a815-4ee9-b5ee-ceacff6ae990&quot;}}">
            <a:extLst>
              <a:ext uri="{FF2B5EF4-FFF2-40B4-BE49-F238E27FC236}">
                <a16:creationId xmlns:a16="http://schemas.microsoft.com/office/drawing/2014/main" id="{1B320325-E461-1EF2-0F59-CB86E0E6F9E5}"/>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7" name="Classification-Dynamic" descr="{&quot;templafy&quot;:{&quot;id&quot;:&quot;d649dcb7-663d-4c9a-9248-f74425ce0482&quot;}}">
            <a:extLst>
              <a:ext uri="{FF2B5EF4-FFF2-40B4-BE49-F238E27FC236}">
                <a16:creationId xmlns:a16="http://schemas.microsoft.com/office/drawing/2014/main" id="{1D05DC80-84C9-9ECA-3B84-3577D8D8165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785670917"/>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Mango cover with anvil and image">
    <p:bg>
      <p:bgPr>
        <a:solidFill>
          <a:schemeClr val="bg1"/>
        </a:solidFill>
        <a:effectLst/>
      </p:bgPr>
    </p:bg>
    <p:spTree>
      <p:nvGrpSpPr>
        <p:cNvPr id="1" name=""/>
        <p:cNvGrpSpPr/>
        <p:nvPr/>
      </p:nvGrpSpPr>
      <p:grpSpPr>
        <a:xfrm>
          <a:off x="0" y="0"/>
          <a:ext cx="0" cy="0"/>
          <a:chOff x="0" y="0"/>
          <a:chExt cx="0" cy="0"/>
        </a:xfrm>
      </p:grpSpPr>
      <p:sp>
        <p:nvSpPr>
          <p:cNvPr id="149" name="Rectangle 148">
            <a:extLst>
              <a:ext uri="{FF2B5EF4-FFF2-40B4-BE49-F238E27FC236}">
                <a16:creationId xmlns:a16="http://schemas.microsoft.com/office/drawing/2014/main" id="{3F9D113E-DB39-0CF2-578D-9B5D35C92F55}"/>
              </a:ext>
            </a:extLst>
          </p:cNvPr>
          <p:cNvSpPr/>
          <p:nvPr userDrawn="1"/>
        </p:nvSpPr>
        <p:spPr bwMode="gray">
          <a:xfrm>
            <a:off x="7102258" y="0"/>
            <a:ext cx="5092917" cy="6858000"/>
          </a:xfrm>
          <a:prstGeom prst="rect">
            <a:avLst/>
          </a:prstGeom>
          <a:solidFill>
            <a:srgbClr val="FFC932"/>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pic>
        <p:nvPicPr>
          <p:cNvPr id="6" name="Graphic 5">
            <a:extLst>
              <a:ext uri="{FF2B5EF4-FFF2-40B4-BE49-F238E27FC236}">
                <a16:creationId xmlns:a16="http://schemas.microsoft.com/office/drawing/2014/main" id="{F9CF98F2-AE93-6F6D-B5F5-C2F74E0787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67600" y="250521"/>
            <a:ext cx="4538091" cy="6328079"/>
          </a:xfrm>
          <a:prstGeom prst="rect">
            <a:avLst/>
          </a:prstGeom>
        </p:spPr>
      </p:pic>
      <p:sp>
        <p:nvSpPr>
          <p:cNvPr id="2" name="Rectangle 1">
            <a:extLst>
              <a:ext uri="{FF2B5EF4-FFF2-40B4-BE49-F238E27FC236}">
                <a16:creationId xmlns:a16="http://schemas.microsoft.com/office/drawing/2014/main" id="{FDD06AF2-2141-CEFD-4797-A6E50CC267FE}"/>
              </a:ext>
            </a:extLst>
          </p:cNvPr>
          <p:cNvSpPr/>
          <p:nvPr userDrawn="1"/>
        </p:nvSpPr>
        <p:spPr bwMode="gray">
          <a:xfrm>
            <a:off x="1" y="0"/>
            <a:ext cx="7226300" cy="6858000"/>
          </a:xfrm>
          <a:prstGeom prst="rect">
            <a:avLst/>
          </a:prstGeom>
          <a:solidFill>
            <a:schemeClr val="accent1"/>
          </a:solidFill>
          <a:ln w="1342"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LogoWhite-Dynamic" descr="{&quot;templafy&quot;:{&quot;id&quot;:&quot;7016da2c-7bb7-4ae1-8330-dc51d6c9b1ca&quot;}}">
            <a:extLst>
              <a:ext uri="{FF2B5EF4-FFF2-40B4-BE49-F238E27FC236}">
                <a16:creationId xmlns:a16="http://schemas.microsoft.com/office/drawing/2014/main" id="{0B97AABB-AB35-5D1E-370F-103F22E1157F}"/>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8" name="Classification-Dynamic" descr="{&quot;templafy&quot;:{&quot;id&quot;:&quot;045b5674-992c-40c9-972e-a0a86bed7b08&quot;}}">
            <a:extLst>
              <a:ext uri="{FF2B5EF4-FFF2-40B4-BE49-F238E27FC236}">
                <a16:creationId xmlns:a16="http://schemas.microsoft.com/office/drawing/2014/main" id="{F1333C1B-AD40-D53A-5A1E-EFB8C6390D4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pic>
        <p:nvPicPr>
          <p:cNvPr id="5" name="Picture 4">
            <a:extLst>
              <a:ext uri="{FF2B5EF4-FFF2-40B4-BE49-F238E27FC236}">
                <a16:creationId xmlns:a16="http://schemas.microsoft.com/office/drawing/2014/main" id="{F75B4DB5-6F82-52F7-7AD9-80874B011E33}"/>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flipH="1">
            <a:off x="4664821" y="1129553"/>
            <a:ext cx="6886462" cy="5728447"/>
          </a:xfrm>
          <a:prstGeom prst="rect">
            <a:avLst/>
          </a:prstGeom>
        </p:spPr>
      </p:pic>
      <p:sp>
        <p:nvSpPr>
          <p:cNvPr id="4" name="Title"/>
          <p:cNvSpPr>
            <a:spLocks noGrp="1"/>
          </p:cNvSpPr>
          <p:nvPr>
            <p:ph type="title" hasCustomPrompt="1"/>
          </p:nvPr>
        </p:nvSpPr>
        <p:spPr>
          <a:xfrm>
            <a:off x="288000" y="2706317"/>
            <a:ext cx="6633305"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Tree>
    <p:extLst>
      <p:ext uri="{BB962C8B-B14F-4D97-AF65-F5344CB8AC3E}">
        <p14:creationId xmlns:p14="http://schemas.microsoft.com/office/powerpoint/2010/main" val="2888454871"/>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Green cover with image in anvil shape">
    <p:bg>
      <p:bgPr>
        <a:solidFill>
          <a:srgbClr val="97DD40"/>
        </a:solidFill>
        <a:effectLst/>
      </p:bgPr>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CF15634C-E3A9-CDE6-5F8E-35B41DFE2B5D}"/>
              </a:ext>
            </a:extLst>
          </p:cNvPr>
          <p:cNvSpPr/>
          <p:nvPr userDrawn="1"/>
        </p:nvSpPr>
        <p:spPr bwMode="gray">
          <a:xfrm>
            <a:off x="0" y="0"/>
            <a:ext cx="12195175" cy="6858000"/>
          </a:xfrm>
          <a:prstGeom prst="rect">
            <a:avLst/>
          </a:prstGeom>
          <a:solidFill>
            <a:srgbClr val="97DD40"/>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288001" y="2706317"/>
            <a:ext cx="5529704" cy="997196"/>
          </a:xfrm>
        </p:spPr>
        <p:txBody>
          <a:bodyPr anchor="b" anchorCtr="0">
            <a:noAutofit/>
          </a:bodyPr>
          <a:lstStyle>
            <a:lvl1pPr>
              <a:lnSpc>
                <a:spcPct val="9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6069496" y="2029240"/>
            <a:ext cx="5711687"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p:spPr>
        <p:txBody>
          <a:bodyPr anchor="ctr" anchorCtr="0"/>
          <a:lstStyle>
            <a:lvl1pPr algn="l">
              <a:defRPr>
                <a:solidFill>
                  <a:schemeClr val="tx1"/>
                </a:solidFill>
              </a:defRPr>
            </a:lvl1pPr>
          </a:lstStyle>
          <a:p>
            <a:r>
              <a:rPr lang="en-US"/>
              <a:t>         Click to add image</a:t>
            </a:r>
          </a:p>
        </p:txBody>
      </p:sp>
      <p:sp>
        <p:nvSpPr>
          <p:cNvPr id="4" name="Classification-Dynamic" descr="{&quot;templafy&quot;:{&quot;id&quot;:&quot;2bb77844-bfee-4fbe-957c-8518e337ad47&quot;}}">
            <a:extLst>
              <a:ext uri="{FF2B5EF4-FFF2-40B4-BE49-F238E27FC236}">
                <a16:creationId xmlns:a16="http://schemas.microsoft.com/office/drawing/2014/main" id="{13EDB9F6-FBDA-8ED8-A84B-244CC53CFF99}"/>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
        <p:nvSpPr>
          <p:cNvPr id="3" name="LogoBlack-Dynamic" descr="{&quot;templafy&quot;:{&quot;id&quot;:&quot;5376e3ef-0104-4c7b-8634-86861b034f7b&quot;}}">
            <a:extLst>
              <a:ext uri="{FF2B5EF4-FFF2-40B4-BE49-F238E27FC236}">
                <a16:creationId xmlns:a16="http://schemas.microsoft.com/office/drawing/2014/main" id="{9890E76A-908A-C687-D029-53FB8DB3A88D}"/>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481573481"/>
      </p:ext>
    </p:extLst>
  </p:cSld>
  <p:clrMapOvr>
    <a:masterClrMapping/>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guide id="7" orient="horz" pos="41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with Image or Illustration">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6B4F408-95BC-730E-4114-45641ED46491}"/>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Title"/>
          <p:cNvSpPr>
            <a:spLocks noGrp="1"/>
          </p:cNvSpPr>
          <p:nvPr>
            <p:ph type="title" hasCustomPrompt="1"/>
          </p:nvPr>
        </p:nvSpPr>
        <p:spPr>
          <a:xfrm>
            <a:off x="288000" y="4024430"/>
            <a:ext cx="10899174"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US" dirty="0"/>
              <a:t>Title Goes Here</a:t>
            </a:r>
            <a:br>
              <a:rPr lang="en-US" dirty="0"/>
            </a:br>
            <a:r>
              <a:rPr lang="en-US" dirty="0"/>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sp>
        <p:nvSpPr>
          <p:cNvPr id="6" name="LogoBlue-Dynamic" descr="{&quot;templafy&quot;:{&quot;id&quot;:&quot;657a9469-9adf-4104-b5c1-af32619fd809&quot;}}">
            <a:extLst>
              <a:ext uri="{FF2B5EF4-FFF2-40B4-BE49-F238E27FC236}">
                <a16:creationId xmlns:a16="http://schemas.microsoft.com/office/drawing/2014/main" id="{910E499D-8DEA-41A7-80A4-13BE1C7038A4}"/>
              </a:ext>
            </a:extLst>
          </p:cNvPr>
          <p:cNvSpPr>
            <a:spLocks/>
          </p:cNvSpPr>
          <p:nvPr userDrawn="1"/>
        </p:nvSpPr>
        <p:spPr bwMode="gray">
          <a:xfrm>
            <a:off x="288006" y="62186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9" name="Classification-Dynamic" descr="{&quot;templafy&quot;:{&quot;id&quot;:&quot;b0f02a1d-f7b5-4a58-b1c4-47d2f83be00a&quot;}}">
            <a:extLst>
              <a:ext uri="{FF2B5EF4-FFF2-40B4-BE49-F238E27FC236}">
                <a16:creationId xmlns:a16="http://schemas.microsoft.com/office/drawing/2014/main" id="{CE0C2033-6FDF-7DD6-E25C-C03296FDAD00}"/>
              </a:ext>
            </a:extLst>
          </p:cNvPr>
          <p:cNvSpPr txBox="1"/>
          <p:nvPr userDrawn="1"/>
        </p:nvSpPr>
        <p:spPr>
          <a:xfrm>
            <a:off x="282575" y="5724000"/>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9300526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7505">
          <p15:clr>
            <a:srgbClr val="FBAE40"/>
          </p15:clr>
        </p15:guide>
        <p15:guide id="2" orient="horz" pos="4144">
          <p15:clr>
            <a:srgbClr val="FBAE40"/>
          </p15:clr>
        </p15:guide>
        <p15:guide id="3" orient="horz" pos="2162">
          <p15:clr>
            <a:srgbClr val="FBAE40"/>
          </p15:clr>
        </p15:guide>
        <p15:guide id="4" pos="181">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cover with green anvil">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615A14AB-7A75-B899-CDA1-E311E201A837}"/>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3" name="Anvil" descr="preencoded.png">
            <a:extLst>
              <a:ext uri="{FF2B5EF4-FFF2-40B4-BE49-F238E27FC236}">
                <a16:creationId xmlns:a16="http://schemas.microsoft.com/office/drawing/2014/main" id="{CAD3135A-95A0-606F-5A25-35CF890B232D}"/>
              </a:ext>
            </a:extLst>
          </p:cNvPr>
          <p:cNvSpPr/>
          <p:nvPr/>
        </p:nvSpPr>
        <p:spPr>
          <a:xfrm>
            <a:off x="5072441" y="1275473"/>
            <a:ext cx="6069341" cy="2991727"/>
          </a:xfrm>
          <a:custGeom>
            <a:avLst/>
            <a:gdLst>
              <a:gd name="connsiteX0" fmla="*/ 0 w 6069341"/>
              <a:gd name="connsiteY0" fmla="*/ 0 h 2991727"/>
              <a:gd name="connsiteX1" fmla="*/ 0 w 6069341"/>
              <a:gd name="connsiteY1" fmla="*/ 2991727 h 2991727"/>
              <a:gd name="connsiteX2" fmla="*/ 3084421 w 6069341"/>
              <a:gd name="connsiteY2" fmla="*/ 2991727 h 2991727"/>
              <a:gd name="connsiteX3" fmla="*/ 6069341 w 6069341"/>
              <a:gd name="connsiteY3" fmla="*/ 0 h 2991727"/>
              <a:gd name="connsiteX4" fmla="*/ 0 w 6069341"/>
              <a:gd name="connsiteY4" fmla="*/ 0 h 29917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41" h="2991727">
                <a:moveTo>
                  <a:pt x="0" y="0"/>
                </a:moveTo>
                <a:lnTo>
                  <a:pt x="0" y="2991727"/>
                </a:lnTo>
                <a:lnTo>
                  <a:pt x="3084421" y="2991727"/>
                </a:lnTo>
                <a:lnTo>
                  <a:pt x="6069341" y="0"/>
                </a:lnTo>
                <a:lnTo>
                  <a:pt x="0" y="0"/>
                </a:lnTo>
                <a:close/>
              </a:path>
            </a:pathLst>
          </a:custGeom>
          <a:solidFill>
            <a:srgbClr val="97DD40"/>
          </a:solidFill>
          <a:ln w="7155" cap="flat">
            <a:noFill/>
            <a:prstDash val="solid"/>
            <a:miter/>
          </a:ln>
        </p:spPr>
        <p:txBody>
          <a:bodyPr rtlCol="0" anchor="ctr"/>
          <a:lstStyle/>
          <a:p>
            <a:endParaRPr lang="en-US" b="0" i="0" dirty="0">
              <a:latin typeface="72 Brand" panose="020B0504030603020204" pitchFamily="34" charset="0"/>
            </a:endParaRPr>
          </a:p>
        </p:txBody>
      </p:sp>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8000" y="2706317"/>
            <a:ext cx="6026739"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5" name="LogoBlue-Dynamic" descr="{&quot;templafy&quot;:{&quot;id&quot;:&quot;57f987fd-648c-497d-91d3-c6b107e0881d&quot;}}">
            <a:extLst>
              <a:ext uri="{FF2B5EF4-FFF2-40B4-BE49-F238E27FC236}">
                <a16:creationId xmlns:a16="http://schemas.microsoft.com/office/drawing/2014/main" id="{65992DD7-F456-F593-DE55-17D43CC1A2C0}"/>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11" name="Classification-Dynamic" descr="{&quot;templafy&quot;:{&quot;id&quot;:&quot;f3c4adad-6eb3-43dd-933e-84461a8ead49&quot;}}">
            <a:extLst>
              <a:ext uri="{FF2B5EF4-FFF2-40B4-BE49-F238E27FC236}">
                <a16:creationId xmlns:a16="http://schemas.microsoft.com/office/drawing/2014/main" id="{62D91ACB-BD14-46CB-4B61-F4B072D877C0}"/>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10253680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Light blue cover with anvil">
    <p:bg>
      <p:bgRef idx="1001">
        <a:schemeClr val="bg1"/>
      </p:bgRef>
    </p:bg>
    <p:spTree>
      <p:nvGrpSpPr>
        <p:cNvPr id="1" name=""/>
        <p:cNvGrpSpPr/>
        <p:nvPr/>
      </p:nvGrpSpPr>
      <p:grpSpPr>
        <a:xfrm>
          <a:off x="0" y="0"/>
          <a:ext cx="0" cy="0"/>
          <a:chOff x="0" y="0"/>
          <a:chExt cx="0" cy="0"/>
        </a:xfrm>
      </p:grpSpPr>
      <p:sp>
        <p:nvSpPr>
          <p:cNvPr id="14" name="Background">
            <a:extLst>
              <a:ext uri="{FF2B5EF4-FFF2-40B4-BE49-F238E27FC236}">
                <a16:creationId xmlns:a16="http://schemas.microsoft.com/office/drawing/2014/main" id="{581FAEF7-1ACD-83AC-7B42-761E6A30387F}"/>
              </a:ext>
            </a:extLst>
          </p:cNvPr>
          <p:cNvSpPr/>
          <p:nvPr userDrawn="1"/>
        </p:nvSpPr>
        <p:spPr bwMode="gray">
          <a:xfrm>
            <a:off x="0" y="0"/>
            <a:ext cx="12195175" cy="6858000"/>
          </a:xfrm>
          <a:prstGeom prst="rect">
            <a:avLst/>
          </a:prstGeom>
          <a:solidFill>
            <a:srgbClr val="A6E0FF">
              <a:alpha val="42715"/>
            </a:srgbClr>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2" name="Anvil" descr="preencoded.png">
            <a:extLst>
              <a:ext uri="{FF2B5EF4-FFF2-40B4-BE49-F238E27FC236}">
                <a16:creationId xmlns:a16="http://schemas.microsoft.com/office/drawing/2014/main" id="{94093846-CC07-3993-CA62-86004F1C03F9}"/>
              </a:ext>
            </a:extLst>
          </p:cNvPr>
          <p:cNvSpPr/>
          <p:nvPr/>
        </p:nvSpPr>
        <p:spPr>
          <a:xfrm>
            <a:off x="2289865" y="1275473"/>
            <a:ext cx="8851917" cy="4363327"/>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A6E0FF"/>
          </a:solidFill>
          <a:ln w="15238" cap="flat">
            <a:noFill/>
            <a:prstDash val="solid"/>
            <a:miter/>
          </a:ln>
        </p:spPr>
        <p:txBody>
          <a:bodyPr rtlCol="0" anchor="ctr"/>
          <a:lstStyle/>
          <a:p>
            <a:endParaRPr lang="en-US" b="0" i="0" dirty="0">
              <a:latin typeface="72 Brand" panose="020B0504030603020204" pitchFamily="34" charset="0"/>
            </a:endParaRPr>
          </a:p>
        </p:txBody>
      </p:sp>
      <p:sp>
        <p:nvSpPr>
          <p:cNvPr id="8" name="Title">
            <a:extLst>
              <a:ext uri="{FF2B5EF4-FFF2-40B4-BE49-F238E27FC236}">
                <a16:creationId xmlns:a16="http://schemas.microsoft.com/office/drawing/2014/main" id="{1098B98B-8FDE-5B19-2FC7-97058A6B53FD}"/>
              </a:ext>
            </a:extLst>
          </p:cNvPr>
          <p:cNvSpPr>
            <a:spLocks noGrp="1"/>
          </p:cNvSpPr>
          <p:nvPr>
            <p:ph type="title" hasCustomPrompt="1"/>
          </p:nvPr>
        </p:nvSpPr>
        <p:spPr>
          <a:xfrm>
            <a:off x="288000" y="2706317"/>
            <a:ext cx="5929920"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4" name="LogoBlack-Dynamic" descr="{&quot;templafy&quot;:{&quot;id&quot;:&quot;912894d5-805b-4062-b313-07ea7943d559&quot;}}">
            <a:extLst>
              <a:ext uri="{FF2B5EF4-FFF2-40B4-BE49-F238E27FC236}">
                <a16:creationId xmlns:a16="http://schemas.microsoft.com/office/drawing/2014/main" id="{2637A33E-C6A7-7C2A-3068-C4A803D3573D}"/>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69e89963-8c4f-4b12-b4b2-b7e233f471f6&quot;}}">
            <a:extLst>
              <a:ext uri="{FF2B5EF4-FFF2-40B4-BE49-F238E27FC236}">
                <a16:creationId xmlns:a16="http://schemas.microsoft.com/office/drawing/2014/main" id="{D417CEF6-1FCD-75B6-FA13-C583ECCE7BE5}"/>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5106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5F3BB899-74C3-EBF7-C191-EC2863B8F536}"/>
              </a:ext>
            </a:extLst>
          </p:cNvPr>
          <p:cNvSpPr/>
          <p:nvPr/>
        </p:nvSpPr>
        <p:spPr>
          <a:xfrm>
            <a:off x="0" y="0"/>
            <a:ext cx="12195175"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1B90FF"/>
          </a:solidFill>
          <a:ln w="11289" cap="flat">
            <a:noFill/>
            <a:prstDash val="solid"/>
            <a:miter/>
          </a:ln>
        </p:spPr>
        <p:txBody>
          <a:bodyPr rtlCol="0" anchor="ctr"/>
          <a:lstStyle/>
          <a:p>
            <a:endParaRPr lang="en-US" b="0" i="0" dirty="0">
              <a:latin typeface="72 Brand" panose="020B0504030603020204" pitchFamily="34" charset="0"/>
            </a:endParaRPr>
          </a:p>
        </p:txBody>
      </p:sp>
      <p:sp>
        <p:nvSpPr>
          <p:cNvPr id="8" name="Anvil" descr="preencoded.png">
            <a:extLst>
              <a:ext uri="{FF2B5EF4-FFF2-40B4-BE49-F238E27FC236}">
                <a16:creationId xmlns:a16="http://schemas.microsoft.com/office/drawing/2014/main" id="{39A9B643-3B5A-F0D7-C3BF-3A81DE80FEB6}"/>
              </a:ext>
            </a:extLst>
          </p:cNvPr>
          <p:cNvSpPr/>
          <p:nvPr/>
        </p:nvSpPr>
        <p:spPr>
          <a:xfrm>
            <a:off x="287339" y="935666"/>
            <a:ext cx="6762048" cy="3333180"/>
          </a:xfrm>
          <a:custGeom>
            <a:avLst/>
            <a:gdLst>
              <a:gd name="connsiteX0" fmla="*/ 0 w 6762048"/>
              <a:gd name="connsiteY0" fmla="*/ 0 h 3333180"/>
              <a:gd name="connsiteX1" fmla="*/ 0 w 6762048"/>
              <a:gd name="connsiteY1" fmla="*/ 3333180 h 3333180"/>
              <a:gd name="connsiteX2" fmla="*/ 3436452 w 6762048"/>
              <a:gd name="connsiteY2" fmla="*/ 3333180 h 3333180"/>
              <a:gd name="connsiteX3" fmla="*/ 6762048 w 6762048"/>
              <a:gd name="connsiteY3" fmla="*/ 0 h 3333180"/>
              <a:gd name="connsiteX4" fmla="*/ 0 w 6762048"/>
              <a:gd name="connsiteY4" fmla="*/ 0 h 333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2048" h="3333180">
                <a:moveTo>
                  <a:pt x="0" y="0"/>
                </a:moveTo>
                <a:lnTo>
                  <a:pt x="0" y="3333180"/>
                </a:lnTo>
                <a:lnTo>
                  <a:pt x="3436452" y="3333180"/>
                </a:lnTo>
                <a:lnTo>
                  <a:pt x="6762048" y="0"/>
                </a:lnTo>
                <a:lnTo>
                  <a:pt x="0" y="0"/>
                </a:lnTo>
                <a:close/>
              </a:path>
            </a:pathLst>
          </a:custGeom>
          <a:solidFill>
            <a:srgbClr val="002A86"/>
          </a:solidFill>
          <a:ln w="9264" cap="flat">
            <a:noFill/>
            <a:prstDash val="solid"/>
            <a:miter/>
          </a:ln>
        </p:spPr>
        <p:txBody>
          <a:bodyPr rtlCol="0" anchor="ctr"/>
          <a:lstStyle/>
          <a:p>
            <a:endParaRPr lang="en-US" b="0" i="0" dirty="0">
              <a:latin typeface="72 Brand" panose="020B0504030603020204" pitchFamily="34" charset="0"/>
            </a:endParaRPr>
          </a:p>
        </p:txBody>
      </p:sp>
      <p:sp>
        <p:nvSpPr>
          <p:cNvPr id="4" name="Title">
            <a:extLst>
              <a:ext uri="{FF2B5EF4-FFF2-40B4-BE49-F238E27FC236}">
                <a16:creationId xmlns:a16="http://schemas.microsoft.com/office/drawing/2014/main" id="{709C0759-3773-C728-D6A6-855D822107FE}"/>
              </a:ext>
            </a:extLst>
          </p:cNvPr>
          <p:cNvSpPr>
            <a:spLocks noGrp="1"/>
          </p:cNvSpPr>
          <p:nvPr>
            <p:ph type="title" hasCustomPrompt="1"/>
          </p:nvPr>
        </p:nvSpPr>
        <p:spPr>
          <a:xfrm>
            <a:off x="288000" y="2706317"/>
            <a:ext cx="6876593" cy="997196"/>
          </a:xfrm>
        </p:spPr>
        <p:txBody>
          <a:bodyPr>
            <a:noAutofit/>
          </a:bodyPr>
          <a:lstStyle>
            <a:lvl1pPr>
              <a:lnSpc>
                <a:spcPct val="90000"/>
              </a:lnSpc>
              <a:defRPr sz="3600" b="0" i="0">
                <a:solidFill>
                  <a:schemeClr val="bg1"/>
                </a:solidFill>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2" name="LogoWhite-Dynamic" descr="{&quot;templafy&quot;:{&quot;id&quot;:&quot;60442bfc-a378-4eab-82a0-84b85324f7a7&quot;}}">
            <a:extLst>
              <a:ext uri="{FF2B5EF4-FFF2-40B4-BE49-F238E27FC236}">
                <a16:creationId xmlns:a16="http://schemas.microsoft.com/office/drawing/2014/main" id="{1B2BA827-5E2B-B410-D729-E5CB1E58EDA4}"/>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9a2b3e38-3cea-43bf-9c4b-a03befda2045&quot;}}">
            <a:extLst>
              <a:ext uri="{FF2B5EF4-FFF2-40B4-BE49-F238E27FC236}">
                <a16:creationId xmlns:a16="http://schemas.microsoft.com/office/drawing/2014/main" id="{D67AB148-356D-F356-4E6C-9664D9EB9DF3}"/>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41833801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l cover with anvil ">
    <p:bg>
      <p:bgRef idx="1001">
        <a:schemeClr val="bg1"/>
      </p:bgRef>
    </p:bg>
    <p:spTree>
      <p:nvGrpSpPr>
        <p:cNvPr id="1" name=""/>
        <p:cNvGrpSpPr/>
        <p:nvPr/>
      </p:nvGrpSpPr>
      <p:grpSpPr>
        <a:xfrm>
          <a:off x="0" y="0"/>
          <a:ext cx="0" cy="0"/>
          <a:chOff x="0" y="0"/>
          <a:chExt cx="0" cy="0"/>
        </a:xfrm>
      </p:grpSpPr>
      <p:sp>
        <p:nvSpPr>
          <p:cNvPr id="5" name="Background" descr="preencoded.png">
            <a:extLst>
              <a:ext uri="{FF2B5EF4-FFF2-40B4-BE49-F238E27FC236}">
                <a16:creationId xmlns:a16="http://schemas.microsoft.com/office/drawing/2014/main" id="{5F3BB899-74C3-EBF7-C191-EC2863B8F536}"/>
              </a:ext>
            </a:extLst>
          </p:cNvPr>
          <p:cNvSpPr/>
          <p:nvPr/>
        </p:nvSpPr>
        <p:spPr>
          <a:xfrm>
            <a:off x="0" y="0"/>
            <a:ext cx="12195175" cy="6858000"/>
          </a:xfrm>
          <a:custGeom>
            <a:avLst/>
            <a:gdLst>
              <a:gd name="connsiteX0" fmla="*/ 0 w 12195175"/>
              <a:gd name="connsiteY0" fmla="*/ 0 h 6858000"/>
              <a:gd name="connsiteX1" fmla="*/ 12195175 w 12195175"/>
              <a:gd name="connsiteY1" fmla="*/ 0 h 6858000"/>
              <a:gd name="connsiteX2" fmla="*/ 12195175 w 12195175"/>
              <a:gd name="connsiteY2" fmla="*/ 6858000 h 6858000"/>
              <a:gd name="connsiteX3" fmla="*/ 0 w 121951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5175" h="6858000">
                <a:moveTo>
                  <a:pt x="0" y="0"/>
                </a:moveTo>
                <a:lnTo>
                  <a:pt x="12195175" y="0"/>
                </a:lnTo>
                <a:lnTo>
                  <a:pt x="12195175" y="6858000"/>
                </a:lnTo>
                <a:lnTo>
                  <a:pt x="0" y="6858000"/>
                </a:lnTo>
                <a:close/>
              </a:path>
            </a:pathLst>
          </a:custGeom>
          <a:solidFill>
            <a:srgbClr val="00CEAC"/>
          </a:solidFill>
          <a:ln w="11289" cap="flat">
            <a:noFill/>
            <a:prstDash val="solid"/>
            <a:miter/>
          </a:ln>
        </p:spPr>
        <p:txBody>
          <a:bodyPr rtlCol="0" anchor="ctr"/>
          <a:lstStyle/>
          <a:p>
            <a:endParaRPr lang="en-US" b="0" i="0" dirty="0">
              <a:latin typeface="72 Brand" panose="020B0504030603020204" pitchFamily="34" charset="0"/>
            </a:endParaRPr>
          </a:p>
        </p:txBody>
      </p:sp>
      <p:sp>
        <p:nvSpPr>
          <p:cNvPr id="6" name="Anvil" descr="preencoded.png">
            <a:extLst>
              <a:ext uri="{FF2B5EF4-FFF2-40B4-BE49-F238E27FC236}">
                <a16:creationId xmlns:a16="http://schemas.microsoft.com/office/drawing/2014/main" id="{F36DF1A0-33EF-D4BF-029F-2435A3EF8C01}"/>
              </a:ext>
            </a:extLst>
          </p:cNvPr>
          <p:cNvSpPr/>
          <p:nvPr/>
        </p:nvSpPr>
        <p:spPr>
          <a:xfrm>
            <a:off x="870433" y="989322"/>
            <a:ext cx="9187967" cy="4528975"/>
          </a:xfrm>
          <a:custGeom>
            <a:avLst/>
            <a:gdLst>
              <a:gd name="connsiteX0" fmla="*/ 0 w 9187967"/>
              <a:gd name="connsiteY0" fmla="*/ 0 h 4528975"/>
              <a:gd name="connsiteX1" fmla="*/ 0 w 9187967"/>
              <a:gd name="connsiteY1" fmla="*/ 4528975 h 4528975"/>
              <a:gd name="connsiteX2" fmla="*/ 4669297 w 9187967"/>
              <a:gd name="connsiteY2" fmla="*/ 4528975 h 4528975"/>
              <a:gd name="connsiteX3" fmla="*/ 9187967 w 9187967"/>
              <a:gd name="connsiteY3" fmla="*/ 0 h 4528975"/>
              <a:gd name="connsiteX4" fmla="*/ 0 w 9187967"/>
              <a:gd name="connsiteY4" fmla="*/ 0 h 4528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7967" h="4528975">
                <a:moveTo>
                  <a:pt x="0" y="0"/>
                </a:moveTo>
                <a:lnTo>
                  <a:pt x="0" y="4528975"/>
                </a:lnTo>
                <a:lnTo>
                  <a:pt x="4669297" y="4528975"/>
                </a:lnTo>
                <a:lnTo>
                  <a:pt x="9187967" y="0"/>
                </a:lnTo>
                <a:lnTo>
                  <a:pt x="0" y="0"/>
                </a:lnTo>
                <a:close/>
              </a:path>
            </a:pathLst>
          </a:custGeom>
          <a:solidFill>
            <a:srgbClr val="63EDD4"/>
          </a:solidFill>
          <a:ln w="12596" cap="flat">
            <a:noFill/>
            <a:prstDash val="solid"/>
            <a:miter/>
          </a:ln>
        </p:spPr>
        <p:txBody>
          <a:bodyPr rtlCol="0" anchor="ctr"/>
          <a:lstStyle/>
          <a:p>
            <a:endParaRPr lang="en-US" b="0" i="0" dirty="0">
              <a:latin typeface="72 Brand" panose="020B0504030603020204" pitchFamily="34" charset="0"/>
            </a:endParaRPr>
          </a:p>
        </p:txBody>
      </p:sp>
      <p:sp>
        <p:nvSpPr>
          <p:cNvPr id="9" name="Title">
            <a:extLst>
              <a:ext uri="{FF2B5EF4-FFF2-40B4-BE49-F238E27FC236}">
                <a16:creationId xmlns:a16="http://schemas.microsoft.com/office/drawing/2014/main" id="{5515F5CA-E76C-CC3B-68A7-37E88873AB4B}"/>
              </a:ext>
            </a:extLst>
          </p:cNvPr>
          <p:cNvSpPr>
            <a:spLocks noGrp="1"/>
          </p:cNvSpPr>
          <p:nvPr>
            <p:ph type="title" hasCustomPrompt="1"/>
          </p:nvPr>
        </p:nvSpPr>
        <p:spPr>
          <a:xfrm>
            <a:off x="288000" y="2706317"/>
            <a:ext cx="5929920"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2" name="LogoBlack-Dynamic" descr="{&quot;templafy&quot;:{&quot;id&quot;:&quot;6dd23191-5081-469d-95d7-170b44ec3c56&quot;}}">
            <a:extLst>
              <a:ext uri="{FF2B5EF4-FFF2-40B4-BE49-F238E27FC236}">
                <a16:creationId xmlns:a16="http://schemas.microsoft.com/office/drawing/2014/main" id="{6F517C48-28CD-5089-ED8A-57BF0CC2794C}"/>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7c9d8286-5318-46a8-94cc-3d0e21b361ec&quot;}}">
            <a:extLst>
              <a:ext uri="{FF2B5EF4-FFF2-40B4-BE49-F238E27FC236}">
                <a16:creationId xmlns:a16="http://schemas.microsoft.com/office/drawing/2014/main" id="{BBFBBDC3-D031-6041-465D-9F7147F423CF}"/>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4245592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th cover with image">
    <p:bg>
      <p:bgRef idx="1001">
        <a:schemeClr val="bg1"/>
      </p:bgRef>
    </p:bg>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83FFCA81-9D1B-7BE9-9F97-BEDB3E67519A}"/>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72 Brand" panose="020B0504030603020204" pitchFamily="34" charset="0"/>
              <a:ea typeface="72 Brand" pitchFamily="34" charset="-128"/>
              <a:cs typeface="72 Brand" pitchFamily="34" charset="-128"/>
            </a:endParaRPr>
          </a:p>
        </p:txBody>
      </p:sp>
      <p:sp>
        <p:nvSpPr>
          <p:cNvPr id="6" name="Picture Placeholder 5">
            <a:extLst>
              <a:ext uri="{FF2B5EF4-FFF2-40B4-BE49-F238E27FC236}">
                <a16:creationId xmlns:a16="http://schemas.microsoft.com/office/drawing/2014/main" id="{28860E7D-5DEB-5F1B-5AAF-4C41BD1A7778}"/>
              </a:ext>
            </a:extLst>
          </p:cNvPr>
          <p:cNvSpPr>
            <a:spLocks noGrp="1"/>
          </p:cNvSpPr>
          <p:nvPr>
            <p:ph type="pic" sz="quarter" idx="15" hasCustomPrompt="1"/>
          </p:nvPr>
        </p:nvSpPr>
        <p:spPr>
          <a:xfrm>
            <a:off x="6108700" y="0"/>
            <a:ext cx="6086475" cy="6858000"/>
          </a:xfrm>
        </p:spPr>
        <p:txBody>
          <a:bodyPr anchor="ctr" anchorCtr="0"/>
          <a:lstStyle>
            <a:lvl1pPr algn="ctr">
              <a:defRPr/>
            </a:lvl1pPr>
          </a:lstStyle>
          <a:p>
            <a:r>
              <a:rPr lang="en-US"/>
              <a:t>Click to insert picture</a:t>
            </a:r>
          </a:p>
        </p:txBody>
      </p:sp>
      <p:pic>
        <p:nvPicPr>
          <p:cNvPr id="28936725" name="Acquired Company Logo Placeholder" descr="{&quot;templafy&quot;:{&quot;id&quot;:&quot;e24a6e43-600a-4c6b-89de-bcf3787a4fa8&quot;}}" hidden="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4" name="Title">
            <a:extLst>
              <a:ext uri="{FF2B5EF4-FFF2-40B4-BE49-F238E27FC236}">
                <a16:creationId xmlns:a16="http://schemas.microsoft.com/office/drawing/2014/main" id="{D8805AE3-41BC-E9DB-1A66-ADF41EDBC899}"/>
              </a:ext>
            </a:extLst>
          </p:cNvPr>
          <p:cNvSpPr>
            <a:spLocks noGrp="1"/>
          </p:cNvSpPr>
          <p:nvPr>
            <p:ph type="title" hasCustomPrompt="1"/>
          </p:nvPr>
        </p:nvSpPr>
        <p:spPr>
          <a:xfrm>
            <a:off x="288000" y="2706317"/>
            <a:ext cx="6026739" cy="997196"/>
          </a:xfrm>
        </p:spPr>
        <p:txBody>
          <a:bodyPr>
            <a:noAutofit/>
          </a:bodyPr>
          <a:lstStyle>
            <a:lvl1pPr>
              <a:lnSpc>
                <a:spcPct val="90000"/>
              </a:lnSpc>
              <a:defRPr sz="3600" b="0" i="0">
                <a:latin typeface="72 Brand Medium" panose="020B0504030603020204" pitchFamily="34" charset="0"/>
                <a:cs typeface="72" panose="020B0503030000000003"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5" name="LogoBlue-Dynamic" descr="{&quot;templafy&quot;:{&quot;id&quot;:&quot;99294a25-a2cd-48b5-9e9c-c52b8a8a8d79&quot;}}">
            <a:extLst>
              <a:ext uri="{FF2B5EF4-FFF2-40B4-BE49-F238E27FC236}">
                <a16:creationId xmlns:a16="http://schemas.microsoft.com/office/drawing/2014/main" id="{D1190656-DEBD-FEA9-516B-DD318272D18E}"/>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3" name="Classification-Dynamic" descr="{&quot;templafy&quot;:{&quot;id&quot;:&quot;7f81b515-e46d-4f87-936b-0254f9c38e86&quot;}}">
            <a:extLst>
              <a:ext uri="{FF2B5EF4-FFF2-40B4-BE49-F238E27FC236}">
                <a16:creationId xmlns:a16="http://schemas.microsoft.com/office/drawing/2014/main" id="{4A078429-99DD-7555-B0F4-FEF46FD297B0}"/>
              </a:ext>
            </a:extLst>
          </p:cNvPr>
          <p:cNvSpPr txBox="1"/>
          <p:nvPr userDrawn="1"/>
        </p:nvSpPr>
        <p:spPr>
          <a:xfrm>
            <a:off x="282575"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tx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393646082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701">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ue cover with anvil and image">
    <p:bg>
      <p:bgRef idx="1001">
        <a:schemeClr val="bg1"/>
      </p:bgRef>
    </p:bg>
    <p:spTree>
      <p:nvGrpSpPr>
        <p:cNvPr id="1" name=""/>
        <p:cNvGrpSpPr/>
        <p:nvPr/>
      </p:nvGrpSpPr>
      <p:grpSpPr>
        <a:xfrm>
          <a:off x="0" y="0"/>
          <a:ext cx="0" cy="0"/>
          <a:chOff x="0" y="0"/>
          <a:chExt cx="0" cy="0"/>
        </a:xfrm>
      </p:grpSpPr>
      <p:sp>
        <p:nvSpPr>
          <p:cNvPr id="7" name="Background" descr="preencoded.png">
            <a:extLst>
              <a:ext uri="{FF2B5EF4-FFF2-40B4-BE49-F238E27FC236}">
                <a16:creationId xmlns:a16="http://schemas.microsoft.com/office/drawing/2014/main" id="{9DE307C8-D1C3-00E2-C5B0-2A7EBB981384}"/>
              </a:ext>
            </a:extLst>
          </p:cNvPr>
          <p:cNvSpPr/>
          <p:nvPr/>
        </p:nvSpPr>
        <p:spPr>
          <a:xfrm>
            <a:off x="0" y="0"/>
            <a:ext cx="12195175" cy="6861495"/>
          </a:xfrm>
          <a:custGeom>
            <a:avLst/>
            <a:gdLst>
              <a:gd name="connsiteX0" fmla="*/ 0 w 12195175"/>
              <a:gd name="connsiteY0" fmla="*/ 0 h 6861495"/>
              <a:gd name="connsiteX1" fmla="*/ 12195175 w 12195175"/>
              <a:gd name="connsiteY1" fmla="*/ 0 h 6861495"/>
              <a:gd name="connsiteX2" fmla="*/ 12195175 w 12195175"/>
              <a:gd name="connsiteY2" fmla="*/ 6861496 h 6861495"/>
              <a:gd name="connsiteX3" fmla="*/ 0 w 12195175"/>
              <a:gd name="connsiteY3" fmla="*/ 6861496 h 6861495"/>
            </a:gdLst>
            <a:ahLst/>
            <a:cxnLst>
              <a:cxn ang="0">
                <a:pos x="connsiteX0" y="connsiteY0"/>
              </a:cxn>
              <a:cxn ang="0">
                <a:pos x="connsiteX1" y="connsiteY1"/>
              </a:cxn>
              <a:cxn ang="0">
                <a:pos x="connsiteX2" y="connsiteY2"/>
              </a:cxn>
              <a:cxn ang="0">
                <a:pos x="connsiteX3" y="connsiteY3"/>
              </a:cxn>
            </a:cxnLst>
            <a:rect l="l" t="t" r="r" b="b"/>
            <a:pathLst>
              <a:path w="12195175" h="6861495">
                <a:moveTo>
                  <a:pt x="0" y="0"/>
                </a:moveTo>
                <a:lnTo>
                  <a:pt x="12195175" y="0"/>
                </a:lnTo>
                <a:lnTo>
                  <a:pt x="12195175" y="6861496"/>
                </a:lnTo>
                <a:lnTo>
                  <a:pt x="0" y="6861496"/>
                </a:lnTo>
                <a:close/>
              </a:path>
            </a:pathLst>
          </a:custGeom>
          <a:solidFill>
            <a:srgbClr val="0057D2"/>
          </a:solidFill>
          <a:ln w="10160" cap="flat">
            <a:noFill/>
            <a:prstDash val="solid"/>
            <a:miter/>
          </a:ln>
        </p:spPr>
        <p:txBody>
          <a:bodyPr rtlCol="0" anchor="ctr"/>
          <a:lstStyle/>
          <a:p>
            <a:endParaRPr lang="en-US" b="0" i="0" dirty="0">
              <a:latin typeface="72 Brand" panose="020B0504030603020204" pitchFamily="34" charset="0"/>
            </a:endParaRPr>
          </a:p>
        </p:txBody>
      </p:sp>
      <p:sp>
        <p:nvSpPr>
          <p:cNvPr id="6" name="Anvil" descr="preencoded.png">
            <a:extLst>
              <a:ext uri="{FF2B5EF4-FFF2-40B4-BE49-F238E27FC236}">
                <a16:creationId xmlns:a16="http://schemas.microsoft.com/office/drawing/2014/main" id="{6C575B3E-49FD-8450-F2CB-84C6E7A1153D}"/>
              </a:ext>
            </a:extLst>
          </p:cNvPr>
          <p:cNvSpPr/>
          <p:nvPr/>
        </p:nvSpPr>
        <p:spPr>
          <a:xfrm>
            <a:off x="752355" y="1156532"/>
            <a:ext cx="5613722" cy="2756252"/>
          </a:xfrm>
          <a:custGeom>
            <a:avLst/>
            <a:gdLst>
              <a:gd name="connsiteX0" fmla="*/ 0 w 5613722"/>
              <a:gd name="connsiteY0" fmla="*/ 0 h 2756252"/>
              <a:gd name="connsiteX1" fmla="*/ 0 w 5613722"/>
              <a:gd name="connsiteY1" fmla="*/ 2756252 h 2756252"/>
              <a:gd name="connsiteX2" fmla="*/ 2852875 w 5613722"/>
              <a:gd name="connsiteY2" fmla="*/ 2756252 h 2756252"/>
              <a:gd name="connsiteX3" fmla="*/ 5613722 w 5613722"/>
              <a:gd name="connsiteY3" fmla="*/ 0 h 2756252"/>
              <a:gd name="connsiteX4" fmla="*/ 0 w 5613722"/>
              <a:gd name="connsiteY4" fmla="*/ 0 h 27562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722" h="2756252">
                <a:moveTo>
                  <a:pt x="0" y="0"/>
                </a:moveTo>
                <a:lnTo>
                  <a:pt x="0" y="2756252"/>
                </a:lnTo>
                <a:lnTo>
                  <a:pt x="2852875" y="2756252"/>
                </a:lnTo>
                <a:lnTo>
                  <a:pt x="5613722" y="0"/>
                </a:lnTo>
                <a:lnTo>
                  <a:pt x="0" y="0"/>
                </a:lnTo>
                <a:close/>
              </a:path>
            </a:pathLst>
          </a:custGeom>
          <a:solidFill>
            <a:srgbClr val="1B90FF"/>
          </a:solidFill>
          <a:ln w="9273" cap="flat">
            <a:noFill/>
            <a:prstDash val="solid"/>
            <a:miter/>
          </a:ln>
        </p:spPr>
        <p:txBody>
          <a:bodyPr rtlCol="0" anchor="ctr"/>
          <a:lstStyle/>
          <a:p>
            <a:endParaRPr lang="en-US" b="0" i="0" dirty="0">
              <a:latin typeface="72 Brand" panose="020B0504030603020204" pitchFamily="34" charset="0"/>
            </a:endParaRPr>
          </a:p>
        </p:txBody>
      </p:sp>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36062" y="0"/>
            <a:ext cx="4359114" cy="6858000"/>
          </a:xfrm>
        </p:spPr>
        <p:txBody>
          <a:bodyPr anchor="ctr" anchorCtr="0"/>
          <a:lstStyle>
            <a:lvl1pPr algn="ctr">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287338" y="2206502"/>
            <a:ext cx="5529704" cy="997196"/>
          </a:xfrm>
        </p:spPr>
        <p:txBody>
          <a:bodyPr>
            <a:noAutofit/>
          </a:bodyPr>
          <a:lstStyle>
            <a:lvl1pPr>
              <a:lnSpc>
                <a:spcPct val="9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dirty="0"/>
              <a:t>Title goes here</a:t>
            </a:r>
            <a:br>
              <a:rPr lang="en-US" dirty="0"/>
            </a:br>
            <a:r>
              <a:rPr lang="en-US" dirty="0"/>
              <a:t>and here and here</a:t>
            </a:r>
            <a:endParaRPr lang="de-DE" sz="3600" kern="0" dirty="0" err="1">
              <a:ea typeface="72 Brand" pitchFamily="34" charset="-128"/>
              <a:cs typeface="72 Brand" pitchFamily="34" charset="-128"/>
            </a:endParaRPr>
          </a:p>
        </p:txBody>
      </p:sp>
      <p:sp>
        <p:nvSpPr>
          <p:cNvPr id="3" name="LogoWhite-Dynamic" descr="{&quot;templafy&quot;:{&quot;id&quot;:&quot;6516b6d3-d24f-4b8d-bef0-c722a451ec67&quot;}}">
            <a:extLst>
              <a:ext uri="{FF2B5EF4-FFF2-40B4-BE49-F238E27FC236}">
                <a16:creationId xmlns:a16="http://schemas.microsoft.com/office/drawing/2014/main" id="{DAF77494-7969-7420-F0E8-876B83E39BD5}"/>
              </a:ext>
            </a:extLst>
          </p:cNvPr>
          <p:cNvSpPr>
            <a:spLocks/>
          </p:cNvSpPr>
          <p:nvPr userDrawn="1"/>
        </p:nvSpPr>
        <p:spPr bwMode="gray">
          <a:xfrm>
            <a:off x="288006" y="360000"/>
            <a:ext cx="4320000" cy="360000"/>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72 Brand" pitchFamily="34" charset="-128"/>
              <a:cs typeface="72 Brand" pitchFamily="34" charset="-128"/>
            </a:endParaRPr>
          </a:p>
        </p:txBody>
      </p:sp>
      <p:sp>
        <p:nvSpPr>
          <p:cNvPr id="5" name="Classification-Dynamic" descr="{&quot;templafy&quot;:{&quot;id&quot;:&quot;abf51d92-4718-4e0a-9076-bdff38965116&quot;}}">
            <a:extLst>
              <a:ext uri="{FF2B5EF4-FFF2-40B4-BE49-F238E27FC236}">
                <a16:creationId xmlns:a16="http://schemas.microsoft.com/office/drawing/2014/main" id="{7A6CB977-D711-D436-9DC2-AAFCC56F9CAA}"/>
              </a:ext>
            </a:extLst>
          </p:cNvPr>
          <p:cNvSpPr txBox="1"/>
          <p:nvPr userDrawn="1"/>
        </p:nvSpPr>
        <p:spPr>
          <a:xfrm>
            <a:off x="440401" y="5080814"/>
            <a:ext cx="4986112" cy="252000"/>
          </a:xfrm>
          <a:prstGeom prst="rect">
            <a:avLst/>
          </a:prstGeom>
          <a:noFill/>
        </p:spPr>
        <p:txBody>
          <a:bodyPr wrap="square" lIns="0" tIns="0" rIns="0" bIns="0" rtlCol="0">
            <a:normAutofit/>
          </a:bodyPr>
          <a:lstStyle/>
          <a:p>
            <a:pPr fontAlgn="base">
              <a:spcBef>
                <a:spcPct val="50000"/>
              </a:spcBef>
              <a:spcAft>
                <a:spcPct val="0"/>
              </a:spcAft>
              <a:buClr>
                <a:srgbClr val="F0AB00"/>
              </a:buClr>
              <a:buSzPct val="80000"/>
            </a:pPr>
            <a:endParaRPr lang="en-US" sz="1000" b="0" i="0" kern="0">
              <a:solidFill>
                <a:schemeClr val="bg1"/>
              </a:solidFill>
              <a:latin typeface="72 Brand" panose="020B0504030603020204" pitchFamily="34" charset="0"/>
              <a:ea typeface="72 Brand" pitchFamily="34" charset="-128"/>
              <a:cs typeface="72 Brand" pitchFamily="34" charset="-128"/>
            </a:endParaRPr>
          </a:p>
        </p:txBody>
      </p:sp>
    </p:spTree>
    <p:extLst>
      <p:ext uri="{BB962C8B-B14F-4D97-AF65-F5344CB8AC3E}">
        <p14:creationId xmlns:p14="http://schemas.microsoft.com/office/powerpoint/2010/main" val="25832081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385">
          <p15:clr>
            <a:srgbClr val="FBAE40"/>
          </p15:clr>
        </p15:guide>
        <p15:guide id="3" orient="horz" pos="2688">
          <p15:clr>
            <a:srgbClr val="FBAE40"/>
          </p15:clr>
        </p15:guide>
        <p15:guide id="4" orient="horz" pos="2334">
          <p15:clr>
            <a:srgbClr val="FBAE40"/>
          </p15:clr>
        </p15:guide>
        <p15:guide id="5" orient="horz" pos="2999">
          <p15:clr>
            <a:srgbClr val="FBAE40"/>
          </p15:clr>
        </p15:guide>
        <p15:guide id="7" orient="horz" pos="41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dirty="0"/>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11186477" cy="4787900"/>
          </a:xfrm>
        </p:spPr>
        <p:txBody>
          <a:bodyPr/>
          <a:lstStyle>
            <a:lvl1pPr>
              <a:defRPr/>
            </a:lvl1pPr>
          </a:lstStyle>
          <a:p>
            <a:pPr lvl="0"/>
            <a:r>
              <a:rPr lang="en-US" dirty="0"/>
              <a:t>Agenda Item/Divider Headline</a:t>
            </a:r>
          </a:p>
          <a:p>
            <a:pPr lvl="1"/>
            <a:r>
              <a:rPr lang="en-US" dirty="0"/>
              <a:t>Details</a:t>
            </a:r>
          </a:p>
        </p:txBody>
      </p:sp>
    </p:spTree>
    <p:extLst>
      <p:ext uri="{BB962C8B-B14F-4D97-AF65-F5344CB8AC3E}">
        <p14:creationId xmlns:p14="http://schemas.microsoft.com/office/powerpoint/2010/main" val="603172597"/>
      </p:ext>
    </p:extLst>
  </p:cSld>
  <p:clrMapOvr>
    <a:masterClrMapping/>
  </p:clrMapOvr>
  <p:extLst>
    <p:ext uri="{DCECCB84-F9BA-43D5-87BE-67443E8EF086}">
      <p15:sldGuideLst xmlns:p15="http://schemas.microsoft.com/office/powerpoint/2012/main">
        <p15:guide id="1" pos="311">
          <p15:clr>
            <a:srgbClr val="FBAE40"/>
          </p15:clr>
        </p15:guide>
        <p15:guide id="2" orient="horz" pos="970">
          <p15:clr>
            <a:srgbClr val="FBAE40"/>
          </p15:clr>
        </p15:guide>
        <p15:guide id="3" pos="7364">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276954493"/>
      </p:ext>
    </p:extLst>
  </p:cSld>
  <p:clrMapOvr>
    <a:masterClrMapping/>
  </p:clrMapOvr>
  <p:hf sldNum="0" hdr="0" ftr="0" dt="0"/>
  <p:extLst>
    <p:ext uri="{DCECCB84-F9BA-43D5-87BE-67443E8EF086}">
      <p15:sldGuideLst xmlns:p15="http://schemas.microsoft.com/office/powerpoint/2012/main">
        <p15:guide id="1" pos="314">
          <p15:clr>
            <a:srgbClr val="FBAE40"/>
          </p15:clr>
        </p15:guide>
        <p15:guide id="2" orient="horz" pos="2160">
          <p15:clr>
            <a:srgbClr val="FBAE40"/>
          </p15:clr>
        </p15:guide>
        <p15:guide id="3" pos="736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96720108"/>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Divider Page with Im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dirty="0"/>
              <a:t>Divider page</a:t>
            </a:r>
            <a:endParaRPr lang="de-DE" dirty="0"/>
          </a:p>
        </p:txBody>
      </p:sp>
    </p:spTree>
    <p:extLst>
      <p:ext uri="{BB962C8B-B14F-4D97-AF65-F5344CB8AC3E}">
        <p14:creationId xmlns:p14="http://schemas.microsoft.com/office/powerpoint/2010/main" val="3650092281"/>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7364">
          <p15:clr>
            <a:srgbClr val="FBAE40"/>
          </p15:clr>
        </p15:guide>
        <p15:guide id="3" pos="314">
          <p15:clr>
            <a:srgbClr val="FBAE40"/>
          </p15:clr>
        </p15:guide>
        <p15:guide id="4" orient="horz" pos="865">
          <p15:clr>
            <a:srgbClr val="FBAE40"/>
          </p15:clr>
        </p15:guide>
        <p15:guide id="5" orient="horz" pos="129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dirty="0"/>
              <a:t>Insert page title (sentence case)</a:t>
            </a:r>
            <a:endParaRPr lang="en-US" dirty="0"/>
          </a:p>
        </p:txBody>
      </p:sp>
    </p:spTree>
    <p:extLst>
      <p:ext uri="{BB962C8B-B14F-4D97-AF65-F5344CB8AC3E}">
        <p14:creationId xmlns:p14="http://schemas.microsoft.com/office/powerpoint/2010/main" val="3702269293"/>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787900"/>
          </a:xfrm>
        </p:spPr>
        <p:txBody>
          <a:bodyPr/>
          <a:lstStyle>
            <a:lvl1pPr>
              <a:defRPr/>
            </a:lvl1pPr>
          </a:lstStyle>
          <a:p>
            <a:pPr lvl="0"/>
            <a:r>
              <a:rPr lang="en-GB" dirty="0"/>
              <a:t>Start typing to add text without a bullet point. To add a bullet point, place the cursor at the start of this line and press tab.</a:t>
            </a:r>
            <a:endParaRPr lang="en-US" noProof="0"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lvl1pPr>
              <a:defRPr b="0"/>
            </a:lvl1p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1" pos="316" userDrawn="1">
          <p15:clr>
            <a:srgbClr val="FBAE40"/>
          </p15:clr>
        </p15:guide>
        <p15:guide id="2" orient="horz" pos="3997" userDrawn="1">
          <p15:clr>
            <a:srgbClr val="FBAE40"/>
          </p15:clr>
        </p15:guide>
        <p15:guide id="3" pos="7364" userDrawn="1">
          <p15:clr>
            <a:srgbClr val="FBAE40"/>
          </p15:clr>
        </p15:guide>
        <p15:guide id="4" orient="horz" pos="318" userDrawn="1">
          <p15:clr>
            <a:srgbClr val="FBAE40"/>
          </p15:clr>
        </p15:guide>
        <p15:guide id="5" orient="horz" pos="552" userDrawn="1">
          <p15:clr>
            <a:srgbClr val="FBAE40"/>
          </p15:clr>
        </p15:guide>
        <p15:guide id="6" orient="horz" pos="95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548000"/>
            <a:ext cx="5328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548000"/>
            <a:ext cx="5328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72342507"/>
      </p:ext>
    </p:extLst>
  </p:cSld>
  <p:clrMapOvr>
    <a:masterClrMapping/>
  </p:clrMapOvr>
  <p:extLst>
    <p:ext uri="{DCECCB84-F9BA-43D5-87BE-67443E8EF086}">
      <p15:sldGuideLst xmlns:p15="http://schemas.microsoft.com/office/powerpoint/2012/main">
        <p15:guide id="1" pos="314">
          <p15:clr>
            <a:srgbClr val="FBAE40"/>
          </p15:clr>
        </p15:guide>
        <p15:guide id="2" orient="horz" pos="3997">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548000"/>
            <a:ext cx="3564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548000"/>
            <a:ext cx="3564000" cy="47879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496812979"/>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563">
          <p15:clr>
            <a:srgbClr val="FBAE40"/>
          </p15:clr>
        </p15:guide>
        <p15:guide id="4" pos="2717">
          <p15:clr>
            <a:srgbClr val="FBAE40"/>
          </p15:clr>
        </p15:guide>
        <p15:guide id="5" pos="4964">
          <p15:clr>
            <a:srgbClr val="FBAE40"/>
          </p15:clr>
        </p15:guide>
        <p15:guide id="6" pos="5119">
          <p15:clr>
            <a:srgbClr val="FBAE40"/>
          </p15:clr>
        </p15:guide>
        <p15:guide id="7" pos="7364">
          <p15:clr>
            <a:srgbClr val="FBAE40"/>
          </p15:clr>
        </p15:guide>
        <p15:guide id="8" orient="horz" pos="551">
          <p15:clr>
            <a:srgbClr val="FBAE40"/>
          </p15:clr>
        </p15:guide>
        <p15:guide id="9" orient="horz" pos="974">
          <p15:clr>
            <a:srgbClr val="FBAE40"/>
          </p15:clr>
        </p15:guide>
        <p15:guide id="10" orient="horz" pos="399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75238"/>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2"/>
          <p:cNvSpPr>
            <a:spLocks noGrp="1"/>
          </p:cNvSpPr>
          <p:nvPr>
            <p:ph type="pic" sz="quarter" idx="14" hasCustomPrompt="1"/>
          </p:nvPr>
        </p:nvSpPr>
        <p:spPr bwMode="gray">
          <a:xfrm>
            <a:off x="6362477" y="1548000"/>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770000"/>
            <a:ext cx="5328000" cy="1575238"/>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548000"/>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230181533"/>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750">
          <p15:clr>
            <a:srgbClr val="FBAE40"/>
          </p15:clr>
        </p15:guide>
        <p15:guide id="6" orient="horz" pos="3004">
          <p15:clr>
            <a:srgbClr val="FBAE40"/>
          </p15:clr>
        </p15:guide>
        <p15:guide id="7" orient="horz" pos="3997">
          <p15:clr>
            <a:srgbClr val="FBAE40"/>
          </p15:clr>
        </p15:guide>
        <p15:guide id="8" pos="3682">
          <p15:clr>
            <a:srgbClr val="FBAE40"/>
          </p15:clr>
        </p15:guide>
        <p15:guide id="9" pos="4000">
          <p15:clr>
            <a:srgbClr val="FBAE40"/>
          </p15:clr>
        </p15:guide>
        <p15:guide id="10" pos="736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3"/>
          <p:cNvSpPr>
            <a:spLocks noGrp="1"/>
          </p:cNvSpPr>
          <p:nvPr>
            <p:ph type="pic" sz="quarter" idx="14" hasCustomPrompt="1"/>
          </p:nvPr>
        </p:nvSpPr>
        <p:spPr bwMode="gray">
          <a:xfrm>
            <a:off x="8299277"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2"/>
          <p:cNvSpPr>
            <a:spLocks noGrp="1"/>
          </p:cNvSpPr>
          <p:nvPr>
            <p:ph type="pic" sz="quarter" idx="16" hasCustomPrompt="1"/>
          </p:nvPr>
        </p:nvSpPr>
        <p:spPr bwMode="gray">
          <a:xfrm>
            <a:off x="4401639"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1"/>
          <p:cNvSpPr>
            <a:spLocks noGrp="1"/>
          </p:cNvSpPr>
          <p:nvPr>
            <p:ph type="pic" sz="quarter" idx="12" hasCustomPrompt="1"/>
          </p:nvPr>
        </p:nvSpPr>
        <p:spPr bwMode="gray">
          <a:xfrm>
            <a:off x="504000"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09351411"/>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pos="2455">
          <p15:clr>
            <a:srgbClr val="FBAE40"/>
          </p15:clr>
        </p15:guide>
        <p15:guide id="4" pos="2773">
          <p15:clr>
            <a:srgbClr val="FBAE40"/>
          </p15:clr>
        </p15:guide>
        <p15:guide id="5" pos="4910">
          <p15:clr>
            <a:srgbClr val="FBAE40"/>
          </p15:clr>
        </p15:guide>
        <p15:guide id="6" pos="5227">
          <p15:clr>
            <a:srgbClr val="FBAE40"/>
          </p15:clr>
        </p15:guide>
        <p15:guide id="7" pos="7364">
          <p15:clr>
            <a:srgbClr val="FBAE40"/>
          </p15:clr>
        </p15:guide>
        <p15:guide id="8" orient="horz" pos="551">
          <p15:clr>
            <a:srgbClr val="FBAE40"/>
          </p15:clr>
        </p15:guide>
        <p15:guide id="9" orient="horz" pos="970">
          <p15:clr>
            <a:srgbClr val="FBAE40"/>
          </p15:clr>
        </p15:guide>
        <p15:guide id="10" orient="horz" pos="2428">
          <p15:clr>
            <a:srgbClr val="FBAE40"/>
          </p15:clr>
        </p15:guide>
        <p15:guide id="11" orient="horz" pos="2743">
          <p15:clr>
            <a:srgbClr val="FBAE40"/>
          </p15:clr>
        </p15:guide>
        <p15:guide id="12" orient="horz" pos="399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4877" y="3877200"/>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13" name="Text placeholder - column 2"/>
          <p:cNvSpPr>
            <a:spLocks noGrp="1"/>
          </p:cNvSpPr>
          <p:nvPr>
            <p:ph type="body" sz="quarter" idx="17" hasCustomPrompt="1"/>
          </p:nvPr>
        </p:nvSpPr>
        <p:spPr>
          <a:xfrm>
            <a:off x="6351252" y="3877200"/>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9" name="Text placeholder - column 2"/>
          <p:cNvSpPr>
            <a:spLocks noGrp="1"/>
          </p:cNvSpPr>
          <p:nvPr>
            <p:ph type="body" sz="quarter" idx="15" hasCustomPrompt="1"/>
          </p:nvPr>
        </p:nvSpPr>
        <p:spPr>
          <a:xfrm>
            <a:off x="3427626" y="3877200"/>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3" name="Text placeholder - column 2"/>
          <p:cNvSpPr>
            <a:spLocks noGrp="1"/>
          </p:cNvSpPr>
          <p:nvPr>
            <p:ph type="body" sz="quarter" idx="10" hasCustomPrompt="1"/>
          </p:nvPr>
        </p:nvSpPr>
        <p:spPr>
          <a:xfrm>
            <a:off x="504000" y="3877200"/>
            <a:ext cx="2415600" cy="2457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 or pictogram</a:t>
            </a:r>
            <a:endParaRPr lang="de-DE" dirty="0"/>
          </a:p>
        </p:txBody>
      </p:sp>
      <p:sp>
        <p:nvSpPr>
          <p:cNvPr id="2"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568549964"/>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4">
          <p15:clr>
            <a:srgbClr val="FBAE40"/>
          </p15:clr>
        </p15:guide>
        <p15:guide id="5" orient="horz" pos="2160">
          <p15:clr>
            <a:srgbClr val="FBAE40"/>
          </p15:clr>
        </p15:guide>
        <p15:guide id="6" orient="horz" pos="2442">
          <p15:clr>
            <a:srgbClr val="FBAE40"/>
          </p15:clr>
        </p15:guide>
        <p15:guide id="7" orient="horz" pos="3990">
          <p15:clr>
            <a:srgbClr val="FBAE40"/>
          </p15:clr>
        </p15:guide>
        <p15:guide id="8" pos="1840">
          <p15:clr>
            <a:srgbClr val="FBAE40"/>
          </p15:clr>
        </p15:guide>
        <p15:guide id="9" pos="2159">
          <p15:clr>
            <a:srgbClr val="FBAE40"/>
          </p15:clr>
        </p15:guide>
        <p15:guide id="10" pos="3683">
          <p15:clr>
            <a:srgbClr val="FBAE40"/>
          </p15:clr>
        </p15:guide>
        <p15:guide id="11" pos="4000">
          <p15:clr>
            <a:srgbClr val="FBAE40"/>
          </p15:clr>
        </p15:guide>
        <p15:guide id="12" pos="5525">
          <p15:clr>
            <a:srgbClr val="FBAE40"/>
          </p15:clr>
        </p15:guide>
        <p15:guide id="13" pos="5842">
          <p15:clr>
            <a:srgbClr val="FBAE40"/>
          </p15:clr>
        </p15:guide>
        <p15:guide id="14" pos="736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0" i="0">
                <a:latin typeface="72 Brand Medium" panose="020B0504030603020204" pitchFamily="34" charset="0"/>
              </a:defRPr>
            </a:lvl1pPr>
            <a:lvl2pPr marL="395921" indent="0">
              <a:buNone/>
              <a:defRPr sz="1600"/>
            </a:lvl2pPr>
          </a:lstStyle>
          <a:p>
            <a:pPr lvl="0"/>
            <a:r>
              <a:rPr lang="en-US" noProof="0" dirty="0"/>
              <a:t>“Quote goes here </a:t>
            </a:r>
            <a:br>
              <a:rPr lang="en-US" noProof="0" dirty="0"/>
            </a:br>
            <a:r>
              <a:rPr lang="en-US" noProof="0" dirty="0"/>
              <a:t>and here.”</a:t>
            </a:r>
          </a:p>
          <a:p>
            <a:pPr lvl="1"/>
            <a:r>
              <a:rPr lang="en-US" noProof="0" dirty="0"/>
              <a:t>Source</a:t>
            </a:r>
          </a:p>
        </p:txBody>
      </p:sp>
    </p:spTree>
    <p:extLst>
      <p:ext uri="{BB962C8B-B14F-4D97-AF65-F5344CB8AC3E}">
        <p14:creationId xmlns:p14="http://schemas.microsoft.com/office/powerpoint/2010/main" val="2866850030"/>
      </p:ext>
    </p:extLst>
  </p:cSld>
  <p:clrMapOvr>
    <a:masterClrMapping/>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3204">
          <p15:clr>
            <a:srgbClr val="FBAE40"/>
          </p15:clr>
        </p15:guide>
        <p15:guide id="6" pos="7363">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a:t>
            </a:r>
            <a:endParaRPr lang="de-DE" dirty="0"/>
          </a:p>
        </p:txBody>
      </p:sp>
      <p:sp>
        <p:nvSpPr>
          <p:cNvPr id="7" name="Text Placeholder"/>
          <p:cNvSpPr>
            <a:spLocks noGrp="1"/>
          </p:cNvSpPr>
          <p:nvPr>
            <p:ph type="body" sz="quarter" idx="11" hasCustomPrompt="1"/>
          </p:nvPr>
        </p:nvSpPr>
        <p:spPr bwMode="black">
          <a:xfrm>
            <a:off x="503999" y="1548000"/>
            <a:ext cx="7092000" cy="4788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29579100"/>
      </p:ext>
    </p:extLst>
  </p:cSld>
  <p:clrMapOvr>
    <a:masterClrMapping/>
  </p:clrMapOvr>
  <p:extLst>
    <p:ext uri="{DCECCB84-F9BA-43D5-87BE-67443E8EF086}">
      <p15:sldGuideLst xmlns:p15="http://schemas.microsoft.com/office/powerpoint/2012/main">
        <p15:guide id="1" pos="314">
          <p15:clr>
            <a:srgbClr val="FBAE40"/>
          </p15:clr>
        </p15:guide>
        <p15:guide id="2" orient="horz" pos="3991">
          <p15:clr>
            <a:srgbClr val="FBAE40"/>
          </p15:clr>
        </p15:guide>
        <p15:guide id="3" pos="4786">
          <p15:clr>
            <a:srgbClr val="FBAE40"/>
          </p15:clr>
        </p15:guide>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34172059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557338"/>
            <a:ext cx="5328000" cy="4788000"/>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dirty="0"/>
              <a:t>Click icon to add screenshot</a:t>
            </a:r>
            <a:endParaRPr lang="de-DE" dirty="0"/>
          </a:p>
        </p:txBody>
      </p:sp>
      <p:sp>
        <p:nvSpPr>
          <p:cNvPr id="4" name="Text Placeholder"/>
          <p:cNvSpPr>
            <a:spLocks noGrp="1"/>
          </p:cNvSpPr>
          <p:nvPr>
            <p:ph type="body" sz="quarter" idx="10" hasCustomPrompt="1"/>
          </p:nvPr>
        </p:nvSpPr>
        <p:spPr>
          <a:xfrm>
            <a:off x="504000" y="1548000"/>
            <a:ext cx="5328000" cy="4788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621462660"/>
      </p:ext>
    </p:extLst>
  </p:cSld>
  <p:clrMapOvr>
    <a:masterClrMapping/>
  </p:clrMapOvr>
  <p:extLst>
    <p:ext uri="{DCECCB84-F9BA-43D5-87BE-67443E8EF086}">
      <p15:sldGuideLst xmlns:p15="http://schemas.microsoft.com/office/powerpoint/2012/main">
        <p15:guide id="1" pos="314">
          <p15:clr>
            <a:srgbClr val="FBAE40"/>
          </p15:clr>
        </p15:guide>
        <p15:guide id="2" orient="horz" pos="972">
          <p15:clr>
            <a:srgbClr val="FBAE40"/>
          </p15:clr>
        </p15:guide>
        <p15:guide id="3" pos="3674">
          <p15:clr>
            <a:srgbClr val="FBAE40"/>
          </p15:clr>
        </p15:guide>
        <p15:guide id="4" pos="4008">
          <p15:clr>
            <a:srgbClr val="FBAE40"/>
          </p15:clr>
        </p15:guide>
        <p15:guide id="5" pos="7364">
          <p15:clr>
            <a:srgbClr val="FBAE40"/>
          </p15:clr>
        </p15:guide>
        <p15:guide id="6" orient="horz" pos="317">
          <p15:clr>
            <a:srgbClr val="FBAE40"/>
          </p15:clr>
        </p15:guide>
        <p15:guide id="7" orient="horz" pos="551">
          <p15:clr>
            <a:srgbClr val="FBAE40"/>
          </p15:clr>
        </p15:guide>
        <p15:guide id="8" orient="horz" pos="399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788000"/>
          </a:xfrm>
          <a:noFill/>
        </p:spPr>
        <p:txBody>
          <a:bodyPr tIns="1368000"/>
          <a:lstStyle>
            <a:lvl1pPr algn="ctr">
              <a:defRPr sz="1400" b="0"/>
            </a:lvl1pPr>
          </a:lstStyle>
          <a:p>
            <a:pPr lvl="0"/>
            <a:r>
              <a:rPr lang="en-US" dirty="0"/>
              <a:t>Click to add content</a:t>
            </a:r>
          </a:p>
        </p:txBody>
      </p:sp>
      <p:sp>
        <p:nvSpPr>
          <p:cNvPr id="2" name="Title"/>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979400934"/>
      </p:ext>
    </p:extLst>
  </p:cSld>
  <p:clrMapOvr>
    <a:masterClrMapping/>
  </p:clrMapOvr>
  <p:extLst>
    <p:ext uri="{DCECCB84-F9BA-43D5-87BE-67443E8EF086}">
      <p15:sldGuideLst xmlns:p15="http://schemas.microsoft.com/office/powerpoint/2012/main">
        <p15:guide id="1" pos="314">
          <p15:clr>
            <a:srgbClr val="FBAE40"/>
          </p15:clr>
        </p15:guide>
        <p15:guide id="2" orient="horz" pos="317">
          <p15:clr>
            <a:srgbClr val="FBAE40"/>
          </p15:clr>
        </p15:guide>
        <p15:guide id="3" orient="horz" pos="551">
          <p15:clr>
            <a:srgbClr val="FBAE40"/>
          </p15:clr>
        </p15:guide>
        <p15:guide id="4" orient="horz" pos="972">
          <p15:clr>
            <a:srgbClr val="FBAE40"/>
          </p15:clr>
        </p15:guide>
        <p15:guide id="5" orient="horz" pos="3991">
          <p15:clr>
            <a:srgbClr val="FBAE40"/>
          </p15:clr>
        </p15:guide>
        <p15:guide id="6" pos="73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687113"/>
      </p:ext>
    </p:extLst>
  </p:cSld>
  <p:clrMapOvr>
    <a:masterClrMapping/>
  </p:clrMapOvr>
  <p:extLst>
    <p:ext uri="{DCECCB84-F9BA-43D5-87BE-67443E8EF086}">
      <p15:sldGuideLst xmlns:p15="http://schemas.microsoft.com/office/powerpoint/2012/main">
        <p15:guide id="1" orient="horz" pos="2160">
          <p15:clr>
            <a:srgbClr val="FBAE40"/>
          </p15:clr>
        </p15:guide>
        <p15:guide id="2" pos="384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hank You, Contact and Copyrigh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3C5639-DDA2-864A-9DC3-7FC80AC852D5}"/>
              </a:ext>
            </a:extLst>
          </p:cNvPr>
          <p:cNvSpPr txBox="1"/>
          <p:nvPr userDrawn="1"/>
        </p:nvSpPr>
        <p:spPr>
          <a:xfrm>
            <a:off x="503238" y="2905125"/>
            <a:ext cx="1837041" cy="246221"/>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en-US" sz="1600" b="0" i="0">
                <a:latin typeface="+mn-lt"/>
              </a:rPr>
              <a:t>Contact information:</a:t>
            </a:r>
          </a:p>
        </p:txBody>
      </p:sp>
      <p:sp>
        <p:nvSpPr>
          <p:cNvPr id="9" name="Copyright - Dynamic" descr="{&quot;templafy&quot;:{&quot;id&quot;:&quot;10f2c249-a841-4853-9d96-d30d8cfb31f5&quot;}}">
            <a:extLst>
              <a:ext uri="{FF2B5EF4-FFF2-40B4-BE49-F238E27FC236}">
                <a16:creationId xmlns:a16="http://schemas.microsoft.com/office/drawing/2014/main" id="{EDAF1AF5-D568-20CC-6052-F655D86F5486}"/>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latin typeface="+mn-lt"/>
              </a:rPr>
              <a:t>© 2025 SAP SE or an SAP affiliate company. All rights reserved. See Legal Notice on www.sap.com/legal-notice for use terms, disclaimers, disclosures, or restrictions related to this material.</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238" y="1543050"/>
            <a:ext cx="5413477" cy="846386"/>
          </a:xfrm>
        </p:spPr>
        <p:txBody>
          <a:bodyPr/>
          <a:lstStyle>
            <a:lvl1pPr>
              <a:defRPr sz="5500" b="0" i="0">
                <a:latin typeface="72 Brand Medium" panose="020B0504030603020204" pitchFamily="34" charset="0"/>
              </a:defRPr>
            </a:lvl1pPr>
          </a:lstStyle>
          <a:p>
            <a:r>
              <a:rPr lang="en-GB" dirty="0"/>
              <a:t>Thank you.</a:t>
            </a:r>
            <a:endParaRPr lang="en-US" dirty="0"/>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stretch>
            <a:fillRect/>
          </a:stretch>
        </p:blipFill>
        <p:spPr>
          <a:xfrm>
            <a:off x="8183947" y="5990000"/>
            <a:ext cx="3506403" cy="360000"/>
          </a:xfrm>
          <a:prstGeom prst="rect">
            <a:avLst/>
          </a:prstGeom>
        </p:spPr>
      </p:pic>
    </p:spTree>
    <p:extLst>
      <p:ext uri="{BB962C8B-B14F-4D97-AF65-F5344CB8AC3E}">
        <p14:creationId xmlns:p14="http://schemas.microsoft.com/office/powerpoint/2010/main" val="4008280422"/>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1">
          <p15:clr>
            <a:srgbClr val="FBAE40"/>
          </p15:clr>
        </p15:guide>
        <p15:guide id="9" orient="horz" pos="318">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87.xml"/><Relationship Id="rId21" Type="http://schemas.openxmlformats.org/officeDocument/2006/relationships/slideLayout" Target="../slideLayouts/slideLayout21.xml"/><Relationship Id="rId42" Type="http://schemas.openxmlformats.org/officeDocument/2006/relationships/tags" Target="../tags/tag12.xml"/><Relationship Id="rId63" Type="http://schemas.openxmlformats.org/officeDocument/2006/relationships/tags" Target="../tags/tag33.xml"/><Relationship Id="rId84" Type="http://schemas.openxmlformats.org/officeDocument/2006/relationships/tags" Target="../tags/tag54.xml"/><Relationship Id="rId138" Type="http://schemas.openxmlformats.org/officeDocument/2006/relationships/tags" Target="../tags/tag108.xml"/><Relationship Id="rId107" Type="http://schemas.openxmlformats.org/officeDocument/2006/relationships/tags" Target="../tags/tag77.xml"/><Relationship Id="rId11" Type="http://schemas.openxmlformats.org/officeDocument/2006/relationships/slideLayout" Target="../slideLayouts/slideLayout11.xml"/><Relationship Id="rId32" Type="http://schemas.openxmlformats.org/officeDocument/2006/relationships/tags" Target="../tags/tag2.xml"/><Relationship Id="rId53" Type="http://schemas.openxmlformats.org/officeDocument/2006/relationships/tags" Target="../tags/tag23.xml"/><Relationship Id="rId74" Type="http://schemas.openxmlformats.org/officeDocument/2006/relationships/tags" Target="../tags/tag44.xml"/><Relationship Id="rId128" Type="http://schemas.openxmlformats.org/officeDocument/2006/relationships/tags" Target="../tags/tag98.xml"/><Relationship Id="rId149" Type="http://schemas.openxmlformats.org/officeDocument/2006/relationships/tags" Target="../tags/tag119.xml"/><Relationship Id="rId5" Type="http://schemas.openxmlformats.org/officeDocument/2006/relationships/slideLayout" Target="../slideLayouts/slideLayout5.xml"/><Relationship Id="rId95" Type="http://schemas.openxmlformats.org/officeDocument/2006/relationships/tags" Target="../tags/tag6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tags" Target="../tags/tag13.xml"/><Relationship Id="rId48" Type="http://schemas.openxmlformats.org/officeDocument/2006/relationships/tags" Target="../tags/tag18.xml"/><Relationship Id="rId64" Type="http://schemas.openxmlformats.org/officeDocument/2006/relationships/tags" Target="../tags/tag34.xml"/><Relationship Id="rId69" Type="http://schemas.openxmlformats.org/officeDocument/2006/relationships/tags" Target="../tags/tag39.xml"/><Relationship Id="rId113" Type="http://schemas.openxmlformats.org/officeDocument/2006/relationships/tags" Target="../tags/tag83.xml"/><Relationship Id="rId118" Type="http://schemas.openxmlformats.org/officeDocument/2006/relationships/tags" Target="../tags/tag88.xml"/><Relationship Id="rId134" Type="http://schemas.openxmlformats.org/officeDocument/2006/relationships/tags" Target="../tags/tag104.xml"/><Relationship Id="rId139" Type="http://schemas.openxmlformats.org/officeDocument/2006/relationships/tags" Target="../tags/tag109.xml"/><Relationship Id="rId80" Type="http://schemas.openxmlformats.org/officeDocument/2006/relationships/tags" Target="../tags/tag50.xml"/><Relationship Id="rId85" Type="http://schemas.openxmlformats.org/officeDocument/2006/relationships/tags" Target="../tags/tag55.xml"/><Relationship Id="rId150" Type="http://schemas.openxmlformats.org/officeDocument/2006/relationships/tags" Target="../tags/tag120.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tags" Target="../tags/tag3.xml"/><Relationship Id="rId38" Type="http://schemas.openxmlformats.org/officeDocument/2006/relationships/tags" Target="../tags/tag8.xml"/><Relationship Id="rId59" Type="http://schemas.openxmlformats.org/officeDocument/2006/relationships/tags" Target="../tags/tag29.xml"/><Relationship Id="rId103" Type="http://schemas.openxmlformats.org/officeDocument/2006/relationships/tags" Target="../tags/tag73.xml"/><Relationship Id="rId108" Type="http://schemas.openxmlformats.org/officeDocument/2006/relationships/tags" Target="../tags/tag78.xml"/><Relationship Id="rId124" Type="http://schemas.openxmlformats.org/officeDocument/2006/relationships/tags" Target="../tags/tag94.xml"/><Relationship Id="rId129" Type="http://schemas.openxmlformats.org/officeDocument/2006/relationships/tags" Target="../tags/tag99.xml"/><Relationship Id="rId54" Type="http://schemas.openxmlformats.org/officeDocument/2006/relationships/tags" Target="../tags/tag24.xml"/><Relationship Id="rId70" Type="http://schemas.openxmlformats.org/officeDocument/2006/relationships/tags" Target="../tags/tag40.xml"/><Relationship Id="rId75" Type="http://schemas.openxmlformats.org/officeDocument/2006/relationships/tags" Target="../tags/tag45.xml"/><Relationship Id="rId91" Type="http://schemas.openxmlformats.org/officeDocument/2006/relationships/tags" Target="../tags/tag61.xml"/><Relationship Id="rId96" Type="http://schemas.openxmlformats.org/officeDocument/2006/relationships/tags" Target="../tags/tag66.xml"/><Relationship Id="rId140" Type="http://schemas.openxmlformats.org/officeDocument/2006/relationships/tags" Target="../tags/tag110.xml"/><Relationship Id="rId145" Type="http://schemas.openxmlformats.org/officeDocument/2006/relationships/tags" Target="../tags/tag115.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tags" Target="../tags/tag19.xml"/><Relationship Id="rId114" Type="http://schemas.openxmlformats.org/officeDocument/2006/relationships/tags" Target="../tags/tag84.xml"/><Relationship Id="rId119" Type="http://schemas.openxmlformats.org/officeDocument/2006/relationships/tags" Target="../tags/tag89.xml"/><Relationship Id="rId44" Type="http://schemas.openxmlformats.org/officeDocument/2006/relationships/tags" Target="../tags/tag14.xml"/><Relationship Id="rId60" Type="http://schemas.openxmlformats.org/officeDocument/2006/relationships/tags" Target="../tags/tag30.xml"/><Relationship Id="rId65" Type="http://schemas.openxmlformats.org/officeDocument/2006/relationships/tags" Target="../tags/tag35.xml"/><Relationship Id="rId81" Type="http://schemas.openxmlformats.org/officeDocument/2006/relationships/tags" Target="../tags/tag51.xml"/><Relationship Id="rId86" Type="http://schemas.openxmlformats.org/officeDocument/2006/relationships/tags" Target="../tags/tag56.xml"/><Relationship Id="rId130" Type="http://schemas.openxmlformats.org/officeDocument/2006/relationships/tags" Target="../tags/tag100.xml"/><Relationship Id="rId135" Type="http://schemas.openxmlformats.org/officeDocument/2006/relationships/tags" Target="../tags/tag105.xml"/><Relationship Id="rId151" Type="http://schemas.openxmlformats.org/officeDocument/2006/relationships/tags" Target="../tags/tag121.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9.xml"/><Relationship Id="rId109" Type="http://schemas.openxmlformats.org/officeDocument/2006/relationships/tags" Target="../tags/tag79.xml"/><Relationship Id="rId34" Type="http://schemas.openxmlformats.org/officeDocument/2006/relationships/tags" Target="../tags/tag4.xml"/><Relationship Id="rId50" Type="http://schemas.openxmlformats.org/officeDocument/2006/relationships/tags" Target="../tags/tag20.xml"/><Relationship Id="rId55" Type="http://schemas.openxmlformats.org/officeDocument/2006/relationships/tags" Target="../tags/tag25.xml"/><Relationship Id="rId76" Type="http://schemas.openxmlformats.org/officeDocument/2006/relationships/tags" Target="../tags/tag46.xml"/><Relationship Id="rId97" Type="http://schemas.openxmlformats.org/officeDocument/2006/relationships/tags" Target="../tags/tag67.xml"/><Relationship Id="rId104" Type="http://schemas.openxmlformats.org/officeDocument/2006/relationships/tags" Target="../tags/tag74.xml"/><Relationship Id="rId120" Type="http://schemas.openxmlformats.org/officeDocument/2006/relationships/tags" Target="../tags/tag90.xml"/><Relationship Id="rId125" Type="http://schemas.openxmlformats.org/officeDocument/2006/relationships/tags" Target="../tags/tag95.xml"/><Relationship Id="rId141" Type="http://schemas.openxmlformats.org/officeDocument/2006/relationships/tags" Target="../tags/tag111.xml"/><Relationship Id="rId146" Type="http://schemas.openxmlformats.org/officeDocument/2006/relationships/tags" Target="../tags/tag116.xml"/><Relationship Id="rId7" Type="http://schemas.openxmlformats.org/officeDocument/2006/relationships/slideLayout" Target="../slideLayouts/slideLayout7.xml"/><Relationship Id="rId71" Type="http://schemas.openxmlformats.org/officeDocument/2006/relationships/tags" Target="../tags/tag41.xml"/><Relationship Id="rId92" Type="http://schemas.openxmlformats.org/officeDocument/2006/relationships/tags" Target="../tags/tag6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tags" Target="../tags/tag10.xml"/><Relationship Id="rId45" Type="http://schemas.openxmlformats.org/officeDocument/2006/relationships/tags" Target="../tags/tag15.xml"/><Relationship Id="rId66" Type="http://schemas.openxmlformats.org/officeDocument/2006/relationships/tags" Target="../tags/tag36.xml"/><Relationship Id="rId87" Type="http://schemas.openxmlformats.org/officeDocument/2006/relationships/tags" Target="../tags/tag57.xml"/><Relationship Id="rId110" Type="http://schemas.openxmlformats.org/officeDocument/2006/relationships/tags" Target="../tags/tag80.xml"/><Relationship Id="rId115" Type="http://schemas.openxmlformats.org/officeDocument/2006/relationships/tags" Target="../tags/tag85.xml"/><Relationship Id="rId131" Type="http://schemas.openxmlformats.org/officeDocument/2006/relationships/tags" Target="../tags/tag101.xml"/><Relationship Id="rId136" Type="http://schemas.openxmlformats.org/officeDocument/2006/relationships/tags" Target="../tags/tag106.xml"/><Relationship Id="rId61" Type="http://schemas.openxmlformats.org/officeDocument/2006/relationships/tags" Target="../tags/tag31.xml"/><Relationship Id="rId82" Type="http://schemas.openxmlformats.org/officeDocument/2006/relationships/tags" Target="../tags/tag52.xml"/><Relationship Id="rId152" Type="http://schemas.openxmlformats.org/officeDocument/2006/relationships/tags" Target="../tags/tag12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tags" Target="../tags/tag5.xml"/><Relationship Id="rId56" Type="http://schemas.openxmlformats.org/officeDocument/2006/relationships/tags" Target="../tags/tag26.xml"/><Relationship Id="rId77" Type="http://schemas.openxmlformats.org/officeDocument/2006/relationships/tags" Target="../tags/tag47.xml"/><Relationship Id="rId100" Type="http://schemas.openxmlformats.org/officeDocument/2006/relationships/tags" Target="../tags/tag70.xml"/><Relationship Id="rId105" Type="http://schemas.openxmlformats.org/officeDocument/2006/relationships/tags" Target="../tags/tag75.xml"/><Relationship Id="rId126" Type="http://schemas.openxmlformats.org/officeDocument/2006/relationships/tags" Target="../tags/tag96.xml"/><Relationship Id="rId147" Type="http://schemas.openxmlformats.org/officeDocument/2006/relationships/tags" Target="../tags/tag117.xml"/><Relationship Id="rId8" Type="http://schemas.openxmlformats.org/officeDocument/2006/relationships/slideLayout" Target="../slideLayouts/slideLayout8.xml"/><Relationship Id="rId51" Type="http://schemas.openxmlformats.org/officeDocument/2006/relationships/tags" Target="../tags/tag21.xml"/><Relationship Id="rId72" Type="http://schemas.openxmlformats.org/officeDocument/2006/relationships/tags" Target="../tags/tag42.xml"/><Relationship Id="rId93" Type="http://schemas.openxmlformats.org/officeDocument/2006/relationships/tags" Target="../tags/tag63.xml"/><Relationship Id="rId98" Type="http://schemas.openxmlformats.org/officeDocument/2006/relationships/tags" Target="../tags/tag68.xml"/><Relationship Id="rId121" Type="http://schemas.openxmlformats.org/officeDocument/2006/relationships/tags" Target="../tags/tag91.xml"/><Relationship Id="rId142" Type="http://schemas.openxmlformats.org/officeDocument/2006/relationships/tags" Target="../tags/tag11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tags" Target="../tags/tag16.xml"/><Relationship Id="rId67" Type="http://schemas.openxmlformats.org/officeDocument/2006/relationships/tags" Target="../tags/tag37.xml"/><Relationship Id="rId116" Type="http://schemas.openxmlformats.org/officeDocument/2006/relationships/tags" Target="../tags/tag86.xml"/><Relationship Id="rId137" Type="http://schemas.openxmlformats.org/officeDocument/2006/relationships/tags" Target="../tags/tag107.xml"/><Relationship Id="rId20" Type="http://schemas.openxmlformats.org/officeDocument/2006/relationships/slideLayout" Target="../slideLayouts/slideLayout20.xml"/><Relationship Id="rId41" Type="http://schemas.openxmlformats.org/officeDocument/2006/relationships/tags" Target="../tags/tag11.xml"/><Relationship Id="rId62" Type="http://schemas.openxmlformats.org/officeDocument/2006/relationships/tags" Target="../tags/tag32.xml"/><Relationship Id="rId83" Type="http://schemas.openxmlformats.org/officeDocument/2006/relationships/tags" Target="../tags/tag53.xml"/><Relationship Id="rId88" Type="http://schemas.openxmlformats.org/officeDocument/2006/relationships/tags" Target="../tags/tag58.xml"/><Relationship Id="rId111" Type="http://schemas.openxmlformats.org/officeDocument/2006/relationships/tags" Target="../tags/tag81.xml"/><Relationship Id="rId132" Type="http://schemas.openxmlformats.org/officeDocument/2006/relationships/tags" Target="../tags/tag102.xml"/><Relationship Id="rId153" Type="http://schemas.openxmlformats.org/officeDocument/2006/relationships/tags" Target="../tags/tag123.xml"/><Relationship Id="rId15" Type="http://schemas.openxmlformats.org/officeDocument/2006/relationships/slideLayout" Target="../slideLayouts/slideLayout15.xml"/><Relationship Id="rId36" Type="http://schemas.openxmlformats.org/officeDocument/2006/relationships/tags" Target="../tags/tag6.xml"/><Relationship Id="rId57" Type="http://schemas.openxmlformats.org/officeDocument/2006/relationships/tags" Target="../tags/tag27.xml"/><Relationship Id="rId106" Type="http://schemas.openxmlformats.org/officeDocument/2006/relationships/tags" Target="../tags/tag76.xml"/><Relationship Id="rId127" Type="http://schemas.openxmlformats.org/officeDocument/2006/relationships/tags" Target="../tags/tag97.xml"/><Relationship Id="rId10" Type="http://schemas.openxmlformats.org/officeDocument/2006/relationships/slideLayout" Target="../slideLayouts/slideLayout10.xml"/><Relationship Id="rId31" Type="http://schemas.openxmlformats.org/officeDocument/2006/relationships/theme" Target="../theme/theme1.xml"/><Relationship Id="rId52" Type="http://schemas.openxmlformats.org/officeDocument/2006/relationships/tags" Target="../tags/tag22.xml"/><Relationship Id="rId73" Type="http://schemas.openxmlformats.org/officeDocument/2006/relationships/tags" Target="../tags/tag43.xml"/><Relationship Id="rId78" Type="http://schemas.openxmlformats.org/officeDocument/2006/relationships/tags" Target="../tags/tag48.xml"/><Relationship Id="rId94" Type="http://schemas.openxmlformats.org/officeDocument/2006/relationships/tags" Target="../tags/tag64.xml"/><Relationship Id="rId99" Type="http://schemas.openxmlformats.org/officeDocument/2006/relationships/tags" Target="../tags/tag69.xml"/><Relationship Id="rId101" Type="http://schemas.openxmlformats.org/officeDocument/2006/relationships/tags" Target="../tags/tag71.xml"/><Relationship Id="rId122" Type="http://schemas.openxmlformats.org/officeDocument/2006/relationships/tags" Target="../tags/tag92.xml"/><Relationship Id="rId143" Type="http://schemas.openxmlformats.org/officeDocument/2006/relationships/tags" Target="../tags/tag113.xml"/><Relationship Id="rId148" Type="http://schemas.openxmlformats.org/officeDocument/2006/relationships/tags" Target="../tags/tag118.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tags" Target="../tags/tag17.xml"/><Relationship Id="rId68" Type="http://schemas.openxmlformats.org/officeDocument/2006/relationships/tags" Target="../tags/tag38.xml"/><Relationship Id="rId89" Type="http://schemas.openxmlformats.org/officeDocument/2006/relationships/tags" Target="../tags/tag59.xml"/><Relationship Id="rId112" Type="http://schemas.openxmlformats.org/officeDocument/2006/relationships/tags" Target="../tags/tag82.xml"/><Relationship Id="rId133" Type="http://schemas.openxmlformats.org/officeDocument/2006/relationships/tags" Target="../tags/tag103.xml"/><Relationship Id="rId154" Type="http://schemas.openxmlformats.org/officeDocument/2006/relationships/tags" Target="../tags/tag124.xml"/><Relationship Id="rId16" Type="http://schemas.openxmlformats.org/officeDocument/2006/relationships/slideLayout" Target="../slideLayouts/slideLayout16.xml"/><Relationship Id="rId37" Type="http://schemas.openxmlformats.org/officeDocument/2006/relationships/tags" Target="../tags/tag7.xml"/><Relationship Id="rId58" Type="http://schemas.openxmlformats.org/officeDocument/2006/relationships/tags" Target="../tags/tag28.xml"/><Relationship Id="rId79" Type="http://schemas.openxmlformats.org/officeDocument/2006/relationships/tags" Target="../tags/tag49.xml"/><Relationship Id="rId102" Type="http://schemas.openxmlformats.org/officeDocument/2006/relationships/tags" Target="../tags/tag72.xml"/><Relationship Id="rId123" Type="http://schemas.openxmlformats.org/officeDocument/2006/relationships/tags" Target="../tags/tag93.xml"/><Relationship Id="rId144" Type="http://schemas.openxmlformats.org/officeDocument/2006/relationships/tags" Target="../tags/tag114.xml"/><Relationship Id="rId90" Type="http://schemas.openxmlformats.org/officeDocument/2006/relationships/tags" Target="../tags/tag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57293E41-954C-9E9C-7DE2-32FEDBD5A1C6}"/>
              </a:ext>
            </a:extLst>
          </p:cNvPr>
          <p:cNvSpPr/>
          <p:nvPr userDrawn="1"/>
        </p:nvSpPr>
        <p:spPr bwMode="gray">
          <a:xfrm>
            <a:off x="-1" y="0"/>
            <a:ext cx="12195175" cy="6858000"/>
          </a:xfrm>
          <a:prstGeom prst="rect">
            <a:avLst/>
          </a:prstGeom>
          <a:solidFill>
            <a:schemeClr val="bg1"/>
          </a:solidFill>
          <a:ln w="15238" cap="flat">
            <a:noFill/>
            <a:prstDash val="solid"/>
            <a:miter/>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latin typeface="72 Brand" panose="020B0504030603020204" pitchFamily="34" charset="0"/>
              <a:ea typeface="Arial Unicode MS" pitchFamily="34" charset="-128"/>
              <a:cs typeface="Arial Unicode MS" pitchFamily="34" charset="-128"/>
            </a:endParaRPr>
          </a:p>
        </p:txBody>
      </p:sp>
      <p:sp>
        <p:nvSpPr>
          <p:cNvPr id="34" name="Slide numbe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dirty="0">
              <a:latin typeface="+mn-lt"/>
            </a:endParaRPr>
          </a:p>
        </p:txBody>
      </p:sp>
      <p:sp>
        <p:nvSpPr>
          <p:cNvPr id="12" name="Copyright Placeholder" descr="{&quot;templafy&quot;:{&quot;id&quot;:&quot;47074583-f1ce-45ff-82f7-f07fe3750518&quot;}}">
            <a:extLst>
              <a:ext uri="{FF2B5EF4-FFF2-40B4-BE49-F238E27FC236}">
                <a16:creationId xmlns:a16="http://schemas.microsoft.com/office/drawing/2014/main" id="{539D88F9-B48F-F143-B90F-EDFB85A350E8}"/>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endParaRPr lang="en-US" sz="600" b="0" i="0" dirty="0">
              <a:latin typeface="Arial" panose="020B0604020202020204" pitchFamily="34" charset="0"/>
            </a:endParaRPr>
          </a:p>
        </p:txBody>
      </p:sp>
      <p:sp>
        <p:nvSpPr>
          <p:cNvPr id="3" name="Text Placeholder"/>
          <p:cNvSpPr>
            <a:spLocks noGrp="1"/>
          </p:cNvSpPr>
          <p:nvPr userDrawn="1">
            <p:ph type="body" idx="1"/>
          </p:nvPr>
        </p:nvSpPr>
        <p:spPr bwMode="black">
          <a:xfrm>
            <a:off x="504001" y="1548560"/>
            <a:ext cx="11186476" cy="4788000"/>
          </a:xfrm>
          <a:prstGeom prst="rect">
            <a:avLst/>
          </a:prstGeom>
        </p:spPr>
        <p:txBody>
          <a:bodyPr vert="horz" lIns="0" tIns="0" rIns="0" bIns="0" rtlCol="0">
            <a:noAutofit/>
          </a:bodyPr>
          <a:lstStyle/>
          <a:p>
            <a:pPr lvl="0"/>
            <a:r>
              <a:rPr lang="en-GB" dirty="0"/>
              <a:t>Start typing to add text without a bullet point. To add a bullet point, place the cursor at the start of this line and press tab.</a:t>
            </a:r>
            <a:endParaRPr lang="en-US" noProof="0" dirty="0"/>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2"/>
            </p:custDataLst>
          </p:nvPr>
        </p:nvGrpSpPr>
        <p:grpSpPr>
          <a:xfrm>
            <a:off x="3938798" y="3978000"/>
            <a:ext cx="1024878"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51"/>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3"/>
            </p:custDataLst>
          </p:nvPr>
        </p:nvGrpSpPr>
        <p:grpSpPr>
          <a:xfrm>
            <a:off x="5391506" y="3978000"/>
            <a:ext cx="1024878"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6"/>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49"/>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50"/>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4"/>
            </p:custDataLst>
          </p:nvPr>
        </p:nvGrpSpPr>
        <p:grpSpPr>
          <a:xfrm>
            <a:off x="6844214" y="3978000"/>
            <a:ext cx="1024878"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7"/>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4"/>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5"/>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Arial" panose="020B0604020202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5"/>
            </p:custDataLst>
          </p:nvPr>
        </p:nvGrpSpPr>
        <p:grpSpPr>
          <a:xfrm>
            <a:off x="8296922" y="3978000"/>
            <a:ext cx="1024878"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6"/>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b="0" i="0">
                <a:latin typeface="Arial" panose="020B0604020202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b="0" i="0">
                <a:latin typeface="Arial" panose="020B0604020202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dirty="0">
                <a:latin typeface="Arial" panose="020B0604020202020204" pitchFamily="34" charset="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3CB674C2-91C9-46E6-8AB4-E90ABF1CAFE0}"/>
              </a:ext>
            </a:extLst>
          </p:cNvPr>
          <p:cNvSpPr>
            <a:spLocks/>
          </p:cNvSpPr>
          <p:nvPr userDrawn="1"/>
        </p:nvSpPr>
        <p:spPr>
          <a:xfrm>
            <a:off x="10071105" y="896931"/>
            <a:ext cx="2124070" cy="59540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Responsible: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Name Lastname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71105" y="896920"/>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3344" y="1097679"/>
            <a:ext cx="2479101" cy="1277432"/>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&lt;/date&gt;: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A0A0A"/>
              </a:solidFill>
              <a:effectLst/>
              <a:uLnTx/>
              <a:uFillTx/>
              <a:latin typeface="Arial" panose="020B0604020202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3344" y="1097671"/>
            <a:ext cx="2479101" cy="1277440"/>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dirty="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dirty="0">
                <a:ln>
                  <a:noFill/>
                </a:ln>
                <a:solidFill>
                  <a:srgbClr val="0A0A0A"/>
                </a:solidFill>
                <a:effectLst/>
                <a:uLnTx/>
                <a:uFillTx/>
                <a:latin typeface="Arial" panose="020B0604020202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6643" y="2819462"/>
            <a:ext cx="6361889"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800" b="0" i="0" u="none" strike="noStrike" kern="0" cap="none" spc="0" normalizeH="0" baseline="0" noProof="0" dirty="0">
                <a:ln>
                  <a:noFill/>
                </a:ln>
                <a:solidFill>
                  <a:schemeClr val="tx2"/>
                </a:solidFill>
                <a:effectLst/>
                <a:uLnTx/>
                <a:uFillTx/>
                <a:latin typeface="Arial" panose="020B0604020202020204" pitchFamily="34" charset="0"/>
                <a:ea typeface="Arial Unicode MS" pitchFamily="34" charset="-128"/>
                <a:cs typeface="Arial Unicode MS" pitchFamily="34" charset="-128"/>
              </a:rPr>
              <a:t>DRAFT</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 id="2147483774" r:id="rId18"/>
    <p:sldLayoutId id="2147483793" r:id="rId19"/>
    <p:sldLayoutId id="2147483794" r:id="rId20"/>
    <p:sldLayoutId id="2147483795" r:id="rId21"/>
    <p:sldLayoutId id="2147483796" r:id="rId22"/>
    <p:sldLayoutId id="2147483797" r:id="rId23"/>
    <p:sldLayoutId id="2147483798" r:id="rId24"/>
    <p:sldLayoutId id="2147483799" r:id="rId25"/>
    <p:sldLayoutId id="2147483800" r:id="rId26"/>
    <p:sldLayoutId id="2147483801" r:id="rId27"/>
    <p:sldLayoutId id="2147483802" r:id="rId28"/>
    <p:sldLayoutId id="2147483803" r:id="rId29"/>
    <p:sldLayoutId id="2147483804" r:id="rId30"/>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1800"/>
        </a:spcBef>
        <a:buClrTx/>
        <a:buSzPct val="100000"/>
        <a:buFont typeface="Roboto" panose="02000000000000000000" pitchFamily="2" charset="0"/>
        <a:buChar char="​"/>
        <a:defRPr sz="2000" b="0" i="0" kern="1200">
          <a:solidFill>
            <a:schemeClr val="tx1"/>
          </a:solidFill>
          <a:latin typeface="72 Brand" panose="020B0504030603020204" pitchFamily="34" charset="0"/>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72 Brand" panose="020B0504030603020204" pitchFamily="34" charset="0"/>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72 Brand" panose="020B0504030603020204" pitchFamily="34" charset="0"/>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72 Brand" panose="020B0504030603020204" pitchFamily="34" charset="0"/>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72 Brand" panose="020B0504030603020204" pitchFamily="34" charset="0"/>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11.xml"/><Relationship Id="rId1" Type="http://schemas.openxmlformats.org/officeDocument/2006/relationships/customXml" Target="../../customXml/item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2.xml"/><Relationship Id="rId1" Type="http://schemas.openxmlformats.org/officeDocument/2006/relationships/customXml" Target="../../customXml/item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12.xml"/><Relationship Id="rId1" Type="http://schemas.openxmlformats.org/officeDocument/2006/relationships/customXml" Target="../../customXml/item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8.xml"/><Relationship Id="rId1" Type="http://schemas.openxmlformats.org/officeDocument/2006/relationships/customXml" Target="../../customXml/item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92746-94ED-17CE-9A64-B68A4E9FF7B0}"/>
              </a:ext>
            </a:extLst>
          </p:cNvPr>
          <p:cNvSpPr>
            <a:spLocks noGrp="1"/>
          </p:cNvSpPr>
          <p:nvPr>
            <p:ph type="title"/>
          </p:nvPr>
        </p:nvSpPr>
        <p:spPr/>
        <p:txBody>
          <a:bodyPr/>
          <a:lstStyle/>
          <a:p>
            <a:r>
              <a:rPr lang="en-US" dirty="0" err="1"/>
              <a:t>PiLog</a:t>
            </a:r>
            <a:r>
              <a:rPr lang="en-US" dirty="0"/>
              <a:t>-BNAC</a:t>
            </a:r>
            <a:br>
              <a:rPr lang="en-US" dirty="0"/>
            </a:br>
            <a:r>
              <a:rPr lang="en-US" dirty="0"/>
              <a:t>Partnership Scope</a:t>
            </a:r>
            <a:endParaRPr lang="en-DE" dirty="0"/>
          </a:p>
        </p:txBody>
      </p:sp>
    </p:spTree>
    <p:extLst>
      <p:ext uri="{BB962C8B-B14F-4D97-AF65-F5344CB8AC3E}">
        <p14:creationId xmlns:p14="http://schemas.microsoft.com/office/powerpoint/2010/main" val="514465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824224-B8BD-B68E-CF11-C096BECAB2AF}"/>
              </a:ext>
            </a:extLst>
          </p:cNvPr>
          <p:cNvSpPr>
            <a:spLocks noGrp="1"/>
          </p:cNvSpPr>
          <p:nvPr>
            <p:ph type="body" sz="quarter" idx="10"/>
          </p:nvPr>
        </p:nvSpPr>
        <p:spPr/>
        <p:txBody>
          <a:bodyPr/>
          <a:lstStyle/>
          <a:p>
            <a:pPr marL="457200" indent="-457200">
              <a:buFont typeface="+mj-lt"/>
              <a:buAutoNum type="arabicPeriod"/>
            </a:pPr>
            <a:r>
              <a:rPr lang="en-US" sz="1400" dirty="0"/>
              <a:t>SAP BNAC is the one and only collaboration platform between Operators, EPCs, OEMs and Component Suppliers</a:t>
            </a:r>
          </a:p>
          <a:p>
            <a:pPr marL="457200" indent="-457200">
              <a:buFont typeface="+mj-lt"/>
              <a:buAutoNum type="arabicPeriod"/>
            </a:pPr>
            <a:r>
              <a:rPr lang="en-US" sz="1400" dirty="0"/>
              <a:t>If EPCs, OEMs and Component Suppliers are in BNAC already, then Operators will get the required content directly from these trading partners in BNAC</a:t>
            </a:r>
          </a:p>
          <a:p>
            <a:pPr marL="457200" indent="-457200">
              <a:buFont typeface="+mj-lt"/>
              <a:buAutoNum type="arabicPeriod"/>
            </a:pPr>
            <a:r>
              <a:rPr lang="en-US" sz="1400" dirty="0"/>
              <a:t>If EPCs, OEMs and Component Suppliers are not in BNAC yet, then Operators can search for/consume content related to these trading partners in </a:t>
            </a:r>
            <a:r>
              <a:rPr lang="en-US" sz="1400" dirty="0" err="1"/>
              <a:t>PiLog</a:t>
            </a:r>
            <a:r>
              <a:rPr lang="en-US" sz="1400" dirty="0"/>
              <a:t> ICF (SAP will, in any case, support the onboarding of missing trading partners as part of our enablement offer to BNAC Premium members)</a:t>
            </a:r>
          </a:p>
          <a:p>
            <a:pPr marL="457200" indent="-457200">
              <a:buFont typeface="+mj-lt"/>
              <a:buAutoNum type="arabicPeriod"/>
            </a:pPr>
            <a:r>
              <a:rPr lang="en-US" sz="1400" dirty="0"/>
              <a:t>If Operators want MDG-A capabilities on the top of the standard SAP ERP integration offered by BNAC, then </a:t>
            </a:r>
            <a:r>
              <a:rPr lang="en-US" sz="1400" dirty="0" err="1"/>
              <a:t>PiLog</a:t>
            </a:r>
            <a:r>
              <a:rPr lang="en-US" sz="1400" dirty="0"/>
              <a:t> can offer these MDG-A capabilities</a:t>
            </a:r>
          </a:p>
          <a:p>
            <a:pPr marL="457200" indent="-457200">
              <a:buFont typeface="+mj-lt"/>
              <a:buAutoNum type="arabicPeriod"/>
            </a:pPr>
            <a:r>
              <a:rPr lang="en-US" sz="1400" dirty="0" err="1"/>
              <a:t>PiLog</a:t>
            </a:r>
            <a:r>
              <a:rPr lang="en-US" sz="1400" dirty="0"/>
              <a:t> ICF can offer additional content like standards, templates, reference structures, etc. to Operators. This content should be provided to BNAC as well to support collaboration with OEMs out of these standards, templates, reference structures, etc.. </a:t>
            </a:r>
            <a:r>
              <a:rPr lang="en-US" sz="1400" dirty="0" err="1"/>
              <a:t>PiLog</a:t>
            </a:r>
            <a:r>
              <a:rPr lang="en-US" sz="1400" dirty="0"/>
              <a:t> can charge Operators for this content since this will not be part of the standard BNAC delivery (similarly to what ECLASS currently does)</a:t>
            </a:r>
          </a:p>
          <a:p>
            <a:pPr marL="457200" indent="-457200">
              <a:buFont typeface="+mj-lt"/>
              <a:buAutoNum type="arabicPeriod"/>
            </a:pPr>
            <a:r>
              <a:rPr lang="en-US" sz="1400" dirty="0" err="1"/>
              <a:t>PiLog</a:t>
            </a:r>
            <a:r>
              <a:rPr lang="en-US" sz="1400" dirty="0"/>
              <a:t> can provide additional capabilities as applications to trading partners like “Classification Mapping” and “Content Creation via AI” that BNAC currently do not support</a:t>
            </a:r>
          </a:p>
          <a:p>
            <a:pPr marL="457200" indent="-457200">
              <a:buFont typeface="+mj-lt"/>
              <a:buAutoNum type="arabicPeriod"/>
            </a:pPr>
            <a:r>
              <a:rPr lang="en-US" sz="1400" dirty="0" err="1"/>
              <a:t>PiLog</a:t>
            </a:r>
            <a:r>
              <a:rPr lang="en-US" sz="1400" dirty="0"/>
              <a:t> will provide the applications mentioned in the previous point as Fiori Tiles to be embedded in the BNAC Fiori Launch Pad to reduce, as soon as we can, the navigation of end users across different systems with different UIs</a:t>
            </a:r>
          </a:p>
          <a:p>
            <a:endParaRPr lang="en-DE" dirty="0"/>
          </a:p>
        </p:txBody>
      </p:sp>
      <p:sp>
        <p:nvSpPr>
          <p:cNvPr id="3" name="Title 2">
            <a:extLst>
              <a:ext uri="{FF2B5EF4-FFF2-40B4-BE49-F238E27FC236}">
                <a16:creationId xmlns:a16="http://schemas.microsoft.com/office/drawing/2014/main" id="{5A50607B-AF4C-594A-A7C7-251B04EB6561}"/>
              </a:ext>
            </a:extLst>
          </p:cNvPr>
          <p:cNvSpPr>
            <a:spLocks noGrp="1"/>
          </p:cNvSpPr>
          <p:nvPr>
            <p:ph type="title"/>
          </p:nvPr>
        </p:nvSpPr>
        <p:spPr>
          <a:xfrm>
            <a:off x="504001" y="504000"/>
            <a:ext cx="11186476" cy="677108"/>
          </a:xfrm>
        </p:spPr>
        <p:txBody>
          <a:bodyPr/>
          <a:lstStyle/>
          <a:p>
            <a:r>
              <a:rPr lang="en-US" dirty="0"/>
              <a:t>Partnership Scope</a:t>
            </a:r>
            <a:br>
              <a:rPr lang="en-US" dirty="0"/>
            </a:br>
            <a:r>
              <a:rPr lang="en-US" sz="2000" dirty="0">
                <a:solidFill>
                  <a:schemeClr val="tx2"/>
                </a:solidFill>
              </a:rPr>
              <a:t>Executive Summary</a:t>
            </a:r>
            <a:endParaRPr lang="en-DE" sz="2000" dirty="0">
              <a:solidFill>
                <a:schemeClr val="tx2"/>
              </a:solidFill>
            </a:endParaRPr>
          </a:p>
        </p:txBody>
      </p:sp>
    </p:spTree>
    <p:extLst>
      <p:ext uri="{BB962C8B-B14F-4D97-AF65-F5344CB8AC3E}">
        <p14:creationId xmlns:p14="http://schemas.microsoft.com/office/powerpoint/2010/main" val="925687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661AA-EF10-F596-5AE4-0152651AD98D}"/>
              </a:ext>
            </a:extLst>
          </p:cNvPr>
          <p:cNvSpPr>
            <a:spLocks noGrp="1"/>
          </p:cNvSpPr>
          <p:nvPr>
            <p:ph type="ctrTitle"/>
          </p:nvPr>
        </p:nvSpPr>
        <p:spPr/>
        <p:txBody>
          <a:bodyPr/>
          <a:lstStyle/>
          <a:p>
            <a:r>
              <a:rPr lang="en-US" dirty="0" err="1"/>
              <a:t>PiLog</a:t>
            </a:r>
            <a:r>
              <a:rPr lang="en-US" dirty="0"/>
              <a:t>-BNAC High-level Process Flow</a:t>
            </a:r>
            <a:endParaRPr lang="en-DE" dirty="0"/>
          </a:p>
        </p:txBody>
      </p:sp>
    </p:spTree>
    <p:extLst>
      <p:ext uri="{BB962C8B-B14F-4D97-AF65-F5344CB8AC3E}">
        <p14:creationId xmlns:p14="http://schemas.microsoft.com/office/powerpoint/2010/main" val="1900871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FF4FF-E336-01E9-18E1-E44F1D7BCEBE}"/>
              </a:ext>
            </a:extLst>
          </p:cNvPr>
          <p:cNvSpPr>
            <a:spLocks noGrp="1"/>
          </p:cNvSpPr>
          <p:nvPr>
            <p:ph type="title"/>
          </p:nvPr>
        </p:nvSpPr>
        <p:spPr>
          <a:xfrm>
            <a:off x="504001" y="504000"/>
            <a:ext cx="11186476" cy="677108"/>
          </a:xfrm>
        </p:spPr>
        <p:txBody>
          <a:bodyPr/>
          <a:lstStyle/>
          <a:p>
            <a:r>
              <a:rPr lang="en-US" dirty="0"/>
              <a:t>SAP BNAC – </a:t>
            </a:r>
            <a:r>
              <a:rPr lang="en-US" dirty="0" err="1"/>
              <a:t>PiLog</a:t>
            </a:r>
            <a:r>
              <a:rPr lang="en-US" dirty="0"/>
              <a:t> ICF Integration</a:t>
            </a:r>
            <a:br>
              <a:rPr lang="en-US" dirty="0"/>
            </a:br>
            <a:r>
              <a:rPr lang="en-US" sz="2000" dirty="0">
                <a:solidFill>
                  <a:schemeClr val="tx2"/>
                </a:solidFill>
              </a:rPr>
              <a:t>Process Flow – Based on Improvement Request</a:t>
            </a:r>
            <a:endParaRPr lang="en-DE" dirty="0">
              <a:solidFill>
                <a:schemeClr val="tx2"/>
              </a:solidFill>
            </a:endParaRPr>
          </a:p>
        </p:txBody>
      </p:sp>
      <p:sp>
        <p:nvSpPr>
          <p:cNvPr id="3" name="Rectangle 2">
            <a:extLst>
              <a:ext uri="{FF2B5EF4-FFF2-40B4-BE49-F238E27FC236}">
                <a16:creationId xmlns:a16="http://schemas.microsoft.com/office/drawing/2014/main" id="{0E487B39-DAC6-B951-7E3D-41BC1467BAA2}"/>
              </a:ext>
            </a:extLst>
          </p:cNvPr>
          <p:cNvSpPr/>
          <p:nvPr/>
        </p:nvSpPr>
        <p:spPr bwMode="gray">
          <a:xfrm>
            <a:off x="504000" y="1440000"/>
            <a:ext cx="11160000" cy="792000"/>
          </a:xfrm>
          <a:prstGeom prst="rect">
            <a:avLst/>
          </a:prstGeom>
          <a:solidFill>
            <a:schemeClr val="tx2">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SAP ERP Operator</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 name="Rectangle 3">
            <a:extLst>
              <a:ext uri="{FF2B5EF4-FFF2-40B4-BE49-F238E27FC236}">
                <a16:creationId xmlns:a16="http://schemas.microsoft.com/office/drawing/2014/main" id="{E80EC75D-3176-1446-3E0B-A51564D75247}"/>
              </a:ext>
            </a:extLst>
          </p:cNvPr>
          <p:cNvSpPr/>
          <p:nvPr/>
        </p:nvSpPr>
        <p:spPr bwMode="gray">
          <a:xfrm>
            <a:off x="504000" y="2232000"/>
            <a:ext cx="11160000" cy="1584000"/>
          </a:xfrm>
          <a:prstGeom prst="rect">
            <a:avLst/>
          </a:prstGeom>
          <a:solidFill>
            <a:schemeClr val="tx2">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Aft>
                <a:spcPct val="0"/>
              </a:spcAft>
              <a:buClr>
                <a:srgbClr val="F0AB00"/>
              </a:buClr>
              <a:buSzPct val="80000"/>
              <a:tabLst/>
            </a:pP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SAP BNAC </a:t>
            </a:r>
          </a:p>
          <a:p>
            <a:pPr marR="0" algn="ctr" defTabSz="914400" eaLnBrk="1" fontAlgn="base" latinLnBrk="0" hangingPunct="1">
              <a:lnSpc>
                <a:spcPct val="100000"/>
              </a:lnSpc>
              <a:spcAft>
                <a:spcPct val="0"/>
              </a:spcAft>
              <a:buClr>
                <a:srgbClr val="F0AB00"/>
              </a:buClr>
              <a:buSzPct val="80000"/>
              <a:tabLst/>
            </a:pP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Operator</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 name="Rectangle 4">
            <a:extLst>
              <a:ext uri="{FF2B5EF4-FFF2-40B4-BE49-F238E27FC236}">
                <a16:creationId xmlns:a16="http://schemas.microsoft.com/office/drawing/2014/main" id="{7C764C3B-5B7A-73BF-7E41-99CA2B051F54}"/>
              </a:ext>
            </a:extLst>
          </p:cNvPr>
          <p:cNvSpPr/>
          <p:nvPr/>
        </p:nvSpPr>
        <p:spPr bwMode="gray">
          <a:xfrm>
            <a:off x="504000" y="4608000"/>
            <a:ext cx="11160000" cy="792000"/>
          </a:xfrm>
          <a:prstGeom prst="rect">
            <a:avLst/>
          </a:prstGeom>
          <a:solidFill>
            <a:schemeClr val="accent6">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SAP BNAC OEM</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6" name="Rectangle 5">
            <a:extLst>
              <a:ext uri="{FF2B5EF4-FFF2-40B4-BE49-F238E27FC236}">
                <a16:creationId xmlns:a16="http://schemas.microsoft.com/office/drawing/2014/main" id="{0E01FF3E-4196-B35B-4CDB-CF43E25DDB4E}"/>
              </a:ext>
            </a:extLst>
          </p:cNvPr>
          <p:cNvSpPr/>
          <p:nvPr/>
        </p:nvSpPr>
        <p:spPr bwMode="gray">
          <a:xfrm>
            <a:off x="504000" y="3816000"/>
            <a:ext cx="11160000" cy="792000"/>
          </a:xfrm>
          <a:prstGeom prst="rect">
            <a:avLst/>
          </a:prstGeom>
          <a:solidFill>
            <a:schemeClr val="tx2">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 ICF Operator</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999879D1-8D57-86F9-8164-9C441496E56F}"/>
              </a:ext>
            </a:extLst>
          </p:cNvPr>
          <p:cNvSpPr/>
          <p:nvPr/>
        </p:nvSpPr>
        <p:spPr bwMode="gray">
          <a:xfrm>
            <a:off x="504000" y="5400000"/>
            <a:ext cx="11160000" cy="792000"/>
          </a:xfrm>
          <a:prstGeom prst="rect">
            <a:avLst/>
          </a:prstGeom>
          <a:solidFill>
            <a:schemeClr val="accent6">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 ICF OEM</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 name="Oval 8">
            <a:extLst>
              <a:ext uri="{FF2B5EF4-FFF2-40B4-BE49-F238E27FC236}">
                <a16:creationId xmlns:a16="http://schemas.microsoft.com/office/drawing/2014/main" id="{8B1EAC69-B69E-0EFE-5265-CFDA3C12B97E}"/>
              </a:ext>
            </a:extLst>
          </p:cNvPr>
          <p:cNvSpPr>
            <a:spLocks noChangeAspect="1"/>
          </p:cNvSpPr>
          <p:nvPr/>
        </p:nvSpPr>
        <p:spPr bwMode="gray">
          <a:xfrm>
            <a:off x="1080000" y="1548000"/>
            <a:ext cx="576000" cy="576000"/>
          </a:xfrm>
          <a:prstGeom prst="ellipse">
            <a:avLst/>
          </a:prstGeom>
          <a:solidFill>
            <a:schemeClr val="accent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rPr>
              <a:t>Issues with technical objects data quality</a:t>
            </a:r>
            <a:endParaRPr kumimoji="0" lang="en-DE"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endParaRPr>
          </a:p>
        </p:txBody>
      </p:sp>
      <p:sp>
        <p:nvSpPr>
          <p:cNvPr id="17" name="Oval 16">
            <a:extLst>
              <a:ext uri="{FF2B5EF4-FFF2-40B4-BE49-F238E27FC236}">
                <a16:creationId xmlns:a16="http://schemas.microsoft.com/office/drawing/2014/main" id="{83A39408-0A04-8E3E-9367-2D3356CD652B}"/>
              </a:ext>
            </a:extLst>
          </p:cNvPr>
          <p:cNvSpPr>
            <a:spLocks noChangeAspect="1"/>
          </p:cNvSpPr>
          <p:nvPr/>
        </p:nvSpPr>
        <p:spPr bwMode="gray">
          <a:xfrm>
            <a:off x="10296000" y="1548000"/>
            <a:ext cx="576000" cy="576000"/>
          </a:xfrm>
          <a:prstGeom prst="ellipse">
            <a:avLst/>
          </a:prstGeom>
          <a:solidFill>
            <a:schemeClr val="accent3"/>
          </a:solidFill>
          <a:ln w="31750" cmpd="thickThin"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rPr>
              <a:t>Technical objects with good data quality</a:t>
            </a:r>
            <a:endParaRPr kumimoji="0" lang="en-DE"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endParaRPr>
          </a:p>
        </p:txBody>
      </p:sp>
      <p:sp>
        <p:nvSpPr>
          <p:cNvPr id="22" name="Rectangle: Rounded Corners 21">
            <a:extLst>
              <a:ext uri="{FF2B5EF4-FFF2-40B4-BE49-F238E27FC236}">
                <a16:creationId xmlns:a16="http://schemas.microsoft.com/office/drawing/2014/main" id="{14171EDE-2109-C124-DC9E-019F6A9CA08D}"/>
              </a:ext>
            </a:extLst>
          </p:cNvPr>
          <p:cNvSpPr/>
          <p:nvPr/>
        </p:nvSpPr>
        <p:spPr bwMode="gray">
          <a:xfrm>
            <a:off x="1872000" y="1548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Replicate technical </a:t>
            </a:r>
            <a:r>
              <a:rPr lang="en-US" sz="700" kern="0" dirty="0">
                <a:latin typeface="+mn-lt"/>
                <a:ea typeface="Arial Unicode MS" pitchFamily="34" charset="-128"/>
                <a:cs typeface="Arial Unicode MS" pitchFamily="34" charset="-128"/>
              </a:rPr>
              <a:t>data objects and dependent data to BNAC</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3" name="Straight Arrow Connector 22">
            <a:extLst>
              <a:ext uri="{FF2B5EF4-FFF2-40B4-BE49-F238E27FC236}">
                <a16:creationId xmlns:a16="http://schemas.microsoft.com/office/drawing/2014/main" id="{0AA88C9F-76CC-9A67-379F-C038A54C6FA1}"/>
              </a:ext>
            </a:extLst>
          </p:cNvPr>
          <p:cNvCxnSpPr>
            <a:cxnSpLocks/>
            <a:endCxn id="22" idx="1"/>
          </p:cNvCxnSpPr>
          <p:nvPr/>
        </p:nvCxnSpPr>
        <p:spPr>
          <a:xfrm>
            <a:off x="1656000" y="1836000"/>
            <a:ext cx="216000"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9E8D3BDF-58C1-FE84-194F-0F33780C770B}"/>
              </a:ext>
            </a:extLst>
          </p:cNvPr>
          <p:cNvSpPr/>
          <p:nvPr/>
        </p:nvSpPr>
        <p:spPr bwMode="gray">
          <a:xfrm>
            <a:off x="2808000" y="2340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Send improvement request to OEM</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8" name="Flowchart: Decision 27">
            <a:extLst>
              <a:ext uri="{FF2B5EF4-FFF2-40B4-BE49-F238E27FC236}">
                <a16:creationId xmlns:a16="http://schemas.microsoft.com/office/drawing/2014/main" id="{65924CF1-3CF5-CF93-B20F-4659555A4591}"/>
              </a:ext>
            </a:extLst>
          </p:cNvPr>
          <p:cNvSpPr>
            <a:spLocks/>
          </p:cNvSpPr>
          <p:nvPr/>
        </p:nvSpPr>
        <p:spPr bwMode="gray">
          <a:xfrm>
            <a:off x="1872000" y="2340000"/>
            <a:ext cx="720000" cy="576000"/>
          </a:xfrm>
          <a:prstGeom prst="flowChartDecision">
            <a:avLst/>
          </a:prstGeom>
          <a:solidFill>
            <a:schemeClr val="bg1"/>
          </a:solidFill>
          <a:ln w="127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 OEM in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9" name="Straight Arrow Connector 28">
            <a:extLst>
              <a:ext uri="{FF2B5EF4-FFF2-40B4-BE49-F238E27FC236}">
                <a16:creationId xmlns:a16="http://schemas.microsoft.com/office/drawing/2014/main" id="{9D69294C-62D1-E614-43EA-4DEC215077C8}"/>
              </a:ext>
            </a:extLst>
          </p:cNvPr>
          <p:cNvCxnSpPr>
            <a:cxnSpLocks/>
            <a:stCxn id="28" idx="3"/>
            <a:endCxn id="27" idx="1"/>
          </p:cNvCxnSpPr>
          <p:nvPr/>
        </p:nvCxnSpPr>
        <p:spPr>
          <a:xfrm>
            <a:off x="2592000" y="2628000"/>
            <a:ext cx="216000" cy="0"/>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4274771-0A01-E6CE-AF6E-82BFB6055048}"/>
              </a:ext>
            </a:extLst>
          </p:cNvPr>
          <p:cNvCxnSpPr>
            <a:cxnSpLocks/>
            <a:stCxn id="22" idx="2"/>
            <a:endCxn id="28" idx="0"/>
          </p:cNvCxnSpPr>
          <p:nvPr/>
        </p:nvCxnSpPr>
        <p:spPr>
          <a:xfrm>
            <a:off x="2232000" y="2124000"/>
            <a:ext cx="0" cy="21600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5A5A096-EC5A-2E97-2FF3-A1F6897C7D14}"/>
              </a:ext>
            </a:extLst>
          </p:cNvPr>
          <p:cNvCxnSpPr>
            <a:stCxn id="27" idx="2"/>
            <a:endCxn id="34" idx="0"/>
          </p:cNvCxnSpPr>
          <p:nvPr/>
        </p:nvCxnSpPr>
        <p:spPr>
          <a:xfrm>
            <a:off x="3168000" y="2916000"/>
            <a:ext cx="0" cy="180000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9EC65AA-1A45-FFBC-F338-9D1EBD045BB1}"/>
              </a:ext>
            </a:extLst>
          </p:cNvPr>
          <p:cNvCxnSpPr>
            <a:stCxn id="42" idx="2"/>
            <a:endCxn id="47" idx="0"/>
          </p:cNvCxnSpPr>
          <p:nvPr/>
        </p:nvCxnSpPr>
        <p:spPr>
          <a:xfrm>
            <a:off x="4104000" y="5292000"/>
            <a:ext cx="0" cy="21600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2BE72C1-DE1E-2D34-D905-5AF2663B577B}"/>
              </a:ext>
            </a:extLst>
          </p:cNvPr>
          <p:cNvCxnSpPr>
            <a:cxnSpLocks/>
            <a:stCxn id="50" idx="2"/>
            <a:endCxn id="53" idx="0"/>
          </p:cNvCxnSpPr>
          <p:nvPr/>
        </p:nvCxnSpPr>
        <p:spPr>
          <a:xfrm>
            <a:off x="5040000" y="5292000"/>
            <a:ext cx="4846" cy="21600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940E2DA5-E667-D673-58CB-A2FB80C0F093}"/>
              </a:ext>
            </a:extLst>
          </p:cNvPr>
          <p:cNvGrpSpPr/>
          <p:nvPr/>
        </p:nvGrpSpPr>
        <p:grpSpPr>
          <a:xfrm>
            <a:off x="3744000" y="5508000"/>
            <a:ext cx="1660846" cy="576000"/>
            <a:chOff x="5400000" y="5651999"/>
            <a:chExt cx="1660846" cy="576000"/>
          </a:xfrm>
        </p:grpSpPr>
        <p:sp>
          <p:nvSpPr>
            <p:cNvPr id="47" name="Rectangle: Rounded Corners 46">
              <a:extLst>
                <a:ext uri="{FF2B5EF4-FFF2-40B4-BE49-F238E27FC236}">
                  <a16:creationId xmlns:a16="http://schemas.microsoft.com/office/drawing/2014/main" id="{D83F749E-7F45-D495-4806-A5298CA6FFD4}"/>
                </a:ext>
              </a:extLst>
            </p:cNvPr>
            <p:cNvSpPr/>
            <p:nvPr/>
          </p:nvSpPr>
          <p:spPr bwMode="gray">
            <a:xfrm>
              <a:off x="5400000" y="5651999"/>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Content creation via AI</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3" name="Rectangle: Rounded Corners 52">
              <a:extLst>
                <a:ext uri="{FF2B5EF4-FFF2-40B4-BE49-F238E27FC236}">
                  <a16:creationId xmlns:a16="http://schemas.microsoft.com/office/drawing/2014/main" id="{D812D698-24AA-C482-F65B-919A9779F20B}"/>
                </a:ext>
              </a:extLst>
            </p:cNvPr>
            <p:cNvSpPr/>
            <p:nvPr/>
          </p:nvSpPr>
          <p:spPr bwMode="gray">
            <a:xfrm>
              <a:off x="6340846" y="5651999"/>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Classification mapping</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58" name="Straight Arrow Connector 57">
              <a:extLst>
                <a:ext uri="{FF2B5EF4-FFF2-40B4-BE49-F238E27FC236}">
                  <a16:creationId xmlns:a16="http://schemas.microsoft.com/office/drawing/2014/main" id="{B7C99C39-AC68-BD2C-A772-CCAD11726F5C}"/>
                </a:ext>
              </a:extLst>
            </p:cNvPr>
            <p:cNvCxnSpPr>
              <a:stCxn id="47" idx="3"/>
              <a:endCxn id="53" idx="1"/>
            </p:cNvCxnSpPr>
            <p:nvPr/>
          </p:nvCxnSpPr>
          <p:spPr>
            <a:xfrm>
              <a:off x="6120000" y="5939999"/>
              <a:ext cx="220846"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60" name="Connector: Elbow 59">
            <a:extLst>
              <a:ext uri="{FF2B5EF4-FFF2-40B4-BE49-F238E27FC236}">
                <a16:creationId xmlns:a16="http://schemas.microsoft.com/office/drawing/2014/main" id="{25218CD1-859A-2606-C291-AC956BDA5B5E}"/>
              </a:ext>
            </a:extLst>
          </p:cNvPr>
          <p:cNvCxnSpPr>
            <a:stCxn id="53" idx="3"/>
            <a:endCxn id="35" idx="2"/>
          </p:cNvCxnSpPr>
          <p:nvPr/>
        </p:nvCxnSpPr>
        <p:spPr>
          <a:xfrm flipV="1">
            <a:off x="5404846" y="5292001"/>
            <a:ext cx="571154" cy="503999"/>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7BC0BEEB-3AB6-0D2F-801B-FC5E12A136E8}"/>
              </a:ext>
            </a:extLst>
          </p:cNvPr>
          <p:cNvGrpSpPr/>
          <p:nvPr/>
        </p:nvGrpSpPr>
        <p:grpSpPr>
          <a:xfrm>
            <a:off x="2808000" y="4716000"/>
            <a:ext cx="4464000" cy="576001"/>
            <a:chOff x="4464000" y="4571999"/>
            <a:chExt cx="4464000" cy="576001"/>
          </a:xfrm>
        </p:grpSpPr>
        <p:sp>
          <p:nvSpPr>
            <p:cNvPr id="34" name="Rectangle: Rounded Corners 33">
              <a:extLst>
                <a:ext uri="{FF2B5EF4-FFF2-40B4-BE49-F238E27FC236}">
                  <a16:creationId xmlns:a16="http://schemas.microsoft.com/office/drawing/2014/main" id="{FDCFC067-CA36-3DEA-5170-B7C19BF81435}"/>
                </a:ext>
              </a:extLst>
            </p:cNvPr>
            <p:cNvSpPr/>
            <p:nvPr/>
          </p:nvSpPr>
          <p:spPr bwMode="gray">
            <a:xfrm>
              <a:off x="4464000" y="457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 request from Operator</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6" name="Straight Arrow Connector 35">
              <a:extLst>
                <a:ext uri="{FF2B5EF4-FFF2-40B4-BE49-F238E27FC236}">
                  <a16:creationId xmlns:a16="http://schemas.microsoft.com/office/drawing/2014/main" id="{6F2B59BB-39D1-D6F1-8E40-F90689C387B9}"/>
                </a:ext>
              </a:extLst>
            </p:cNvPr>
            <p:cNvCxnSpPr>
              <a:cxnSpLocks/>
              <a:stCxn id="42" idx="3"/>
              <a:endCxn id="50" idx="1"/>
            </p:cNvCxnSpPr>
            <p:nvPr/>
          </p:nvCxnSpPr>
          <p:spPr>
            <a:xfrm>
              <a:off x="6120000" y="4859999"/>
              <a:ext cx="216000" cy="0"/>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4E0CC03D-6701-2345-1ACA-7FD4A166EA2A}"/>
                </a:ext>
              </a:extLst>
            </p:cNvPr>
            <p:cNvGrpSpPr/>
            <p:nvPr/>
          </p:nvGrpSpPr>
          <p:grpSpPr>
            <a:xfrm>
              <a:off x="7272000" y="4572000"/>
              <a:ext cx="1656000" cy="576000"/>
              <a:chOff x="5400000" y="4572000"/>
              <a:chExt cx="1656000" cy="576000"/>
            </a:xfrm>
          </p:grpSpPr>
          <p:sp>
            <p:nvSpPr>
              <p:cNvPr id="35" name="Rectangle: Rounded Corners 34">
                <a:extLst>
                  <a:ext uri="{FF2B5EF4-FFF2-40B4-BE49-F238E27FC236}">
                    <a16:creationId xmlns:a16="http://schemas.microsoft.com/office/drawing/2014/main" id="{400E6F8A-3F4A-FB47-88BD-DF4C28F8496B}"/>
                  </a:ext>
                </a:extLst>
              </p:cNvPr>
              <p:cNvSpPr/>
              <p:nvPr/>
            </p:nvSpPr>
            <p:spPr bwMode="gray">
              <a:xfrm>
                <a:off x="5400000" y="457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Improve technical objects and dependent data</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7" name="Rectangle: Rounded Corners 36">
                <a:extLst>
                  <a:ext uri="{FF2B5EF4-FFF2-40B4-BE49-F238E27FC236}">
                    <a16:creationId xmlns:a16="http://schemas.microsoft.com/office/drawing/2014/main" id="{FD3A5577-4636-E960-D35E-5E8F81543995}"/>
                  </a:ext>
                </a:extLst>
              </p:cNvPr>
              <p:cNvSpPr/>
              <p:nvPr/>
            </p:nvSpPr>
            <p:spPr bwMode="gray">
              <a:xfrm>
                <a:off x="6336000" y="457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Share improvements to Operator</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8" name="Straight Arrow Connector 37">
                <a:extLst>
                  <a:ext uri="{FF2B5EF4-FFF2-40B4-BE49-F238E27FC236}">
                    <a16:creationId xmlns:a16="http://schemas.microsoft.com/office/drawing/2014/main" id="{E5CFEC1A-3C32-E517-56BE-506736DEDE87}"/>
                  </a:ext>
                </a:extLst>
              </p:cNvPr>
              <p:cNvCxnSpPr>
                <a:stCxn id="35" idx="3"/>
                <a:endCxn id="37" idx="1"/>
              </p:cNvCxnSpPr>
              <p:nvPr/>
            </p:nvCxnSpPr>
            <p:spPr>
              <a:xfrm>
                <a:off x="6120000" y="4860000"/>
                <a:ext cx="216000" cy="0"/>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42" name="Flowchart: Decision 41">
              <a:extLst>
                <a:ext uri="{FF2B5EF4-FFF2-40B4-BE49-F238E27FC236}">
                  <a16:creationId xmlns:a16="http://schemas.microsoft.com/office/drawing/2014/main" id="{378B1664-11A8-A23D-344A-57B4243554B2}"/>
                </a:ext>
              </a:extLst>
            </p:cNvPr>
            <p:cNvSpPr>
              <a:spLocks/>
            </p:cNvSpPr>
            <p:nvPr/>
          </p:nvSpPr>
          <p:spPr bwMode="gray">
            <a:xfrm>
              <a:off x="5400000" y="4571999"/>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dirty="0">
                  <a:ln>
                    <a:noFill/>
                  </a:ln>
                  <a:effectLst/>
                  <a:uLnTx/>
                  <a:uFillTx/>
                  <a:latin typeface="+mn-lt"/>
                  <a:ea typeface="Arial Unicode MS" pitchFamily="34" charset="-128"/>
                  <a:cs typeface="Arial Unicode MS" pitchFamily="34" charset="-128"/>
                </a:rPr>
                <a:t>Is requested data available in structured format?</a:t>
              </a:r>
              <a:endParaRPr kumimoji="0" lang="en-DE" sz="4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44" name="Straight Arrow Connector 43">
              <a:extLst>
                <a:ext uri="{FF2B5EF4-FFF2-40B4-BE49-F238E27FC236}">
                  <a16:creationId xmlns:a16="http://schemas.microsoft.com/office/drawing/2014/main" id="{E1F9B53C-9353-EF2B-6FB4-674A794AE559}"/>
                </a:ext>
              </a:extLst>
            </p:cNvPr>
            <p:cNvCxnSpPr>
              <a:cxnSpLocks/>
              <a:stCxn id="34" idx="3"/>
              <a:endCxn id="42" idx="1"/>
            </p:cNvCxnSpPr>
            <p:nvPr/>
          </p:nvCxnSpPr>
          <p:spPr>
            <a:xfrm flipV="1">
              <a:off x="5184000" y="4859999"/>
              <a:ext cx="216000" cy="1"/>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0" name="Flowchart: Decision 49">
              <a:extLst>
                <a:ext uri="{FF2B5EF4-FFF2-40B4-BE49-F238E27FC236}">
                  <a16:creationId xmlns:a16="http://schemas.microsoft.com/office/drawing/2014/main" id="{0513C415-554D-8662-7516-D80EA57636E5}"/>
                </a:ext>
              </a:extLst>
            </p:cNvPr>
            <p:cNvSpPr>
              <a:spLocks/>
            </p:cNvSpPr>
            <p:nvPr/>
          </p:nvSpPr>
          <p:spPr bwMode="gray">
            <a:xfrm>
              <a:off x="6336000" y="4571999"/>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dirty="0">
                  <a:ln>
                    <a:noFill/>
                  </a:ln>
                  <a:effectLst/>
                  <a:uLnTx/>
                  <a:uFillTx/>
                  <a:latin typeface="+mn-lt"/>
                  <a:ea typeface="Arial Unicode MS" pitchFamily="34" charset="-128"/>
                  <a:cs typeface="Arial Unicode MS" pitchFamily="34" charset="-128"/>
                </a:rPr>
                <a:t>Is requested data not  classified according to operator?</a:t>
              </a:r>
              <a:endParaRPr kumimoji="0" lang="en-DE" sz="4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1" name="Straight Arrow Connector 60">
              <a:extLst>
                <a:ext uri="{FF2B5EF4-FFF2-40B4-BE49-F238E27FC236}">
                  <a16:creationId xmlns:a16="http://schemas.microsoft.com/office/drawing/2014/main" id="{E59BC24C-FCD6-D2EE-51E6-56E25D6BD569}"/>
                </a:ext>
              </a:extLst>
            </p:cNvPr>
            <p:cNvCxnSpPr>
              <a:cxnSpLocks/>
              <a:stCxn id="50" idx="3"/>
              <a:endCxn id="35" idx="1"/>
            </p:cNvCxnSpPr>
            <p:nvPr/>
          </p:nvCxnSpPr>
          <p:spPr>
            <a:xfrm>
              <a:off x="7056000" y="4859999"/>
              <a:ext cx="216000" cy="1"/>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64" name="Rectangle: Rounded Corners 63">
            <a:extLst>
              <a:ext uri="{FF2B5EF4-FFF2-40B4-BE49-F238E27FC236}">
                <a16:creationId xmlns:a16="http://schemas.microsoft.com/office/drawing/2014/main" id="{EADCF4F0-62E8-F744-A645-039D251914D7}"/>
              </a:ext>
            </a:extLst>
          </p:cNvPr>
          <p:cNvSpPr/>
          <p:nvPr/>
        </p:nvSpPr>
        <p:spPr bwMode="gray">
          <a:xfrm>
            <a:off x="6552000" y="2339999"/>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improvements from OEM</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5" name="Straight Arrow Connector 64">
            <a:extLst>
              <a:ext uri="{FF2B5EF4-FFF2-40B4-BE49-F238E27FC236}">
                <a16:creationId xmlns:a16="http://schemas.microsoft.com/office/drawing/2014/main" id="{B84DDA24-A5CB-A0B4-594F-E04749D249F3}"/>
              </a:ext>
            </a:extLst>
          </p:cNvPr>
          <p:cNvCxnSpPr>
            <a:cxnSpLocks/>
            <a:stCxn id="37" idx="0"/>
            <a:endCxn id="64" idx="2"/>
          </p:cNvCxnSpPr>
          <p:nvPr/>
        </p:nvCxnSpPr>
        <p:spPr>
          <a:xfrm flipV="1">
            <a:off x="6912000" y="2915999"/>
            <a:ext cx="0" cy="180000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8" name="Flowchart: Decision 67">
            <a:extLst>
              <a:ext uri="{FF2B5EF4-FFF2-40B4-BE49-F238E27FC236}">
                <a16:creationId xmlns:a16="http://schemas.microsoft.com/office/drawing/2014/main" id="{E25CDFBF-7E10-F779-1C71-7C1FCFD1B216}"/>
              </a:ext>
            </a:extLst>
          </p:cNvPr>
          <p:cNvSpPr>
            <a:spLocks/>
          </p:cNvSpPr>
          <p:nvPr/>
        </p:nvSpPr>
        <p:spPr bwMode="gray">
          <a:xfrm>
            <a:off x="7488000" y="2339999"/>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dirty="0">
                <a:ln>
                  <a:noFill/>
                </a:ln>
                <a:effectLst/>
                <a:uLnTx/>
                <a:uFillTx/>
                <a:latin typeface="+mn-lt"/>
                <a:ea typeface="Arial Unicode MS" pitchFamily="34" charset="-128"/>
                <a:cs typeface="Arial Unicode MS" pitchFamily="34" charset="-128"/>
              </a:rPr>
              <a:t>Is classification mapping needed?</a:t>
            </a:r>
            <a:endParaRPr kumimoji="0" lang="en-DE" sz="4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9" name="Straight Arrow Connector 68">
            <a:extLst>
              <a:ext uri="{FF2B5EF4-FFF2-40B4-BE49-F238E27FC236}">
                <a16:creationId xmlns:a16="http://schemas.microsoft.com/office/drawing/2014/main" id="{B67C29E0-7B7E-FFAF-DD1D-EFAC3DE7B634}"/>
              </a:ext>
            </a:extLst>
          </p:cNvPr>
          <p:cNvCxnSpPr>
            <a:cxnSpLocks/>
            <a:stCxn id="64" idx="3"/>
            <a:endCxn id="68" idx="1"/>
          </p:cNvCxnSpPr>
          <p:nvPr/>
        </p:nvCxnSpPr>
        <p:spPr>
          <a:xfrm>
            <a:off x="7272000" y="2627999"/>
            <a:ext cx="216000" cy="0"/>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2" name="Rectangle: Rounded Corners 71">
            <a:extLst>
              <a:ext uri="{FF2B5EF4-FFF2-40B4-BE49-F238E27FC236}">
                <a16:creationId xmlns:a16="http://schemas.microsoft.com/office/drawing/2014/main" id="{0B308263-676D-7161-FBA9-F1FEC204D180}"/>
              </a:ext>
            </a:extLst>
          </p:cNvPr>
          <p:cNvSpPr/>
          <p:nvPr/>
        </p:nvSpPr>
        <p:spPr bwMode="gray">
          <a:xfrm>
            <a:off x="7488000" y="3924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Classification mapping</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3" name="Straight Arrow Connector 72">
            <a:extLst>
              <a:ext uri="{FF2B5EF4-FFF2-40B4-BE49-F238E27FC236}">
                <a16:creationId xmlns:a16="http://schemas.microsoft.com/office/drawing/2014/main" id="{93737433-6AC6-0E00-F393-0FBF2DCFA035}"/>
              </a:ext>
            </a:extLst>
          </p:cNvPr>
          <p:cNvCxnSpPr>
            <a:cxnSpLocks/>
            <a:stCxn id="68" idx="2"/>
            <a:endCxn id="72" idx="0"/>
          </p:cNvCxnSpPr>
          <p:nvPr/>
        </p:nvCxnSpPr>
        <p:spPr>
          <a:xfrm>
            <a:off x="7848000" y="2915999"/>
            <a:ext cx="0" cy="100800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Rectangle: Rounded Corners 73">
            <a:extLst>
              <a:ext uri="{FF2B5EF4-FFF2-40B4-BE49-F238E27FC236}">
                <a16:creationId xmlns:a16="http://schemas.microsoft.com/office/drawing/2014/main" id="{7B3349A8-D942-6BF9-662B-DA3315713EED}"/>
              </a:ext>
            </a:extLst>
          </p:cNvPr>
          <p:cNvSpPr/>
          <p:nvPr/>
        </p:nvSpPr>
        <p:spPr bwMode="gray">
          <a:xfrm>
            <a:off x="1872000" y="313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Check for data in </a:t>
            </a:r>
            <a:r>
              <a:rPr kumimoji="0" lang="en-US" sz="7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lang="en-US" sz="700" kern="0" dirty="0">
                <a:latin typeface="+mn-lt"/>
                <a:ea typeface="Arial Unicode MS" pitchFamily="34" charset="-128"/>
                <a:cs typeface="Arial Unicode MS" pitchFamily="34" charset="-128"/>
              </a:rPr>
              <a:t> ICF</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5" name="Straight Arrow Connector 74">
            <a:extLst>
              <a:ext uri="{FF2B5EF4-FFF2-40B4-BE49-F238E27FC236}">
                <a16:creationId xmlns:a16="http://schemas.microsoft.com/office/drawing/2014/main" id="{66272B61-467C-CF1B-2D3A-755BBC72D8F7}"/>
              </a:ext>
            </a:extLst>
          </p:cNvPr>
          <p:cNvCxnSpPr>
            <a:cxnSpLocks/>
            <a:stCxn id="28" idx="2"/>
            <a:endCxn id="74" idx="0"/>
          </p:cNvCxnSpPr>
          <p:nvPr/>
        </p:nvCxnSpPr>
        <p:spPr>
          <a:xfrm>
            <a:off x="2232000" y="2916000"/>
            <a:ext cx="0" cy="21600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2" name="Flowchart: Decision 81">
            <a:extLst>
              <a:ext uri="{FF2B5EF4-FFF2-40B4-BE49-F238E27FC236}">
                <a16:creationId xmlns:a16="http://schemas.microsoft.com/office/drawing/2014/main" id="{EC6EF6E7-E9FA-347A-9523-F7C660AF4A38}"/>
              </a:ext>
            </a:extLst>
          </p:cNvPr>
          <p:cNvSpPr>
            <a:spLocks/>
          </p:cNvSpPr>
          <p:nvPr/>
        </p:nvSpPr>
        <p:spPr bwMode="gray">
          <a:xfrm>
            <a:off x="8424000" y="2339998"/>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dirty="0">
                <a:ln>
                  <a:noFill/>
                </a:ln>
                <a:effectLst/>
                <a:uLnTx/>
                <a:uFillTx/>
                <a:latin typeface="+mn-lt"/>
                <a:ea typeface="Arial Unicode MS" pitchFamily="34" charset="-128"/>
                <a:cs typeface="Arial Unicode MS" pitchFamily="34" charset="-128"/>
              </a:rPr>
              <a:t>Is MDG needed?</a:t>
            </a:r>
            <a:endParaRPr kumimoji="0" lang="en-DE" sz="4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83" name="Straight Arrow Connector 82">
            <a:extLst>
              <a:ext uri="{FF2B5EF4-FFF2-40B4-BE49-F238E27FC236}">
                <a16:creationId xmlns:a16="http://schemas.microsoft.com/office/drawing/2014/main" id="{0109D98C-F978-C2BB-5FB3-0E8E235903CE}"/>
              </a:ext>
            </a:extLst>
          </p:cNvPr>
          <p:cNvCxnSpPr>
            <a:cxnSpLocks/>
            <a:stCxn id="68" idx="3"/>
            <a:endCxn id="82" idx="1"/>
          </p:cNvCxnSpPr>
          <p:nvPr/>
        </p:nvCxnSpPr>
        <p:spPr>
          <a:xfrm flipV="1">
            <a:off x="8208000" y="2627998"/>
            <a:ext cx="216000" cy="1"/>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4EED39BB-6EAA-35B3-58A0-68DCFA2F7441}"/>
              </a:ext>
            </a:extLst>
          </p:cNvPr>
          <p:cNvCxnSpPr>
            <a:stCxn id="72" idx="3"/>
            <a:endCxn id="82" idx="1"/>
          </p:cNvCxnSpPr>
          <p:nvPr/>
        </p:nvCxnSpPr>
        <p:spPr>
          <a:xfrm flipV="1">
            <a:off x="8208000" y="2627998"/>
            <a:ext cx="216000" cy="1584002"/>
          </a:xfrm>
          <a:prstGeom prst="bentConnector3">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8" name="Rectangle: Rounded Corners 87">
            <a:extLst>
              <a:ext uri="{FF2B5EF4-FFF2-40B4-BE49-F238E27FC236}">
                <a16:creationId xmlns:a16="http://schemas.microsoft.com/office/drawing/2014/main" id="{209C15C8-E7C1-CE6B-8943-BC9FF4AAC10C}"/>
              </a:ext>
            </a:extLst>
          </p:cNvPr>
          <p:cNvSpPr/>
          <p:nvPr/>
        </p:nvSpPr>
        <p:spPr bwMode="gray">
          <a:xfrm>
            <a:off x="8429750" y="3923998"/>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Review, governance, check, validation</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89" name="Straight Arrow Connector 88">
            <a:extLst>
              <a:ext uri="{FF2B5EF4-FFF2-40B4-BE49-F238E27FC236}">
                <a16:creationId xmlns:a16="http://schemas.microsoft.com/office/drawing/2014/main" id="{4B00AAC7-AEAB-7899-ED40-145AC079E310}"/>
              </a:ext>
            </a:extLst>
          </p:cNvPr>
          <p:cNvCxnSpPr>
            <a:cxnSpLocks/>
            <a:stCxn id="72" idx="3"/>
            <a:endCxn id="88" idx="1"/>
          </p:cNvCxnSpPr>
          <p:nvPr/>
        </p:nvCxnSpPr>
        <p:spPr>
          <a:xfrm flipV="1">
            <a:off x="8208000" y="4211998"/>
            <a:ext cx="221750" cy="2"/>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2" name="Rectangle: Rounded Corners 91">
            <a:extLst>
              <a:ext uri="{FF2B5EF4-FFF2-40B4-BE49-F238E27FC236}">
                <a16:creationId xmlns:a16="http://schemas.microsoft.com/office/drawing/2014/main" id="{8118EF64-16CC-8F2F-4590-FCD8EC2F00CF}"/>
              </a:ext>
            </a:extLst>
          </p:cNvPr>
          <p:cNvSpPr/>
          <p:nvPr/>
        </p:nvSpPr>
        <p:spPr bwMode="gray">
          <a:xfrm>
            <a:off x="9360000" y="2339998"/>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Replicate improvements to SAP ERP</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93" name="Straight Arrow Connector 92">
            <a:extLst>
              <a:ext uri="{FF2B5EF4-FFF2-40B4-BE49-F238E27FC236}">
                <a16:creationId xmlns:a16="http://schemas.microsoft.com/office/drawing/2014/main" id="{73909112-3F72-34F0-27A2-386B06F891C3}"/>
              </a:ext>
            </a:extLst>
          </p:cNvPr>
          <p:cNvCxnSpPr>
            <a:cxnSpLocks/>
            <a:stCxn id="82" idx="3"/>
            <a:endCxn id="92" idx="1"/>
          </p:cNvCxnSpPr>
          <p:nvPr/>
        </p:nvCxnSpPr>
        <p:spPr>
          <a:xfrm>
            <a:off x="9144000" y="2627998"/>
            <a:ext cx="216000" cy="0"/>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8C024B98-559C-C7BB-BA3D-C9A818F72993}"/>
              </a:ext>
            </a:extLst>
          </p:cNvPr>
          <p:cNvCxnSpPr>
            <a:stCxn id="92" idx="0"/>
            <a:endCxn id="17" idx="2"/>
          </p:cNvCxnSpPr>
          <p:nvPr/>
        </p:nvCxnSpPr>
        <p:spPr>
          <a:xfrm rot="5400000" flipH="1" flipV="1">
            <a:off x="9756001" y="1799999"/>
            <a:ext cx="503998" cy="576000"/>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FD55F958-41D7-F909-0DBA-2A4B35DF3A9C}"/>
              </a:ext>
            </a:extLst>
          </p:cNvPr>
          <p:cNvCxnSpPr>
            <a:cxnSpLocks/>
            <a:stCxn id="88" idx="3"/>
            <a:endCxn id="17" idx="4"/>
          </p:cNvCxnSpPr>
          <p:nvPr/>
        </p:nvCxnSpPr>
        <p:spPr>
          <a:xfrm flipV="1">
            <a:off x="9149750" y="2124000"/>
            <a:ext cx="1434250" cy="2087998"/>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2" name="Rectangle: Rounded Corners 101">
            <a:extLst>
              <a:ext uri="{FF2B5EF4-FFF2-40B4-BE49-F238E27FC236}">
                <a16:creationId xmlns:a16="http://schemas.microsoft.com/office/drawing/2014/main" id="{DCB876D0-C69B-1399-BEE8-CE96B676F162}"/>
              </a:ext>
            </a:extLst>
          </p:cNvPr>
          <p:cNvSpPr/>
          <p:nvPr/>
        </p:nvSpPr>
        <p:spPr bwMode="gray">
          <a:xfrm>
            <a:off x="1872000" y="3923998"/>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Find and retrieve OEM content</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03" name="Straight Arrow Connector 102">
            <a:extLst>
              <a:ext uri="{FF2B5EF4-FFF2-40B4-BE49-F238E27FC236}">
                <a16:creationId xmlns:a16="http://schemas.microsoft.com/office/drawing/2014/main" id="{DEE8C0BC-D761-7946-827B-45D0088CFF5B}"/>
              </a:ext>
            </a:extLst>
          </p:cNvPr>
          <p:cNvCxnSpPr>
            <a:cxnSpLocks/>
            <a:stCxn id="74" idx="2"/>
            <a:endCxn id="102" idx="0"/>
          </p:cNvCxnSpPr>
          <p:nvPr/>
        </p:nvCxnSpPr>
        <p:spPr>
          <a:xfrm>
            <a:off x="2232000" y="3708000"/>
            <a:ext cx="0" cy="215998"/>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F5100848-98F8-097C-A654-623225BD3DB2}"/>
              </a:ext>
            </a:extLst>
          </p:cNvPr>
          <p:cNvCxnSpPr>
            <a:stCxn id="102" idx="3"/>
            <a:endCxn id="72" idx="1"/>
          </p:cNvCxnSpPr>
          <p:nvPr/>
        </p:nvCxnSpPr>
        <p:spPr>
          <a:xfrm>
            <a:off x="2592000" y="4211998"/>
            <a:ext cx="4896000" cy="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3F79BB2-9D52-4297-B58C-5E62168EB0DD}"/>
              </a:ext>
            </a:extLst>
          </p:cNvPr>
          <p:cNvCxnSpPr>
            <a:cxnSpLocks/>
          </p:cNvCxnSpPr>
          <p:nvPr/>
        </p:nvCxnSpPr>
        <p:spPr>
          <a:xfrm>
            <a:off x="504000" y="4608000"/>
            <a:ext cx="11160000"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402041E6-EA97-39DA-E5A6-9F0D52B224C9}"/>
              </a:ext>
            </a:extLst>
          </p:cNvPr>
          <p:cNvCxnSpPr>
            <a:cxnSpLocks/>
          </p:cNvCxnSpPr>
          <p:nvPr/>
        </p:nvCxnSpPr>
        <p:spPr>
          <a:xfrm>
            <a:off x="504000" y="3816000"/>
            <a:ext cx="11160000" cy="0"/>
          </a:xfrm>
          <a:prstGeom prst="line">
            <a:avLst/>
          </a:prstGeom>
          <a:ln w="127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D0B2DBD7-DA19-1ABF-96CC-C9D2CD33EB89}"/>
              </a:ext>
            </a:extLst>
          </p:cNvPr>
          <p:cNvCxnSpPr>
            <a:cxnSpLocks/>
          </p:cNvCxnSpPr>
          <p:nvPr/>
        </p:nvCxnSpPr>
        <p:spPr>
          <a:xfrm>
            <a:off x="504000" y="2232000"/>
            <a:ext cx="11160000" cy="0"/>
          </a:xfrm>
          <a:prstGeom prst="line">
            <a:avLst/>
          </a:prstGeom>
          <a:ln w="127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A8528F8-0F2A-0746-2107-0BEE0F95AF13}"/>
              </a:ext>
            </a:extLst>
          </p:cNvPr>
          <p:cNvCxnSpPr>
            <a:cxnSpLocks/>
          </p:cNvCxnSpPr>
          <p:nvPr/>
        </p:nvCxnSpPr>
        <p:spPr>
          <a:xfrm>
            <a:off x="504000" y="5400000"/>
            <a:ext cx="11160000" cy="0"/>
          </a:xfrm>
          <a:prstGeom prst="line">
            <a:avLst/>
          </a:prstGeom>
          <a:ln w="127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CE9092B0-852C-9DA4-52A1-B054BF92FE7C}"/>
              </a:ext>
            </a:extLst>
          </p:cNvPr>
          <p:cNvCxnSpPr>
            <a:cxnSpLocks/>
          </p:cNvCxnSpPr>
          <p:nvPr/>
        </p:nvCxnSpPr>
        <p:spPr>
          <a:xfrm>
            <a:off x="936000" y="1440000"/>
            <a:ext cx="0" cy="47520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E68A5BD3-2F43-5280-EBA4-72B797851337}"/>
              </a:ext>
            </a:extLst>
          </p:cNvPr>
          <p:cNvCxnSpPr>
            <a:cxnSpLocks/>
          </p:cNvCxnSpPr>
          <p:nvPr/>
        </p:nvCxnSpPr>
        <p:spPr>
          <a:xfrm>
            <a:off x="8784000" y="2915998"/>
            <a:ext cx="0" cy="99210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7" name="Rectangle 116">
            <a:extLst>
              <a:ext uri="{FF2B5EF4-FFF2-40B4-BE49-F238E27FC236}">
                <a16:creationId xmlns:a16="http://schemas.microsoft.com/office/drawing/2014/main" id="{1A09DAD5-E276-268F-85AE-F4D50EC90B2A}"/>
              </a:ext>
            </a:extLst>
          </p:cNvPr>
          <p:cNvSpPr/>
          <p:nvPr/>
        </p:nvSpPr>
        <p:spPr bwMode="gray">
          <a:xfrm>
            <a:off x="2556000" y="2448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18" name="Rectangle 117">
            <a:extLst>
              <a:ext uri="{FF2B5EF4-FFF2-40B4-BE49-F238E27FC236}">
                <a16:creationId xmlns:a16="http://schemas.microsoft.com/office/drawing/2014/main" id="{00A1ED57-0185-A967-B135-D4F4539CEC05}"/>
              </a:ext>
            </a:extLst>
          </p:cNvPr>
          <p:cNvSpPr/>
          <p:nvPr/>
        </p:nvSpPr>
        <p:spPr bwMode="gray">
          <a:xfrm>
            <a:off x="3888000" y="5256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19" name="Rectangle 118">
            <a:extLst>
              <a:ext uri="{FF2B5EF4-FFF2-40B4-BE49-F238E27FC236}">
                <a16:creationId xmlns:a16="http://schemas.microsoft.com/office/drawing/2014/main" id="{A20FF40A-9629-3E9C-B681-08EEFAFB7114}"/>
              </a:ext>
            </a:extLst>
          </p:cNvPr>
          <p:cNvSpPr/>
          <p:nvPr/>
        </p:nvSpPr>
        <p:spPr bwMode="gray">
          <a:xfrm>
            <a:off x="5364000" y="4824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20" name="Rectangle 119">
            <a:extLst>
              <a:ext uri="{FF2B5EF4-FFF2-40B4-BE49-F238E27FC236}">
                <a16:creationId xmlns:a16="http://schemas.microsoft.com/office/drawing/2014/main" id="{42184249-7045-5757-4833-62D94620F3EF}"/>
              </a:ext>
            </a:extLst>
          </p:cNvPr>
          <p:cNvSpPr/>
          <p:nvPr/>
        </p:nvSpPr>
        <p:spPr bwMode="gray">
          <a:xfrm>
            <a:off x="4427638" y="4824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21" name="Rectangle 120">
            <a:extLst>
              <a:ext uri="{FF2B5EF4-FFF2-40B4-BE49-F238E27FC236}">
                <a16:creationId xmlns:a16="http://schemas.microsoft.com/office/drawing/2014/main" id="{A1097C95-D86D-D33D-A2E0-8E017ACA6689}"/>
              </a:ext>
            </a:extLst>
          </p:cNvPr>
          <p:cNvSpPr/>
          <p:nvPr/>
        </p:nvSpPr>
        <p:spPr bwMode="gray">
          <a:xfrm>
            <a:off x="4824000" y="5256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22" name="Rectangle 121">
            <a:extLst>
              <a:ext uri="{FF2B5EF4-FFF2-40B4-BE49-F238E27FC236}">
                <a16:creationId xmlns:a16="http://schemas.microsoft.com/office/drawing/2014/main" id="{D74D89DA-25C0-8E73-EFFD-0A50FFAFDEDE}"/>
              </a:ext>
            </a:extLst>
          </p:cNvPr>
          <p:cNvSpPr/>
          <p:nvPr/>
        </p:nvSpPr>
        <p:spPr bwMode="gray">
          <a:xfrm>
            <a:off x="2016000" y="288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23" name="Rectangle 122">
            <a:extLst>
              <a:ext uri="{FF2B5EF4-FFF2-40B4-BE49-F238E27FC236}">
                <a16:creationId xmlns:a16="http://schemas.microsoft.com/office/drawing/2014/main" id="{2D4F16D3-5D58-5A66-B9B8-6FCE346A7C55}"/>
              </a:ext>
            </a:extLst>
          </p:cNvPr>
          <p:cNvSpPr/>
          <p:nvPr/>
        </p:nvSpPr>
        <p:spPr bwMode="gray">
          <a:xfrm>
            <a:off x="8172000" y="2448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24" name="Rectangle 123">
            <a:extLst>
              <a:ext uri="{FF2B5EF4-FFF2-40B4-BE49-F238E27FC236}">
                <a16:creationId xmlns:a16="http://schemas.microsoft.com/office/drawing/2014/main" id="{5751C753-8373-B34D-C8D9-7FF2918E9569}"/>
              </a:ext>
            </a:extLst>
          </p:cNvPr>
          <p:cNvSpPr/>
          <p:nvPr/>
        </p:nvSpPr>
        <p:spPr bwMode="gray">
          <a:xfrm>
            <a:off x="9108000" y="2448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25" name="Rectangle 124">
            <a:extLst>
              <a:ext uri="{FF2B5EF4-FFF2-40B4-BE49-F238E27FC236}">
                <a16:creationId xmlns:a16="http://schemas.microsoft.com/office/drawing/2014/main" id="{4EB4A04C-104F-26F1-2DC1-2AB75846774E}"/>
              </a:ext>
            </a:extLst>
          </p:cNvPr>
          <p:cNvSpPr/>
          <p:nvPr/>
        </p:nvSpPr>
        <p:spPr bwMode="gray">
          <a:xfrm>
            <a:off x="7632000" y="288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26" name="Rectangle 125">
            <a:extLst>
              <a:ext uri="{FF2B5EF4-FFF2-40B4-BE49-F238E27FC236}">
                <a16:creationId xmlns:a16="http://schemas.microsoft.com/office/drawing/2014/main" id="{90558045-194F-E574-0929-FD39717E82BE}"/>
              </a:ext>
            </a:extLst>
          </p:cNvPr>
          <p:cNvSpPr/>
          <p:nvPr/>
        </p:nvSpPr>
        <p:spPr bwMode="gray">
          <a:xfrm>
            <a:off x="8568000" y="288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Tree>
    <p:extLst>
      <p:ext uri="{BB962C8B-B14F-4D97-AF65-F5344CB8AC3E}">
        <p14:creationId xmlns:p14="http://schemas.microsoft.com/office/powerpoint/2010/main" val="1196201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FF4FF-E336-01E9-18E1-E44F1D7BCEBE}"/>
              </a:ext>
            </a:extLst>
          </p:cNvPr>
          <p:cNvSpPr>
            <a:spLocks noGrp="1"/>
          </p:cNvSpPr>
          <p:nvPr>
            <p:ph type="title"/>
          </p:nvPr>
        </p:nvSpPr>
        <p:spPr>
          <a:xfrm>
            <a:off x="504001" y="504000"/>
            <a:ext cx="11186476" cy="677108"/>
          </a:xfrm>
        </p:spPr>
        <p:txBody>
          <a:bodyPr/>
          <a:lstStyle/>
          <a:p>
            <a:r>
              <a:rPr lang="en-US" dirty="0"/>
              <a:t>SAP BNAC – </a:t>
            </a:r>
            <a:r>
              <a:rPr lang="en-US" dirty="0" err="1"/>
              <a:t>PiLog</a:t>
            </a:r>
            <a:r>
              <a:rPr lang="en-US" dirty="0"/>
              <a:t> ICF Integration</a:t>
            </a:r>
            <a:br>
              <a:rPr lang="en-US" dirty="0"/>
            </a:br>
            <a:r>
              <a:rPr lang="en-US" sz="2000" dirty="0">
                <a:solidFill>
                  <a:schemeClr val="tx2"/>
                </a:solidFill>
              </a:rPr>
              <a:t>Process Flow – Based on Equipment Request</a:t>
            </a:r>
            <a:endParaRPr lang="en-DE" dirty="0">
              <a:solidFill>
                <a:schemeClr val="tx2"/>
              </a:solidFill>
            </a:endParaRPr>
          </a:p>
        </p:txBody>
      </p:sp>
      <p:sp>
        <p:nvSpPr>
          <p:cNvPr id="3" name="Rectangle 2">
            <a:extLst>
              <a:ext uri="{FF2B5EF4-FFF2-40B4-BE49-F238E27FC236}">
                <a16:creationId xmlns:a16="http://schemas.microsoft.com/office/drawing/2014/main" id="{0E487B39-DAC6-B951-7E3D-41BC1467BAA2}"/>
              </a:ext>
            </a:extLst>
          </p:cNvPr>
          <p:cNvSpPr/>
          <p:nvPr/>
        </p:nvSpPr>
        <p:spPr bwMode="gray">
          <a:xfrm>
            <a:off x="504000" y="1440000"/>
            <a:ext cx="11160000" cy="792000"/>
          </a:xfrm>
          <a:prstGeom prst="rect">
            <a:avLst/>
          </a:prstGeom>
          <a:solidFill>
            <a:schemeClr val="tx2">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SAP ERP Operator</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 name="Rectangle 3">
            <a:extLst>
              <a:ext uri="{FF2B5EF4-FFF2-40B4-BE49-F238E27FC236}">
                <a16:creationId xmlns:a16="http://schemas.microsoft.com/office/drawing/2014/main" id="{E80EC75D-3176-1446-3E0B-A51564D75247}"/>
              </a:ext>
            </a:extLst>
          </p:cNvPr>
          <p:cNvSpPr/>
          <p:nvPr/>
        </p:nvSpPr>
        <p:spPr bwMode="gray">
          <a:xfrm>
            <a:off x="504000" y="2232000"/>
            <a:ext cx="11160000" cy="1584000"/>
          </a:xfrm>
          <a:prstGeom prst="rect">
            <a:avLst/>
          </a:prstGeom>
          <a:solidFill>
            <a:schemeClr val="tx2">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Aft>
                <a:spcPct val="0"/>
              </a:spcAft>
              <a:buClr>
                <a:srgbClr val="F0AB00"/>
              </a:buClr>
              <a:buSzPct val="80000"/>
              <a:tabLst/>
            </a:pP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SAP BNAC </a:t>
            </a:r>
          </a:p>
          <a:p>
            <a:pPr marR="0" algn="ctr" defTabSz="914400" eaLnBrk="1" fontAlgn="base" latinLnBrk="0" hangingPunct="1">
              <a:lnSpc>
                <a:spcPct val="100000"/>
              </a:lnSpc>
              <a:spcAft>
                <a:spcPct val="0"/>
              </a:spcAft>
              <a:buClr>
                <a:srgbClr val="F0AB00"/>
              </a:buClr>
              <a:buSzPct val="80000"/>
              <a:tabLst/>
            </a:pP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Operator</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 name="Rectangle 4">
            <a:extLst>
              <a:ext uri="{FF2B5EF4-FFF2-40B4-BE49-F238E27FC236}">
                <a16:creationId xmlns:a16="http://schemas.microsoft.com/office/drawing/2014/main" id="{7C764C3B-5B7A-73BF-7E41-99CA2B051F54}"/>
              </a:ext>
            </a:extLst>
          </p:cNvPr>
          <p:cNvSpPr/>
          <p:nvPr/>
        </p:nvSpPr>
        <p:spPr bwMode="gray">
          <a:xfrm>
            <a:off x="504000" y="4608000"/>
            <a:ext cx="11160000" cy="792000"/>
          </a:xfrm>
          <a:prstGeom prst="rect">
            <a:avLst/>
          </a:prstGeom>
          <a:solidFill>
            <a:schemeClr val="accent6">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SAP BNAC OEM</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6" name="Rectangle 5">
            <a:extLst>
              <a:ext uri="{FF2B5EF4-FFF2-40B4-BE49-F238E27FC236}">
                <a16:creationId xmlns:a16="http://schemas.microsoft.com/office/drawing/2014/main" id="{0E01FF3E-4196-B35B-4CDB-CF43E25DDB4E}"/>
              </a:ext>
            </a:extLst>
          </p:cNvPr>
          <p:cNvSpPr/>
          <p:nvPr/>
        </p:nvSpPr>
        <p:spPr bwMode="gray">
          <a:xfrm>
            <a:off x="504000" y="3816000"/>
            <a:ext cx="11160000" cy="792000"/>
          </a:xfrm>
          <a:prstGeom prst="rect">
            <a:avLst/>
          </a:prstGeom>
          <a:solidFill>
            <a:schemeClr val="tx2">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 ICF Operator</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999879D1-8D57-86F9-8164-9C441496E56F}"/>
              </a:ext>
            </a:extLst>
          </p:cNvPr>
          <p:cNvSpPr/>
          <p:nvPr/>
        </p:nvSpPr>
        <p:spPr bwMode="gray">
          <a:xfrm>
            <a:off x="504000" y="5400000"/>
            <a:ext cx="11160000" cy="792000"/>
          </a:xfrm>
          <a:prstGeom prst="rect">
            <a:avLst/>
          </a:prstGeom>
          <a:solidFill>
            <a:schemeClr val="accent6">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100" b="0" i="0" u="none" strike="noStrike" kern="0" cap="none" spc="0" normalizeH="0" baseline="0" noProof="0" dirty="0">
                <a:ln>
                  <a:noFill/>
                </a:ln>
                <a:effectLst/>
                <a:uLnTx/>
                <a:uFillTx/>
                <a:latin typeface="+mn-lt"/>
                <a:ea typeface="Arial Unicode MS" pitchFamily="34" charset="-128"/>
                <a:cs typeface="Arial Unicode MS" pitchFamily="34" charset="-128"/>
              </a:rPr>
              <a:t> ICF OEM</a:t>
            </a:r>
            <a:endParaRPr kumimoji="0" lang="en-DE" sz="11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 name="Oval 8">
            <a:extLst>
              <a:ext uri="{FF2B5EF4-FFF2-40B4-BE49-F238E27FC236}">
                <a16:creationId xmlns:a16="http://schemas.microsoft.com/office/drawing/2014/main" id="{8B1EAC69-B69E-0EFE-5265-CFDA3C12B97E}"/>
              </a:ext>
            </a:extLst>
          </p:cNvPr>
          <p:cNvSpPr>
            <a:spLocks noChangeAspect="1"/>
          </p:cNvSpPr>
          <p:nvPr/>
        </p:nvSpPr>
        <p:spPr bwMode="gray">
          <a:xfrm>
            <a:off x="1080000" y="1548000"/>
            <a:ext cx="576000" cy="576000"/>
          </a:xfrm>
          <a:prstGeom prst="ellipse">
            <a:avLst/>
          </a:prstGeom>
          <a:solidFill>
            <a:schemeClr val="accent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rPr>
              <a:t>Issues with technical objects data quality</a:t>
            </a:r>
            <a:endParaRPr kumimoji="0" lang="en-DE"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endParaRPr>
          </a:p>
        </p:txBody>
      </p:sp>
      <p:sp>
        <p:nvSpPr>
          <p:cNvPr id="17" name="Oval 16">
            <a:extLst>
              <a:ext uri="{FF2B5EF4-FFF2-40B4-BE49-F238E27FC236}">
                <a16:creationId xmlns:a16="http://schemas.microsoft.com/office/drawing/2014/main" id="{83A39408-0A04-8E3E-9367-2D3356CD652B}"/>
              </a:ext>
            </a:extLst>
          </p:cNvPr>
          <p:cNvSpPr>
            <a:spLocks noChangeAspect="1"/>
          </p:cNvSpPr>
          <p:nvPr/>
        </p:nvSpPr>
        <p:spPr bwMode="gray">
          <a:xfrm>
            <a:off x="10296000" y="1548000"/>
            <a:ext cx="576000" cy="576000"/>
          </a:xfrm>
          <a:prstGeom prst="ellipse">
            <a:avLst/>
          </a:prstGeom>
          <a:solidFill>
            <a:schemeClr val="accent3"/>
          </a:solidFill>
          <a:ln w="31750" cmpd="thickThin"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rPr>
              <a:t>Technical objects with good data quality</a:t>
            </a:r>
            <a:endParaRPr kumimoji="0" lang="en-DE"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endParaRPr>
          </a:p>
        </p:txBody>
      </p:sp>
      <p:sp>
        <p:nvSpPr>
          <p:cNvPr id="27" name="Rectangle: Rounded Corners 26">
            <a:extLst>
              <a:ext uri="{FF2B5EF4-FFF2-40B4-BE49-F238E27FC236}">
                <a16:creationId xmlns:a16="http://schemas.microsoft.com/office/drawing/2014/main" id="{9E8D3BDF-58C1-FE84-194F-0F33780C770B}"/>
              </a:ext>
            </a:extLst>
          </p:cNvPr>
          <p:cNvSpPr/>
          <p:nvPr/>
        </p:nvSpPr>
        <p:spPr bwMode="gray">
          <a:xfrm>
            <a:off x="2808000" y="2340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Send equipment request to OEM</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8" name="Flowchart: Decision 27">
            <a:extLst>
              <a:ext uri="{FF2B5EF4-FFF2-40B4-BE49-F238E27FC236}">
                <a16:creationId xmlns:a16="http://schemas.microsoft.com/office/drawing/2014/main" id="{65924CF1-3CF5-CF93-B20F-4659555A4591}"/>
              </a:ext>
            </a:extLst>
          </p:cNvPr>
          <p:cNvSpPr>
            <a:spLocks/>
          </p:cNvSpPr>
          <p:nvPr/>
        </p:nvSpPr>
        <p:spPr bwMode="gray">
          <a:xfrm>
            <a:off x="1872000" y="2340000"/>
            <a:ext cx="720000" cy="576000"/>
          </a:xfrm>
          <a:prstGeom prst="flowChartDecision">
            <a:avLst/>
          </a:prstGeom>
          <a:solidFill>
            <a:schemeClr val="bg1"/>
          </a:solidFill>
          <a:ln w="127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 OEM in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9" name="Straight Arrow Connector 28">
            <a:extLst>
              <a:ext uri="{FF2B5EF4-FFF2-40B4-BE49-F238E27FC236}">
                <a16:creationId xmlns:a16="http://schemas.microsoft.com/office/drawing/2014/main" id="{9D69294C-62D1-E614-43EA-4DEC215077C8}"/>
              </a:ext>
            </a:extLst>
          </p:cNvPr>
          <p:cNvCxnSpPr>
            <a:cxnSpLocks/>
            <a:stCxn id="28" idx="3"/>
            <a:endCxn id="27" idx="1"/>
          </p:cNvCxnSpPr>
          <p:nvPr/>
        </p:nvCxnSpPr>
        <p:spPr>
          <a:xfrm>
            <a:off x="2592000" y="2628000"/>
            <a:ext cx="216000" cy="0"/>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5A5A096-EC5A-2E97-2FF3-A1F6897C7D14}"/>
              </a:ext>
            </a:extLst>
          </p:cNvPr>
          <p:cNvCxnSpPr>
            <a:stCxn id="27" idx="2"/>
            <a:endCxn id="34" idx="0"/>
          </p:cNvCxnSpPr>
          <p:nvPr/>
        </p:nvCxnSpPr>
        <p:spPr>
          <a:xfrm>
            <a:off x="3168000" y="2916000"/>
            <a:ext cx="0" cy="180000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9EC65AA-1A45-FFBC-F338-9D1EBD045BB1}"/>
              </a:ext>
            </a:extLst>
          </p:cNvPr>
          <p:cNvCxnSpPr>
            <a:stCxn id="42" idx="2"/>
            <a:endCxn id="47" idx="0"/>
          </p:cNvCxnSpPr>
          <p:nvPr/>
        </p:nvCxnSpPr>
        <p:spPr>
          <a:xfrm>
            <a:off x="4104000" y="5292000"/>
            <a:ext cx="0" cy="21600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2BE72C1-DE1E-2D34-D905-5AF2663B577B}"/>
              </a:ext>
            </a:extLst>
          </p:cNvPr>
          <p:cNvCxnSpPr>
            <a:cxnSpLocks/>
            <a:stCxn id="50" idx="2"/>
            <a:endCxn id="53" idx="0"/>
          </p:cNvCxnSpPr>
          <p:nvPr/>
        </p:nvCxnSpPr>
        <p:spPr>
          <a:xfrm>
            <a:off x="5040000" y="5292000"/>
            <a:ext cx="4846" cy="21600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940E2DA5-E667-D673-58CB-A2FB80C0F093}"/>
              </a:ext>
            </a:extLst>
          </p:cNvPr>
          <p:cNvGrpSpPr/>
          <p:nvPr/>
        </p:nvGrpSpPr>
        <p:grpSpPr>
          <a:xfrm>
            <a:off x="3744000" y="5508000"/>
            <a:ext cx="1660846" cy="576000"/>
            <a:chOff x="5400000" y="5651999"/>
            <a:chExt cx="1660846" cy="576000"/>
          </a:xfrm>
        </p:grpSpPr>
        <p:sp>
          <p:nvSpPr>
            <p:cNvPr id="47" name="Rectangle: Rounded Corners 46">
              <a:extLst>
                <a:ext uri="{FF2B5EF4-FFF2-40B4-BE49-F238E27FC236}">
                  <a16:creationId xmlns:a16="http://schemas.microsoft.com/office/drawing/2014/main" id="{D83F749E-7F45-D495-4806-A5298CA6FFD4}"/>
                </a:ext>
              </a:extLst>
            </p:cNvPr>
            <p:cNvSpPr/>
            <p:nvPr/>
          </p:nvSpPr>
          <p:spPr bwMode="gray">
            <a:xfrm>
              <a:off x="5400000" y="5651999"/>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Content creation via AI</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3" name="Rectangle: Rounded Corners 52">
              <a:extLst>
                <a:ext uri="{FF2B5EF4-FFF2-40B4-BE49-F238E27FC236}">
                  <a16:creationId xmlns:a16="http://schemas.microsoft.com/office/drawing/2014/main" id="{D812D698-24AA-C482-F65B-919A9779F20B}"/>
                </a:ext>
              </a:extLst>
            </p:cNvPr>
            <p:cNvSpPr/>
            <p:nvPr/>
          </p:nvSpPr>
          <p:spPr bwMode="gray">
            <a:xfrm>
              <a:off x="6340846" y="5651999"/>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Classification mapping</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58" name="Straight Arrow Connector 57">
              <a:extLst>
                <a:ext uri="{FF2B5EF4-FFF2-40B4-BE49-F238E27FC236}">
                  <a16:creationId xmlns:a16="http://schemas.microsoft.com/office/drawing/2014/main" id="{B7C99C39-AC68-BD2C-A772-CCAD11726F5C}"/>
                </a:ext>
              </a:extLst>
            </p:cNvPr>
            <p:cNvCxnSpPr>
              <a:stCxn id="47" idx="3"/>
              <a:endCxn id="53" idx="1"/>
            </p:cNvCxnSpPr>
            <p:nvPr/>
          </p:nvCxnSpPr>
          <p:spPr>
            <a:xfrm>
              <a:off x="6120000" y="5939999"/>
              <a:ext cx="220846"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60" name="Connector: Elbow 59">
            <a:extLst>
              <a:ext uri="{FF2B5EF4-FFF2-40B4-BE49-F238E27FC236}">
                <a16:creationId xmlns:a16="http://schemas.microsoft.com/office/drawing/2014/main" id="{25218CD1-859A-2606-C291-AC956BDA5B5E}"/>
              </a:ext>
            </a:extLst>
          </p:cNvPr>
          <p:cNvCxnSpPr>
            <a:stCxn id="53" idx="3"/>
            <a:endCxn id="35" idx="2"/>
          </p:cNvCxnSpPr>
          <p:nvPr/>
        </p:nvCxnSpPr>
        <p:spPr>
          <a:xfrm flipV="1">
            <a:off x="5404846" y="5292001"/>
            <a:ext cx="571154" cy="503999"/>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7BC0BEEB-3AB6-0D2F-801B-FC5E12A136E8}"/>
              </a:ext>
            </a:extLst>
          </p:cNvPr>
          <p:cNvGrpSpPr/>
          <p:nvPr/>
        </p:nvGrpSpPr>
        <p:grpSpPr>
          <a:xfrm>
            <a:off x="2808000" y="4716000"/>
            <a:ext cx="4464000" cy="576001"/>
            <a:chOff x="4464000" y="4571999"/>
            <a:chExt cx="4464000" cy="576001"/>
          </a:xfrm>
        </p:grpSpPr>
        <p:sp>
          <p:nvSpPr>
            <p:cNvPr id="34" name="Rectangle: Rounded Corners 33">
              <a:extLst>
                <a:ext uri="{FF2B5EF4-FFF2-40B4-BE49-F238E27FC236}">
                  <a16:creationId xmlns:a16="http://schemas.microsoft.com/office/drawing/2014/main" id="{FDCFC067-CA36-3DEA-5170-B7C19BF81435}"/>
                </a:ext>
              </a:extLst>
            </p:cNvPr>
            <p:cNvSpPr/>
            <p:nvPr/>
          </p:nvSpPr>
          <p:spPr bwMode="gray">
            <a:xfrm>
              <a:off x="4464000" y="457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Receive equipment request from Operator</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6" name="Straight Arrow Connector 35">
              <a:extLst>
                <a:ext uri="{FF2B5EF4-FFF2-40B4-BE49-F238E27FC236}">
                  <a16:creationId xmlns:a16="http://schemas.microsoft.com/office/drawing/2014/main" id="{6F2B59BB-39D1-D6F1-8E40-F90689C387B9}"/>
                </a:ext>
              </a:extLst>
            </p:cNvPr>
            <p:cNvCxnSpPr>
              <a:cxnSpLocks/>
              <a:stCxn id="42" idx="3"/>
              <a:endCxn id="50" idx="1"/>
            </p:cNvCxnSpPr>
            <p:nvPr/>
          </p:nvCxnSpPr>
          <p:spPr>
            <a:xfrm>
              <a:off x="6120000" y="4859999"/>
              <a:ext cx="216000" cy="0"/>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4E0CC03D-6701-2345-1ACA-7FD4A166EA2A}"/>
                </a:ext>
              </a:extLst>
            </p:cNvPr>
            <p:cNvGrpSpPr/>
            <p:nvPr/>
          </p:nvGrpSpPr>
          <p:grpSpPr>
            <a:xfrm>
              <a:off x="7272000" y="4572000"/>
              <a:ext cx="1656000" cy="576000"/>
              <a:chOff x="5400000" y="4572000"/>
              <a:chExt cx="1656000" cy="576000"/>
            </a:xfrm>
          </p:grpSpPr>
          <p:sp>
            <p:nvSpPr>
              <p:cNvPr id="35" name="Rectangle: Rounded Corners 34">
                <a:extLst>
                  <a:ext uri="{FF2B5EF4-FFF2-40B4-BE49-F238E27FC236}">
                    <a16:creationId xmlns:a16="http://schemas.microsoft.com/office/drawing/2014/main" id="{400E6F8A-3F4A-FB47-88BD-DF4C28F8496B}"/>
                  </a:ext>
                </a:extLst>
              </p:cNvPr>
              <p:cNvSpPr/>
              <p:nvPr/>
            </p:nvSpPr>
            <p:spPr bwMode="gray">
              <a:xfrm>
                <a:off x="5400000" y="457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Create equipment and dependent data</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7" name="Rectangle: Rounded Corners 36">
                <a:extLst>
                  <a:ext uri="{FF2B5EF4-FFF2-40B4-BE49-F238E27FC236}">
                    <a16:creationId xmlns:a16="http://schemas.microsoft.com/office/drawing/2014/main" id="{FD3A5577-4636-E960-D35E-5E8F81543995}"/>
                  </a:ext>
                </a:extLst>
              </p:cNvPr>
              <p:cNvSpPr/>
              <p:nvPr/>
            </p:nvSpPr>
            <p:spPr bwMode="gray">
              <a:xfrm>
                <a:off x="6336000" y="457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Share equipment and dependent data to Operator</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8" name="Straight Arrow Connector 37">
                <a:extLst>
                  <a:ext uri="{FF2B5EF4-FFF2-40B4-BE49-F238E27FC236}">
                    <a16:creationId xmlns:a16="http://schemas.microsoft.com/office/drawing/2014/main" id="{E5CFEC1A-3C32-E517-56BE-506736DEDE87}"/>
                  </a:ext>
                </a:extLst>
              </p:cNvPr>
              <p:cNvCxnSpPr>
                <a:stCxn id="35" idx="3"/>
                <a:endCxn id="37" idx="1"/>
              </p:cNvCxnSpPr>
              <p:nvPr/>
            </p:nvCxnSpPr>
            <p:spPr>
              <a:xfrm>
                <a:off x="6120000" y="4860000"/>
                <a:ext cx="216000" cy="0"/>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42" name="Flowchart: Decision 41">
              <a:extLst>
                <a:ext uri="{FF2B5EF4-FFF2-40B4-BE49-F238E27FC236}">
                  <a16:creationId xmlns:a16="http://schemas.microsoft.com/office/drawing/2014/main" id="{378B1664-11A8-A23D-344A-57B4243554B2}"/>
                </a:ext>
              </a:extLst>
            </p:cNvPr>
            <p:cNvSpPr>
              <a:spLocks/>
            </p:cNvSpPr>
            <p:nvPr/>
          </p:nvSpPr>
          <p:spPr bwMode="gray">
            <a:xfrm>
              <a:off x="5400000" y="4571999"/>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dirty="0">
                  <a:ln>
                    <a:noFill/>
                  </a:ln>
                  <a:effectLst/>
                  <a:uLnTx/>
                  <a:uFillTx/>
                  <a:latin typeface="+mn-lt"/>
                  <a:ea typeface="Arial Unicode MS" pitchFamily="34" charset="-128"/>
                  <a:cs typeface="Arial Unicode MS" pitchFamily="34" charset="-128"/>
                </a:rPr>
                <a:t>Is requested data available in unstructured format?</a:t>
              </a:r>
              <a:endParaRPr kumimoji="0" lang="en-DE" sz="4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44" name="Straight Arrow Connector 43">
              <a:extLst>
                <a:ext uri="{FF2B5EF4-FFF2-40B4-BE49-F238E27FC236}">
                  <a16:creationId xmlns:a16="http://schemas.microsoft.com/office/drawing/2014/main" id="{E1F9B53C-9353-EF2B-6FB4-674A794AE559}"/>
                </a:ext>
              </a:extLst>
            </p:cNvPr>
            <p:cNvCxnSpPr>
              <a:cxnSpLocks/>
              <a:stCxn id="34" idx="3"/>
              <a:endCxn id="42" idx="1"/>
            </p:cNvCxnSpPr>
            <p:nvPr/>
          </p:nvCxnSpPr>
          <p:spPr>
            <a:xfrm flipV="1">
              <a:off x="5184000" y="4859999"/>
              <a:ext cx="216000" cy="1"/>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0" name="Flowchart: Decision 49">
              <a:extLst>
                <a:ext uri="{FF2B5EF4-FFF2-40B4-BE49-F238E27FC236}">
                  <a16:creationId xmlns:a16="http://schemas.microsoft.com/office/drawing/2014/main" id="{0513C415-554D-8662-7516-D80EA57636E5}"/>
                </a:ext>
              </a:extLst>
            </p:cNvPr>
            <p:cNvSpPr>
              <a:spLocks/>
            </p:cNvSpPr>
            <p:nvPr/>
          </p:nvSpPr>
          <p:spPr bwMode="gray">
            <a:xfrm>
              <a:off x="6336000" y="4571999"/>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dirty="0">
                  <a:ln>
                    <a:noFill/>
                  </a:ln>
                  <a:effectLst/>
                  <a:uLnTx/>
                  <a:uFillTx/>
                  <a:latin typeface="+mn-lt"/>
                  <a:ea typeface="Arial Unicode MS" pitchFamily="34" charset="-128"/>
                  <a:cs typeface="Arial Unicode MS" pitchFamily="34" charset="-128"/>
                </a:rPr>
                <a:t>Is requested data classified according to operator?</a:t>
              </a:r>
              <a:endParaRPr kumimoji="0" lang="en-DE" sz="4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1" name="Straight Arrow Connector 60">
              <a:extLst>
                <a:ext uri="{FF2B5EF4-FFF2-40B4-BE49-F238E27FC236}">
                  <a16:creationId xmlns:a16="http://schemas.microsoft.com/office/drawing/2014/main" id="{E59BC24C-FCD6-D2EE-51E6-56E25D6BD569}"/>
                </a:ext>
              </a:extLst>
            </p:cNvPr>
            <p:cNvCxnSpPr>
              <a:cxnSpLocks/>
              <a:stCxn id="50" idx="3"/>
              <a:endCxn id="35" idx="1"/>
            </p:cNvCxnSpPr>
            <p:nvPr/>
          </p:nvCxnSpPr>
          <p:spPr>
            <a:xfrm>
              <a:off x="7056000" y="4859999"/>
              <a:ext cx="216000" cy="1"/>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64" name="Rectangle: Rounded Corners 63">
            <a:extLst>
              <a:ext uri="{FF2B5EF4-FFF2-40B4-BE49-F238E27FC236}">
                <a16:creationId xmlns:a16="http://schemas.microsoft.com/office/drawing/2014/main" id="{EADCF4F0-62E8-F744-A645-039D251914D7}"/>
              </a:ext>
            </a:extLst>
          </p:cNvPr>
          <p:cNvSpPr/>
          <p:nvPr/>
        </p:nvSpPr>
        <p:spPr bwMode="gray">
          <a:xfrm>
            <a:off x="6552000" y="2339999"/>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Receive equipment and dependent data from OEM</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5" name="Straight Arrow Connector 64">
            <a:extLst>
              <a:ext uri="{FF2B5EF4-FFF2-40B4-BE49-F238E27FC236}">
                <a16:creationId xmlns:a16="http://schemas.microsoft.com/office/drawing/2014/main" id="{B84DDA24-A5CB-A0B4-594F-E04749D249F3}"/>
              </a:ext>
            </a:extLst>
          </p:cNvPr>
          <p:cNvCxnSpPr>
            <a:cxnSpLocks/>
            <a:stCxn id="37" idx="0"/>
            <a:endCxn id="64" idx="2"/>
          </p:cNvCxnSpPr>
          <p:nvPr/>
        </p:nvCxnSpPr>
        <p:spPr>
          <a:xfrm flipV="1">
            <a:off x="6912000" y="2915999"/>
            <a:ext cx="0" cy="180000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8" name="Flowchart: Decision 67">
            <a:extLst>
              <a:ext uri="{FF2B5EF4-FFF2-40B4-BE49-F238E27FC236}">
                <a16:creationId xmlns:a16="http://schemas.microsoft.com/office/drawing/2014/main" id="{E25CDFBF-7E10-F779-1C71-7C1FCFD1B216}"/>
              </a:ext>
            </a:extLst>
          </p:cNvPr>
          <p:cNvSpPr>
            <a:spLocks/>
          </p:cNvSpPr>
          <p:nvPr/>
        </p:nvSpPr>
        <p:spPr bwMode="gray">
          <a:xfrm>
            <a:off x="7488000" y="2339999"/>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dirty="0">
                <a:ln>
                  <a:noFill/>
                </a:ln>
                <a:effectLst/>
                <a:uLnTx/>
                <a:uFillTx/>
                <a:latin typeface="+mn-lt"/>
                <a:ea typeface="Arial Unicode MS" pitchFamily="34" charset="-128"/>
                <a:cs typeface="Arial Unicode MS" pitchFamily="34" charset="-128"/>
              </a:rPr>
              <a:t>Is classification mapping needed?</a:t>
            </a:r>
            <a:endParaRPr kumimoji="0" lang="en-DE" sz="4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9" name="Straight Arrow Connector 68">
            <a:extLst>
              <a:ext uri="{FF2B5EF4-FFF2-40B4-BE49-F238E27FC236}">
                <a16:creationId xmlns:a16="http://schemas.microsoft.com/office/drawing/2014/main" id="{B67C29E0-7B7E-FFAF-DD1D-EFAC3DE7B634}"/>
              </a:ext>
            </a:extLst>
          </p:cNvPr>
          <p:cNvCxnSpPr>
            <a:cxnSpLocks/>
            <a:stCxn id="64" idx="3"/>
            <a:endCxn id="68" idx="1"/>
          </p:cNvCxnSpPr>
          <p:nvPr/>
        </p:nvCxnSpPr>
        <p:spPr>
          <a:xfrm>
            <a:off x="7272000" y="2627999"/>
            <a:ext cx="216000" cy="0"/>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2" name="Rectangle: Rounded Corners 71">
            <a:extLst>
              <a:ext uri="{FF2B5EF4-FFF2-40B4-BE49-F238E27FC236}">
                <a16:creationId xmlns:a16="http://schemas.microsoft.com/office/drawing/2014/main" id="{0B308263-676D-7161-FBA9-F1FEC204D180}"/>
              </a:ext>
            </a:extLst>
          </p:cNvPr>
          <p:cNvSpPr/>
          <p:nvPr/>
        </p:nvSpPr>
        <p:spPr bwMode="gray">
          <a:xfrm>
            <a:off x="7488000" y="3924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Classification mapping</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3" name="Straight Arrow Connector 72">
            <a:extLst>
              <a:ext uri="{FF2B5EF4-FFF2-40B4-BE49-F238E27FC236}">
                <a16:creationId xmlns:a16="http://schemas.microsoft.com/office/drawing/2014/main" id="{93737433-6AC6-0E00-F393-0FBF2DCFA035}"/>
              </a:ext>
            </a:extLst>
          </p:cNvPr>
          <p:cNvCxnSpPr>
            <a:cxnSpLocks/>
            <a:stCxn id="68" idx="2"/>
            <a:endCxn id="72" idx="0"/>
          </p:cNvCxnSpPr>
          <p:nvPr/>
        </p:nvCxnSpPr>
        <p:spPr>
          <a:xfrm>
            <a:off x="7848000" y="2915999"/>
            <a:ext cx="0" cy="100800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Rectangle: Rounded Corners 73">
            <a:extLst>
              <a:ext uri="{FF2B5EF4-FFF2-40B4-BE49-F238E27FC236}">
                <a16:creationId xmlns:a16="http://schemas.microsoft.com/office/drawing/2014/main" id="{7B3349A8-D942-6BF9-662B-DA3315713EED}"/>
              </a:ext>
            </a:extLst>
          </p:cNvPr>
          <p:cNvSpPr/>
          <p:nvPr/>
        </p:nvSpPr>
        <p:spPr bwMode="gray">
          <a:xfrm>
            <a:off x="1872000" y="313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Check for data in </a:t>
            </a:r>
            <a:r>
              <a:rPr kumimoji="0" lang="en-US" sz="7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lang="en-US" sz="700" kern="0" dirty="0">
                <a:latin typeface="+mn-lt"/>
                <a:ea typeface="Arial Unicode MS" pitchFamily="34" charset="-128"/>
                <a:cs typeface="Arial Unicode MS" pitchFamily="34" charset="-128"/>
              </a:rPr>
              <a:t> ICF</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5" name="Straight Arrow Connector 74">
            <a:extLst>
              <a:ext uri="{FF2B5EF4-FFF2-40B4-BE49-F238E27FC236}">
                <a16:creationId xmlns:a16="http://schemas.microsoft.com/office/drawing/2014/main" id="{66272B61-467C-CF1B-2D3A-755BBC72D8F7}"/>
              </a:ext>
            </a:extLst>
          </p:cNvPr>
          <p:cNvCxnSpPr>
            <a:cxnSpLocks/>
            <a:stCxn id="28" idx="2"/>
            <a:endCxn id="74" idx="0"/>
          </p:cNvCxnSpPr>
          <p:nvPr/>
        </p:nvCxnSpPr>
        <p:spPr>
          <a:xfrm>
            <a:off x="2232000" y="2916000"/>
            <a:ext cx="0" cy="21600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2" name="Flowchart: Decision 81">
            <a:extLst>
              <a:ext uri="{FF2B5EF4-FFF2-40B4-BE49-F238E27FC236}">
                <a16:creationId xmlns:a16="http://schemas.microsoft.com/office/drawing/2014/main" id="{EC6EF6E7-E9FA-347A-9523-F7C660AF4A38}"/>
              </a:ext>
            </a:extLst>
          </p:cNvPr>
          <p:cNvSpPr>
            <a:spLocks/>
          </p:cNvSpPr>
          <p:nvPr/>
        </p:nvSpPr>
        <p:spPr bwMode="gray">
          <a:xfrm>
            <a:off x="8424000" y="2339998"/>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dirty="0">
                <a:ln>
                  <a:noFill/>
                </a:ln>
                <a:effectLst/>
                <a:uLnTx/>
                <a:uFillTx/>
                <a:latin typeface="+mn-lt"/>
                <a:ea typeface="Arial Unicode MS" pitchFamily="34" charset="-128"/>
                <a:cs typeface="Arial Unicode MS" pitchFamily="34" charset="-128"/>
              </a:rPr>
              <a:t>Is MDG needed?</a:t>
            </a:r>
            <a:endParaRPr kumimoji="0" lang="en-DE" sz="4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83" name="Straight Arrow Connector 82">
            <a:extLst>
              <a:ext uri="{FF2B5EF4-FFF2-40B4-BE49-F238E27FC236}">
                <a16:creationId xmlns:a16="http://schemas.microsoft.com/office/drawing/2014/main" id="{0109D98C-F978-C2BB-5FB3-0E8E235903CE}"/>
              </a:ext>
            </a:extLst>
          </p:cNvPr>
          <p:cNvCxnSpPr>
            <a:cxnSpLocks/>
            <a:stCxn id="68" idx="3"/>
            <a:endCxn id="82" idx="1"/>
          </p:cNvCxnSpPr>
          <p:nvPr/>
        </p:nvCxnSpPr>
        <p:spPr>
          <a:xfrm flipV="1">
            <a:off x="8208000" y="2627998"/>
            <a:ext cx="216000" cy="1"/>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4EED39BB-6EAA-35B3-58A0-68DCFA2F7441}"/>
              </a:ext>
            </a:extLst>
          </p:cNvPr>
          <p:cNvCxnSpPr>
            <a:stCxn id="72" idx="3"/>
            <a:endCxn id="82" idx="1"/>
          </p:cNvCxnSpPr>
          <p:nvPr/>
        </p:nvCxnSpPr>
        <p:spPr>
          <a:xfrm flipV="1">
            <a:off x="8208000" y="2627998"/>
            <a:ext cx="216000" cy="1584002"/>
          </a:xfrm>
          <a:prstGeom prst="bentConnector3">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8" name="Rectangle: Rounded Corners 87">
            <a:extLst>
              <a:ext uri="{FF2B5EF4-FFF2-40B4-BE49-F238E27FC236}">
                <a16:creationId xmlns:a16="http://schemas.microsoft.com/office/drawing/2014/main" id="{209C15C8-E7C1-CE6B-8943-BC9FF4AAC10C}"/>
              </a:ext>
            </a:extLst>
          </p:cNvPr>
          <p:cNvSpPr/>
          <p:nvPr/>
        </p:nvSpPr>
        <p:spPr bwMode="gray">
          <a:xfrm>
            <a:off x="8429750" y="3923998"/>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Review, governance, check, validation</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89" name="Straight Arrow Connector 88">
            <a:extLst>
              <a:ext uri="{FF2B5EF4-FFF2-40B4-BE49-F238E27FC236}">
                <a16:creationId xmlns:a16="http://schemas.microsoft.com/office/drawing/2014/main" id="{4B00AAC7-AEAB-7899-ED40-145AC079E310}"/>
              </a:ext>
            </a:extLst>
          </p:cNvPr>
          <p:cNvCxnSpPr>
            <a:cxnSpLocks/>
            <a:stCxn id="72" idx="3"/>
            <a:endCxn id="88" idx="1"/>
          </p:cNvCxnSpPr>
          <p:nvPr/>
        </p:nvCxnSpPr>
        <p:spPr>
          <a:xfrm flipV="1">
            <a:off x="8208000" y="4211998"/>
            <a:ext cx="221750" cy="2"/>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2" name="Rectangle: Rounded Corners 91">
            <a:extLst>
              <a:ext uri="{FF2B5EF4-FFF2-40B4-BE49-F238E27FC236}">
                <a16:creationId xmlns:a16="http://schemas.microsoft.com/office/drawing/2014/main" id="{8118EF64-16CC-8F2F-4590-FCD8EC2F00CF}"/>
              </a:ext>
            </a:extLst>
          </p:cNvPr>
          <p:cNvSpPr/>
          <p:nvPr/>
        </p:nvSpPr>
        <p:spPr bwMode="gray">
          <a:xfrm>
            <a:off x="9360000" y="2339998"/>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Replicate equipment and improvement data to SAP ERP</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93" name="Straight Arrow Connector 92">
            <a:extLst>
              <a:ext uri="{FF2B5EF4-FFF2-40B4-BE49-F238E27FC236}">
                <a16:creationId xmlns:a16="http://schemas.microsoft.com/office/drawing/2014/main" id="{73909112-3F72-34F0-27A2-386B06F891C3}"/>
              </a:ext>
            </a:extLst>
          </p:cNvPr>
          <p:cNvCxnSpPr>
            <a:cxnSpLocks/>
            <a:stCxn id="82" idx="3"/>
            <a:endCxn id="92" idx="1"/>
          </p:cNvCxnSpPr>
          <p:nvPr/>
        </p:nvCxnSpPr>
        <p:spPr>
          <a:xfrm>
            <a:off x="9144000" y="2627998"/>
            <a:ext cx="216000" cy="0"/>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8C024B98-559C-C7BB-BA3D-C9A818F72993}"/>
              </a:ext>
            </a:extLst>
          </p:cNvPr>
          <p:cNvCxnSpPr>
            <a:stCxn id="92" idx="0"/>
            <a:endCxn id="17" idx="2"/>
          </p:cNvCxnSpPr>
          <p:nvPr/>
        </p:nvCxnSpPr>
        <p:spPr>
          <a:xfrm rot="5400000" flipH="1" flipV="1">
            <a:off x="9756001" y="1799999"/>
            <a:ext cx="503998" cy="576000"/>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FD55F958-41D7-F909-0DBA-2A4B35DF3A9C}"/>
              </a:ext>
            </a:extLst>
          </p:cNvPr>
          <p:cNvCxnSpPr>
            <a:cxnSpLocks/>
            <a:stCxn id="88" idx="3"/>
            <a:endCxn id="17" idx="4"/>
          </p:cNvCxnSpPr>
          <p:nvPr/>
        </p:nvCxnSpPr>
        <p:spPr>
          <a:xfrm flipV="1">
            <a:off x="9149750" y="2124000"/>
            <a:ext cx="1434250" cy="2087998"/>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2" name="Rectangle: Rounded Corners 101">
            <a:extLst>
              <a:ext uri="{FF2B5EF4-FFF2-40B4-BE49-F238E27FC236}">
                <a16:creationId xmlns:a16="http://schemas.microsoft.com/office/drawing/2014/main" id="{DCB876D0-C69B-1399-BEE8-CE96B676F162}"/>
              </a:ext>
            </a:extLst>
          </p:cNvPr>
          <p:cNvSpPr/>
          <p:nvPr/>
        </p:nvSpPr>
        <p:spPr bwMode="gray">
          <a:xfrm>
            <a:off x="1872000" y="3923998"/>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dirty="0">
                <a:ln>
                  <a:noFill/>
                </a:ln>
                <a:effectLst/>
                <a:uLnTx/>
                <a:uFillTx/>
                <a:latin typeface="+mn-lt"/>
                <a:ea typeface="Arial Unicode MS" pitchFamily="34" charset="-128"/>
                <a:cs typeface="Arial Unicode MS" pitchFamily="34" charset="-128"/>
              </a:rPr>
              <a:t>Find and retrieve OEM content</a:t>
            </a:r>
            <a:endParaRPr kumimoji="0" lang="en-DE" sz="7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03" name="Straight Arrow Connector 102">
            <a:extLst>
              <a:ext uri="{FF2B5EF4-FFF2-40B4-BE49-F238E27FC236}">
                <a16:creationId xmlns:a16="http://schemas.microsoft.com/office/drawing/2014/main" id="{DEE8C0BC-D761-7946-827B-45D0088CFF5B}"/>
              </a:ext>
            </a:extLst>
          </p:cNvPr>
          <p:cNvCxnSpPr>
            <a:cxnSpLocks/>
            <a:stCxn id="74" idx="2"/>
            <a:endCxn id="102" idx="0"/>
          </p:cNvCxnSpPr>
          <p:nvPr/>
        </p:nvCxnSpPr>
        <p:spPr>
          <a:xfrm>
            <a:off x="2232000" y="3708000"/>
            <a:ext cx="0" cy="215998"/>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F5100848-98F8-097C-A654-623225BD3DB2}"/>
              </a:ext>
            </a:extLst>
          </p:cNvPr>
          <p:cNvCxnSpPr>
            <a:stCxn id="102" idx="3"/>
            <a:endCxn id="72" idx="1"/>
          </p:cNvCxnSpPr>
          <p:nvPr/>
        </p:nvCxnSpPr>
        <p:spPr>
          <a:xfrm>
            <a:off x="2592000" y="4211998"/>
            <a:ext cx="4896000" cy="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3F79BB2-9D52-4297-B58C-5E62168EB0DD}"/>
              </a:ext>
            </a:extLst>
          </p:cNvPr>
          <p:cNvCxnSpPr>
            <a:cxnSpLocks/>
          </p:cNvCxnSpPr>
          <p:nvPr/>
        </p:nvCxnSpPr>
        <p:spPr>
          <a:xfrm>
            <a:off x="504000" y="4608000"/>
            <a:ext cx="11160000"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402041E6-EA97-39DA-E5A6-9F0D52B224C9}"/>
              </a:ext>
            </a:extLst>
          </p:cNvPr>
          <p:cNvCxnSpPr>
            <a:cxnSpLocks/>
          </p:cNvCxnSpPr>
          <p:nvPr/>
        </p:nvCxnSpPr>
        <p:spPr>
          <a:xfrm>
            <a:off x="504000" y="3816000"/>
            <a:ext cx="11160000" cy="0"/>
          </a:xfrm>
          <a:prstGeom prst="line">
            <a:avLst/>
          </a:prstGeom>
          <a:ln w="127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D0B2DBD7-DA19-1ABF-96CC-C9D2CD33EB89}"/>
              </a:ext>
            </a:extLst>
          </p:cNvPr>
          <p:cNvCxnSpPr>
            <a:cxnSpLocks/>
          </p:cNvCxnSpPr>
          <p:nvPr/>
        </p:nvCxnSpPr>
        <p:spPr>
          <a:xfrm>
            <a:off x="504000" y="2232000"/>
            <a:ext cx="11160000" cy="0"/>
          </a:xfrm>
          <a:prstGeom prst="line">
            <a:avLst/>
          </a:prstGeom>
          <a:ln w="127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A8528F8-0F2A-0746-2107-0BEE0F95AF13}"/>
              </a:ext>
            </a:extLst>
          </p:cNvPr>
          <p:cNvCxnSpPr>
            <a:cxnSpLocks/>
          </p:cNvCxnSpPr>
          <p:nvPr/>
        </p:nvCxnSpPr>
        <p:spPr>
          <a:xfrm>
            <a:off x="504000" y="5400000"/>
            <a:ext cx="11160000" cy="0"/>
          </a:xfrm>
          <a:prstGeom prst="line">
            <a:avLst/>
          </a:prstGeom>
          <a:ln w="127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CE9092B0-852C-9DA4-52A1-B054BF92FE7C}"/>
              </a:ext>
            </a:extLst>
          </p:cNvPr>
          <p:cNvCxnSpPr>
            <a:cxnSpLocks/>
          </p:cNvCxnSpPr>
          <p:nvPr/>
        </p:nvCxnSpPr>
        <p:spPr>
          <a:xfrm>
            <a:off x="936000" y="1440000"/>
            <a:ext cx="0" cy="47520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57F24FDD-721D-49B6-81D7-0C3CD2100C5D}"/>
              </a:ext>
            </a:extLst>
          </p:cNvPr>
          <p:cNvCxnSpPr>
            <a:endCxn id="28" idx="0"/>
          </p:cNvCxnSpPr>
          <p:nvPr/>
        </p:nvCxnSpPr>
        <p:spPr>
          <a:xfrm>
            <a:off x="1656000" y="1836000"/>
            <a:ext cx="576000" cy="504000"/>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5CC9C63-89FC-5992-681A-CE80F2C6BFAA}"/>
              </a:ext>
            </a:extLst>
          </p:cNvPr>
          <p:cNvSpPr/>
          <p:nvPr/>
        </p:nvSpPr>
        <p:spPr bwMode="gray">
          <a:xfrm>
            <a:off x="2556000" y="2448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2" name="Rectangle 11">
            <a:extLst>
              <a:ext uri="{FF2B5EF4-FFF2-40B4-BE49-F238E27FC236}">
                <a16:creationId xmlns:a16="http://schemas.microsoft.com/office/drawing/2014/main" id="{5D893137-BB3B-B090-7084-D79E93BE440E}"/>
              </a:ext>
            </a:extLst>
          </p:cNvPr>
          <p:cNvSpPr/>
          <p:nvPr/>
        </p:nvSpPr>
        <p:spPr bwMode="gray">
          <a:xfrm>
            <a:off x="3888000" y="5256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3" name="Rectangle 12">
            <a:extLst>
              <a:ext uri="{FF2B5EF4-FFF2-40B4-BE49-F238E27FC236}">
                <a16:creationId xmlns:a16="http://schemas.microsoft.com/office/drawing/2014/main" id="{87532AF5-02BF-CC70-2313-CFD408804191}"/>
              </a:ext>
            </a:extLst>
          </p:cNvPr>
          <p:cNvSpPr/>
          <p:nvPr/>
        </p:nvSpPr>
        <p:spPr bwMode="gray">
          <a:xfrm>
            <a:off x="5364000" y="4824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4" name="Rectangle 13">
            <a:extLst>
              <a:ext uri="{FF2B5EF4-FFF2-40B4-BE49-F238E27FC236}">
                <a16:creationId xmlns:a16="http://schemas.microsoft.com/office/drawing/2014/main" id="{8A00CCB9-4F2A-B1D7-3719-E037802A57D1}"/>
              </a:ext>
            </a:extLst>
          </p:cNvPr>
          <p:cNvSpPr/>
          <p:nvPr/>
        </p:nvSpPr>
        <p:spPr bwMode="gray">
          <a:xfrm>
            <a:off x="4427638" y="4824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5" name="Rectangle 14">
            <a:extLst>
              <a:ext uri="{FF2B5EF4-FFF2-40B4-BE49-F238E27FC236}">
                <a16:creationId xmlns:a16="http://schemas.microsoft.com/office/drawing/2014/main" id="{8BA388DE-FC32-F5BC-BCE2-B2C1217BA1DF}"/>
              </a:ext>
            </a:extLst>
          </p:cNvPr>
          <p:cNvSpPr/>
          <p:nvPr/>
        </p:nvSpPr>
        <p:spPr bwMode="gray">
          <a:xfrm>
            <a:off x="4824000" y="5256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6" name="Rectangle 15">
            <a:extLst>
              <a:ext uri="{FF2B5EF4-FFF2-40B4-BE49-F238E27FC236}">
                <a16:creationId xmlns:a16="http://schemas.microsoft.com/office/drawing/2014/main" id="{1EEE41E7-2DDC-480C-DC94-B86CD0C493E9}"/>
              </a:ext>
            </a:extLst>
          </p:cNvPr>
          <p:cNvSpPr/>
          <p:nvPr/>
        </p:nvSpPr>
        <p:spPr bwMode="gray">
          <a:xfrm>
            <a:off x="2016000" y="288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8" name="Rectangle 17">
            <a:extLst>
              <a:ext uri="{FF2B5EF4-FFF2-40B4-BE49-F238E27FC236}">
                <a16:creationId xmlns:a16="http://schemas.microsoft.com/office/drawing/2014/main" id="{173418B7-7531-7B60-7704-CAB7DD33334C}"/>
              </a:ext>
            </a:extLst>
          </p:cNvPr>
          <p:cNvSpPr/>
          <p:nvPr/>
        </p:nvSpPr>
        <p:spPr bwMode="gray">
          <a:xfrm>
            <a:off x="8172000" y="2448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9" name="Rectangle 18">
            <a:extLst>
              <a:ext uri="{FF2B5EF4-FFF2-40B4-BE49-F238E27FC236}">
                <a16:creationId xmlns:a16="http://schemas.microsoft.com/office/drawing/2014/main" id="{4D6F6B8D-A9C4-8DB2-EC0E-DC0F78BF2C1A}"/>
              </a:ext>
            </a:extLst>
          </p:cNvPr>
          <p:cNvSpPr/>
          <p:nvPr/>
        </p:nvSpPr>
        <p:spPr bwMode="gray">
          <a:xfrm>
            <a:off x="9108000" y="2448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0" name="Straight Arrow Connector 19">
            <a:extLst>
              <a:ext uri="{FF2B5EF4-FFF2-40B4-BE49-F238E27FC236}">
                <a16:creationId xmlns:a16="http://schemas.microsoft.com/office/drawing/2014/main" id="{C8B9BB4F-2C0C-71A6-040D-9783834978B7}"/>
              </a:ext>
            </a:extLst>
          </p:cNvPr>
          <p:cNvCxnSpPr>
            <a:cxnSpLocks/>
            <a:stCxn id="82" idx="2"/>
          </p:cNvCxnSpPr>
          <p:nvPr/>
        </p:nvCxnSpPr>
        <p:spPr>
          <a:xfrm>
            <a:off x="8784000" y="2915998"/>
            <a:ext cx="0" cy="99210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25103FBC-C024-A784-9718-CFA186386DCC}"/>
              </a:ext>
            </a:extLst>
          </p:cNvPr>
          <p:cNvSpPr/>
          <p:nvPr/>
        </p:nvSpPr>
        <p:spPr bwMode="gray">
          <a:xfrm>
            <a:off x="7632000" y="288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0" name="Rectangle 29">
            <a:extLst>
              <a:ext uri="{FF2B5EF4-FFF2-40B4-BE49-F238E27FC236}">
                <a16:creationId xmlns:a16="http://schemas.microsoft.com/office/drawing/2014/main" id="{E4BF740A-EE2B-C01E-C167-C0C521A2430B}"/>
              </a:ext>
            </a:extLst>
          </p:cNvPr>
          <p:cNvSpPr/>
          <p:nvPr/>
        </p:nvSpPr>
        <p:spPr bwMode="gray">
          <a:xfrm>
            <a:off x="8568000" y="288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2" name="Oval 31">
            <a:extLst>
              <a:ext uri="{FF2B5EF4-FFF2-40B4-BE49-F238E27FC236}">
                <a16:creationId xmlns:a16="http://schemas.microsoft.com/office/drawing/2014/main" id="{CC284D60-DB19-9EDB-9504-79A27B58B1C1}"/>
              </a:ext>
            </a:extLst>
          </p:cNvPr>
          <p:cNvSpPr>
            <a:spLocks noChangeAspect="1"/>
          </p:cNvSpPr>
          <p:nvPr/>
        </p:nvSpPr>
        <p:spPr bwMode="gray">
          <a:xfrm>
            <a:off x="1548000" y="1548000"/>
            <a:ext cx="576000" cy="576000"/>
          </a:xfrm>
          <a:prstGeom prst="ellipse">
            <a:avLst/>
          </a:prstGeom>
          <a:solidFill>
            <a:schemeClr val="accent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rPr>
              <a:t>Technical objects missing</a:t>
            </a:r>
            <a:endParaRPr kumimoji="0" lang="en-DE" sz="600" b="0" i="0" u="none" strike="noStrike" kern="0" cap="none" spc="0" normalizeH="0" baseline="0" noProof="0" dirty="0">
              <a:ln>
                <a:noFill/>
              </a:ln>
              <a:solidFill>
                <a:schemeClr val="bg1"/>
              </a:solidFill>
              <a:effectLst/>
              <a:uLnTx/>
              <a:uFillTx/>
              <a:latin typeface="+mn-lt"/>
              <a:ea typeface="Arial Unicode MS" pitchFamily="34" charset="-128"/>
              <a:cs typeface="Arial Unicode MS" pitchFamily="34" charset="-128"/>
            </a:endParaRPr>
          </a:p>
        </p:txBody>
      </p:sp>
    </p:spTree>
    <p:extLst>
      <p:ext uri="{BB962C8B-B14F-4D97-AF65-F5344CB8AC3E}">
        <p14:creationId xmlns:p14="http://schemas.microsoft.com/office/powerpoint/2010/main" val="2013474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56016-CA58-0903-20E0-5CE8AFCD8AA2}"/>
            </a:ext>
          </a:extLst>
        </p:cNvPr>
        <p:cNvGrpSpPr/>
        <p:nvPr/>
      </p:nvGrpSpPr>
      <p:grpSpPr>
        <a:xfrm>
          <a:off x="0" y="0"/>
          <a:ext cx="0" cy="0"/>
          <a:chOff x="0" y="0"/>
          <a:chExt cx="0" cy="0"/>
        </a:xfrm>
      </p:grpSpPr>
      <p:sp>
        <p:nvSpPr>
          <p:cNvPr id="133" name="Rectangle 5">
            <a:extLst>
              <a:ext uri="{FF2B5EF4-FFF2-40B4-BE49-F238E27FC236}">
                <a16:creationId xmlns:a16="http://schemas.microsoft.com/office/drawing/2014/main" id="{5E44DA74-A6B6-DEEA-1BA3-09BC34EF5AF9}"/>
              </a:ext>
            </a:extLst>
          </p:cNvPr>
          <p:cNvSpPr/>
          <p:nvPr/>
        </p:nvSpPr>
        <p:spPr bwMode="gray">
          <a:xfrm>
            <a:off x="6331964" y="4390337"/>
            <a:ext cx="5332036" cy="792000"/>
          </a:xfrm>
          <a:prstGeom prst="rect">
            <a:avLst/>
          </a:prstGeom>
          <a:solidFill>
            <a:schemeClr val="tx2">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err="1">
                <a:ln>
                  <a:noFill/>
                </a:ln>
                <a:effectLst/>
                <a:uLnTx/>
                <a:uFillTx/>
                <a:latin typeface="+mn-lt"/>
                <a:ea typeface="Arial Unicode MS" pitchFamily="34" charset="-128"/>
                <a:cs typeface="Arial Unicode MS" pitchFamily="34" charset="-128"/>
              </a:rPr>
              <a:t>PiLog</a:t>
            </a:r>
            <a:r>
              <a:rPr kumimoji="0" lang="en-US" sz="1100" b="0" i="0" u="none" strike="noStrike" kern="0" cap="none" spc="0" normalizeH="0" baseline="0" noProof="0">
                <a:ln>
                  <a:noFill/>
                </a:ln>
                <a:effectLst/>
                <a:uLnTx/>
                <a:uFillTx/>
                <a:latin typeface="+mn-lt"/>
                <a:ea typeface="Arial Unicode MS" pitchFamily="34" charset="-128"/>
                <a:cs typeface="Arial Unicode MS" pitchFamily="34" charset="-128"/>
              </a:rPr>
              <a:t> ICF  Operator</a:t>
            </a:r>
            <a:endParaRPr kumimoji="0" lang="en-DE" sz="11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08" name="Rectangle 5">
            <a:extLst>
              <a:ext uri="{FF2B5EF4-FFF2-40B4-BE49-F238E27FC236}">
                <a16:creationId xmlns:a16="http://schemas.microsoft.com/office/drawing/2014/main" id="{B9185875-5ACC-9A36-D905-DE7EC2F95F1F}"/>
              </a:ext>
            </a:extLst>
          </p:cNvPr>
          <p:cNvSpPr/>
          <p:nvPr/>
        </p:nvSpPr>
        <p:spPr bwMode="gray">
          <a:xfrm>
            <a:off x="504000" y="3601658"/>
            <a:ext cx="11160000" cy="792000"/>
          </a:xfrm>
          <a:prstGeom prst="rect">
            <a:avLst/>
          </a:prstGeom>
          <a:solidFill>
            <a:schemeClr val="accent1">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Aft>
                <a:spcPct val="0"/>
              </a:spcAft>
              <a:buClr>
                <a:srgbClr val="F0AB00"/>
              </a:buClr>
              <a:buSzPct val="80000"/>
              <a:tabLst/>
            </a:pPr>
            <a:r>
              <a:rPr kumimoji="0" lang="en-US" sz="1100" b="0" i="0" u="none" strike="noStrike" kern="0" cap="none" spc="0" normalizeH="0" baseline="0" noProof="0">
                <a:ln>
                  <a:noFill/>
                </a:ln>
                <a:effectLst/>
                <a:uLnTx/>
                <a:uFillTx/>
                <a:latin typeface="+mn-lt"/>
                <a:ea typeface="Arial Unicode MS" pitchFamily="34" charset="-128"/>
                <a:cs typeface="Arial Unicode MS" pitchFamily="34" charset="-128"/>
              </a:rPr>
              <a:t>SAP BNAC </a:t>
            </a:r>
          </a:p>
          <a:p>
            <a:pPr marR="0" algn="ctr" defTabSz="914400" eaLnBrk="1" fontAlgn="base" latinLnBrk="0" hangingPunct="1">
              <a:lnSpc>
                <a:spcPct val="100000"/>
              </a:lnSpc>
              <a:spcAft>
                <a:spcPct val="0"/>
              </a:spcAft>
              <a:buClr>
                <a:srgbClr val="F0AB00"/>
              </a:buClr>
              <a:buSzPct val="80000"/>
              <a:tabLst/>
            </a:pPr>
            <a:r>
              <a:rPr kumimoji="0" lang="en-US" sz="1100" b="0" i="0" u="none" strike="noStrike" kern="0" cap="none" spc="0" normalizeH="0" baseline="0" noProof="0" err="1">
                <a:ln>
                  <a:noFill/>
                </a:ln>
                <a:effectLst/>
                <a:uLnTx/>
                <a:uFillTx/>
                <a:latin typeface="+mn-lt"/>
                <a:ea typeface="Arial Unicode MS" pitchFamily="34" charset="-128"/>
                <a:cs typeface="Arial Unicode MS" pitchFamily="34" charset="-128"/>
              </a:rPr>
              <a:t>Pilog</a:t>
            </a:r>
            <a:endParaRPr kumimoji="0" lang="en-DE" sz="11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2" name="Title 1">
            <a:extLst>
              <a:ext uri="{FF2B5EF4-FFF2-40B4-BE49-F238E27FC236}">
                <a16:creationId xmlns:a16="http://schemas.microsoft.com/office/drawing/2014/main" id="{3188BD25-A3C4-CA25-CC1C-78371E16A634}"/>
              </a:ext>
            </a:extLst>
          </p:cNvPr>
          <p:cNvSpPr>
            <a:spLocks noGrp="1"/>
          </p:cNvSpPr>
          <p:nvPr>
            <p:ph type="title"/>
          </p:nvPr>
        </p:nvSpPr>
        <p:spPr>
          <a:xfrm>
            <a:off x="504001" y="504000"/>
            <a:ext cx="11186476" cy="677108"/>
          </a:xfrm>
        </p:spPr>
        <p:txBody>
          <a:bodyPr/>
          <a:lstStyle/>
          <a:p>
            <a:r>
              <a:rPr lang="en-US"/>
              <a:t>SAP BNAC – </a:t>
            </a:r>
            <a:r>
              <a:rPr lang="en-US" err="1"/>
              <a:t>PiLog</a:t>
            </a:r>
            <a:r>
              <a:rPr lang="en-US"/>
              <a:t> ICF Integration</a:t>
            </a:r>
            <a:br>
              <a:rPr lang="en-US"/>
            </a:br>
            <a:r>
              <a:rPr lang="en-US" sz="2000">
                <a:solidFill>
                  <a:schemeClr val="tx2"/>
                </a:solidFill>
              </a:rPr>
              <a:t>Process Flow – Based on Equipment Request</a:t>
            </a:r>
            <a:endParaRPr lang="en-DE">
              <a:solidFill>
                <a:schemeClr val="tx2"/>
              </a:solidFill>
            </a:endParaRPr>
          </a:p>
        </p:txBody>
      </p:sp>
      <p:sp>
        <p:nvSpPr>
          <p:cNvPr id="3" name="Rectangle 2">
            <a:extLst>
              <a:ext uri="{FF2B5EF4-FFF2-40B4-BE49-F238E27FC236}">
                <a16:creationId xmlns:a16="http://schemas.microsoft.com/office/drawing/2014/main" id="{38C6F44E-FB89-1983-740C-28CB265EF7B6}"/>
              </a:ext>
            </a:extLst>
          </p:cNvPr>
          <p:cNvSpPr/>
          <p:nvPr/>
        </p:nvSpPr>
        <p:spPr bwMode="gray">
          <a:xfrm>
            <a:off x="504000" y="1440000"/>
            <a:ext cx="11160000" cy="792000"/>
          </a:xfrm>
          <a:prstGeom prst="rect">
            <a:avLst/>
          </a:prstGeom>
          <a:solidFill>
            <a:schemeClr val="tx2">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a:ln>
                  <a:noFill/>
                </a:ln>
                <a:effectLst/>
                <a:uLnTx/>
                <a:uFillTx/>
                <a:latin typeface="+mn-lt"/>
                <a:ea typeface="Arial Unicode MS" pitchFamily="34" charset="-128"/>
                <a:cs typeface="Arial Unicode MS" pitchFamily="34" charset="-128"/>
              </a:rPr>
              <a:t>SAP ERP Operator</a:t>
            </a:r>
            <a:endParaRPr kumimoji="0" lang="en-DE" sz="11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4" name="Rectangle 3">
            <a:extLst>
              <a:ext uri="{FF2B5EF4-FFF2-40B4-BE49-F238E27FC236}">
                <a16:creationId xmlns:a16="http://schemas.microsoft.com/office/drawing/2014/main" id="{27E0D2DD-7519-1B91-8273-52F74FF1ADA0}"/>
              </a:ext>
            </a:extLst>
          </p:cNvPr>
          <p:cNvSpPr/>
          <p:nvPr/>
        </p:nvSpPr>
        <p:spPr bwMode="gray">
          <a:xfrm>
            <a:off x="504000" y="2232000"/>
            <a:ext cx="11160000" cy="1353987"/>
          </a:xfrm>
          <a:prstGeom prst="rect">
            <a:avLst/>
          </a:prstGeom>
          <a:solidFill>
            <a:schemeClr val="tx2">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Aft>
                <a:spcPct val="0"/>
              </a:spcAft>
              <a:buClr>
                <a:srgbClr val="F0AB00"/>
              </a:buClr>
              <a:buSzPct val="80000"/>
              <a:tabLst/>
            </a:pPr>
            <a:r>
              <a:rPr kumimoji="0" lang="en-US" sz="1100" b="0" i="0" u="none" strike="noStrike" kern="0" cap="none" spc="0" normalizeH="0" baseline="0" noProof="0">
                <a:ln>
                  <a:noFill/>
                </a:ln>
                <a:effectLst/>
                <a:uLnTx/>
                <a:uFillTx/>
                <a:latin typeface="+mn-lt"/>
                <a:ea typeface="Arial Unicode MS" pitchFamily="34" charset="-128"/>
                <a:cs typeface="Arial Unicode MS" pitchFamily="34" charset="-128"/>
              </a:rPr>
              <a:t>SAP BNAC </a:t>
            </a:r>
          </a:p>
          <a:p>
            <a:pPr marR="0" algn="ctr" defTabSz="914400" eaLnBrk="1" fontAlgn="base" latinLnBrk="0" hangingPunct="1">
              <a:lnSpc>
                <a:spcPct val="100000"/>
              </a:lnSpc>
              <a:spcAft>
                <a:spcPct val="0"/>
              </a:spcAft>
              <a:buClr>
                <a:srgbClr val="F0AB00"/>
              </a:buClr>
              <a:buSzPct val="80000"/>
              <a:tabLst/>
            </a:pPr>
            <a:r>
              <a:rPr kumimoji="0" lang="en-US" sz="1100" b="0" i="0" u="none" strike="noStrike" kern="0" cap="none" spc="0" normalizeH="0" baseline="0" noProof="0">
                <a:ln>
                  <a:noFill/>
                </a:ln>
                <a:effectLst/>
                <a:uLnTx/>
                <a:uFillTx/>
                <a:latin typeface="+mn-lt"/>
                <a:ea typeface="Arial Unicode MS" pitchFamily="34" charset="-128"/>
                <a:cs typeface="Arial Unicode MS" pitchFamily="34" charset="-128"/>
              </a:rPr>
              <a:t>Operator</a:t>
            </a:r>
            <a:endParaRPr kumimoji="0" lang="en-DE" sz="11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5" name="Rectangle 4">
            <a:extLst>
              <a:ext uri="{FF2B5EF4-FFF2-40B4-BE49-F238E27FC236}">
                <a16:creationId xmlns:a16="http://schemas.microsoft.com/office/drawing/2014/main" id="{1C094172-5044-3524-D73C-A6F8F199658D}"/>
              </a:ext>
            </a:extLst>
          </p:cNvPr>
          <p:cNvSpPr/>
          <p:nvPr/>
        </p:nvSpPr>
        <p:spPr bwMode="gray">
          <a:xfrm>
            <a:off x="504000" y="5184000"/>
            <a:ext cx="11160000" cy="792000"/>
          </a:xfrm>
          <a:prstGeom prst="rect">
            <a:avLst/>
          </a:prstGeom>
          <a:solidFill>
            <a:schemeClr val="accent6">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a:ln>
                  <a:noFill/>
                </a:ln>
                <a:effectLst/>
                <a:uLnTx/>
                <a:uFillTx/>
                <a:latin typeface="+mn-lt"/>
                <a:ea typeface="Arial Unicode MS" pitchFamily="34" charset="-128"/>
                <a:cs typeface="Arial Unicode MS" pitchFamily="34" charset="-128"/>
              </a:rPr>
              <a:t>SAP BNAC OEM</a:t>
            </a:r>
            <a:endParaRPr kumimoji="0" lang="en-DE" sz="11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6" name="Rectangle 5">
            <a:extLst>
              <a:ext uri="{FF2B5EF4-FFF2-40B4-BE49-F238E27FC236}">
                <a16:creationId xmlns:a16="http://schemas.microsoft.com/office/drawing/2014/main" id="{276B6BBF-56BA-1C6B-1730-73144D2EC487}"/>
              </a:ext>
            </a:extLst>
          </p:cNvPr>
          <p:cNvSpPr/>
          <p:nvPr/>
        </p:nvSpPr>
        <p:spPr bwMode="gray">
          <a:xfrm>
            <a:off x="504000" y="4392000"/>
            <a:ext cx="5848186" cy="792000"/>
          </a:xfrm>
          <a:prstGeom prst="rect">
            <a:avLst/>
          </a:prstGeom>
          <a:solidFill>
            <a:schemeClr val="accent1">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err="1">
                <a:ln>
                  <a:noFill/>
                </a:ln>
                <a:effectLst/>
                <a:uLnTx/>
                <a:uFillTx/>
                <a:latin typeface="+mn-lt"/>
                <a:ea typeface="Arial Unicode MS" pitchFamily="34" charset="-128"/>
                <a:cs typeface="Arial Unicode MS" pitchFamily="34" charset="-128"/>
              </a:rPr>
              <a:t>PiLog</a:t>
            </a:r>
            <a:r>
              <a:rPr kumimoji="0" lang="en-US" sz="1100" b="0" i="0" u="none" strike="noStrike" kern="0" cap="none" spc="0" normalizeH="0" baseline="0" noProof="0">
                <a:ln>
                  <a:noFill/>
                </a:ln>
                <a:effectLst/>
                <a:uLnTx/>
                <a:uFillTx/>
                <a:latin typeface="+mn-lt"/>
                <a:ea typeface="Arial Unicode MS" pitchFamily="34" charset="-128"/>
                <a:cs typeface="Arial Unicode MS" pitchFamily="34" charset="-128"/>
              </a:rPr>
              <a:t> ICF  Cloud</a:t>
            </a:r>
            <a:endParaRPr kumimoji="0" lang="en-DE" sz="11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1DABD41C-614E-9A1E-1897-521CACDB10DE}"/>
              </a:ext>
            </a:extLst>
          </p:cNvPr>
          <p:cNvSpPr/>
          <p:nvPr/>
        </p:nvSpPr>
        <p:spPr bwMode="gray">
          <a:xfrm>
            <a:off x="504000" y="5976000"/>
            <a:ext cx="11160000" cy="792000"/>
          </a:xfrm>
          <a:prstGeom prst="rect">
            <a:avLst/>
          </a:prstGeom>
          <a:solidFill>
            <a:schemeClr val="accent6">
              <a:lumMod val="20000"/>
              <a:lumOff val="80000"/>
            </a:schemeClr>
          </a:solidFill>
          <a:ln w="25400" algn="ctr">
            <a:noFill/>
            <a:miter lim="800000"/>
            <a:headEnd/>
            <a:tailEnd/>
          </a:ln>
        </p:spPr>
        <p:txBody>
          <a:bodyPr vert="vert270" lIns="36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noProof="0" err="1">
                <a:ln>
                  <a:noFill/>
                </a:ln>
                <a:effectLst/>
                <a:uLnTx/>
                <a:uFillTx/>
                <a:latin typeface="+mn-lt"/>
                <a:ea typeface="Arial Unicode MS" pitchFamily="34" charset="-128"/>
                <a:cs typeface="Arial Unicode MS" pitchFamily="34" charset="-128"/>
              </a:rPr>
              <a:t>PiLog</a:t>
            </a:r>
            <a:r>
              <a:rPr kumimoji="0" lang="en-US" sz="1100" b="0" i="0" u="none" strike="noStrike" kern="0" cap="none" spc="0" normalizeH="0" baseline="0" noProof="0">
                <a:ln>
                  <a:noFill/>
                </a:ln>
                <a:effectLst/>
                <a:uLnTx/>
                <a:uFillTx/>
                <a:latin typeface="+mn-lt"/>
                <a:ea typeface="Arial Unicode MS" pitchFamily="34" charset="-128"/>
                <a:cs typeface="Arial Unicode MS" pitchFamily="34" charset="-128"/>
              </a:rPr>
              <a:t> ICF OEM</a:t>
            </a:r>
            <a:endParaRPr kumimoji="0" lang="en-DE" sz="11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9" name="Oval 8">
            <a:extLst>
              <a:ext uri="{FF2B5EF4-FFF2-40B4-BE49-F238E27FC236}">
                <a16:creationId xmlns:a16="http://schemas.microsoft.com/office/drawing/2014/main" id="{A983B326-5F6F-4D5D-1BFF-6B5275AD1BAA}"/>
              </a:ext>
            </a:extLst>
          </p:cNvPr>
          <p:cNvSpPr>
            <a:spLocks noChangeAspect="1"/>
          </p:cNvSpPr>
          <p:nvPr/>
        </p:nvSpPr>
        <p:spPr bwMode="gray">
          <a:xfrm>
            <a:off x="1080000" y="1548000"/>
            <a:ext cx="576000" cy="576000"/>
          </a:xfrm>
          <a:prstGeom prst="ellipse">
            <a:avLst/>
          </a:prstGeom>
          <a:solidFill>
            <a:schemeClr val="accent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solidFill>
                  <a:schemeClr val="bg1"/>
                </a:solidFill>
                <a:effectLst/>
                <a:uLnTx/>
                <a:uFillTx/>
                <a:latin typeface="+mn-lt"/>
                <a:ea typeface="Arial Unicode MS" pitchFamily="34" charset="-128"/>
                <a:cs typeface="Arial Unicode MS" pitchFamily="34" charset="-128"/>
              </a:rPr>
              <a:t>Issues with technical objects data quality</a:t>
            </a:r>
            <a:endParaRPr kumimoji="0" lang="en-DE" sz="600" b="0" i="0" u="none" strike="noStrike" kern="0" cap="none" spc="0" normalizeH="0" baseline="0" noProof="0">
              <a:ln>
                <a:noFill/>
              </a:ln>
              <a:solidFill>
                <a:schemeClr val="bg1"/>
              </a:solidFill>
              <a:effectLst/>
              <a:uLnTx/>
              <a:uFillTx/>
              <a:latin typeface="+mn-lt"/>
              <a:ea typeface="Arial Unicode MS" pitchFamily="34" charset="-128"/>
              <a:cs typeface="Arial Unicode MS" pitchFamily="34" charset="-128"/>
            </a:endParaRPr>
          </a:p>
        </p:txBody>
      </p:sp>
      <p:sp>
        <p:nvSpPr>
          <p:cNvPr id="17" name="Oval 16">
            <a:extLst>
              <a:ext uri="{FF2B5EF4-FFF2-40B4-BE49-F238E27FC236}">
                <a16:creationId xmlns:a16="http://schemas.microsoft.com/office/drawing/2014/main" id="{23A278C6-CF6A-A629-F9C4-71AF2197D03F}"/>
              </a:ext>
            </a:extLst>
          </p:cNvPr>
          <p:cNvSpPr>
            <a:spLocks noChangeAspect="1"/>
          </p:cNvSpPr>
          <p:nvPr/>
        </p:nvSpPr>
        <p:spPr bwMode="gray">
          <a:xfrm>
            <a:off x="10296000" y="1548000"/>
            <a:ext cx="576000" cy="576000"/>
          </a:xfrm>
          <a:prstGeom prst="ellipse">
            <a:avLst/>
          </a:prstGeom>
          <a:solidFill>
            <a:schemeClr val="accent3"/>
          </a:solidFill>
          <a:ln w="31750" cmpd="thickThin"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solidFill>
                  <a:schemeClr val="bg1"/>
                </a:solidFill>
                <a:effectLst/>
                <a:uLnTx/>
                <a:uFillTx/>
                <a:latin typeface="+mn-lt"/>
                <a:ea typeface="Arial Unicode MS" pitchFamily="34" charset="-128"/>
                <a:cs typeface="Arial Unicode MS" pitchFamily="34" charset="-128"/>
              </a:rPr>
              <a:t>Technical objects with good data quality</a:t>
            </a:r>
            <a:endParaRPr kumimoji="0" lang="en-DE" sz="600" b="0" i="0" u="none" strike="noStrike" kern="0" cap="none" spc="0" normalizeH="0" baseline="0" noProof="0">
              <a:ln>
                <a:noFill/>
              </a:ln>
              <a:solidFill>
                <a:schemeClr val="bg1"/>
              </a:solidFill>
              <a:effectLst/>
              <a:uLnTx/>
              <a:uFillTx/>
              <a:latin typeface="+mn-lt"/>
              <a:ea typeface="Arial Unicode MS" pitchFamily="34" charset="-128"/>
              <a:cs typeface="Arial Unicode MS" pitchFamily="34" charset="-128"/>
            </a:endParaRPr>
          </a:p>
        </p:txBody>
      </p:sp>
      <p:sp>
        <p:nvSpPr>
          <p:cNvPr id="27" name="Rectangle: Rounded Corners 26">
            <a:extLst>
              <a:ext uri="{FF2B5EF4-FFF2-40B4-BE49-F238E27FC236}">
                <a16:creationId xmlns:a16="http://schemas.microsoft.com/office/drawing/2014/main" id="{382186A4-E17E-7F98-E934-FE5EF9659344}"/>
              </a:ext>
            </a:extLst>
          </p:cNvPr>
          <p:cNvSpPr/>
          <p:nvPr/>
        </p:nvSpPr>
        <p:spPr bwMode="gray">
          <a:xfrm>
            <a:off x="2808000" y="2340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Send equipment request to OEM</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77" name="Rechteck 76">
            <a:extLst>
              <a:ext uri="{FF2B5EF4-FFF2-40B4-BE49-F238E27FC236}">
                <a16:creationId xmlns:a16="http://schemas.microsoft.com/office/drawing/2014/main" id="{39C01436-B826-28F7-658B-057815BB0209}"/>
              </a:ext>
            </a:extLst>
          </p:cNvPr>
          <p:cNvSpPr/>
          <p:nvPr/>
        </p:nvSpPr>
        <p:spPr bwMode="gray">
          <a:xfrm>
            <a:off x="1597744" y="3735339"/>
            <a:ext cx="4360365" cy="1418037"/>
          </a:xfrm>
          <a:prstGeom prst="rect">
            <a:avLst/>
          </a:prstGeom>
          <a:solidFill>
            <a:schemeClr val="accent2"/>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28" name="Flowchart: Decision 27">
            <a:extLst>
              <a:ext uri="{FF2B5EF4-FFF2-40B4-BE49-F238E27FC236}">
                <a16:creationId xmlns:a16="http://schemas.microsoft.com/office/drawing/2014/main" id="{EE2018E8-06E3-17E0-B16E-4F884E3A54C6}"/>
              </a:ext>
            </a:extLst>
          </p:cNvPr>
          <p:cNvSpPr>
            <a:spLocks/>
          </p:cNvSpPr>
          <p:nvPr/>
        </p:nvSpPr>
        <p:spPr bwMode="gray">
          <a:xfrm>
            <a:off x="1872000" y="2340000"/>
            <a:ext cx="720000" cy="576000"/>
          </a:xfrm>
          <a:prstGeom prst="flowChartDecision">
            <a:avLst/>
          </a:prstGeom>
          <a:solidFill>
            <a:schemeClr val="bg1"/>
          </a:solidFill>
          <a:ln w="127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a:ln>
                  <a:noFill/>
                </a:ln>
                <a:effectLst/>
                <a:uLnTx/>
                <a:uFillTx/>
                <a:latin typeface="+mn-lt"/>
                <a:ea typeface="Arial Unicode MS" pitchFamily="34" charset="-128"/>
                <a:cs typeface="Arial Unicode MS" pitchFamily="34" charset="-128"/>
              </a:rPr>
              <a:t>Is OEM in BNAC?</a:t>
            </a:r>
            <a:endParaRPr kumimoji="0" lang="en-DE" sz="8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29" name="Straight Arrow Connector 28">
            <a:extLst>
              <a:ext uri="{FF2B5EF4-FFF2-40B4-BE49-F238E27FC236}">
                <a16:creationId xmlns:a16="http://schemas.microsoft.com/office/drawing/2014/main" id="{B9A8859C-CCAD-2A6A-153B-822F23FE6B49}"/>
              </a:ext>
            </a:extLst>
          </p:cNvPr>
          <p:cNvCxnSpPr>
            <a:cxnSpLocks/>
            <a:stCxn id="28" idx="3"/>
            <a:endCxn id="27" idx="1"/>
          </p:cNvCxnSpPr>
          <p:nvPr/>
        </p:nvCxnSpPr>
        <p:spPr>
          <a:xfrm>
            <a:off x="2592000" y="2628000"/>
            <a:ext cx="216000" cy="0"/>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22DAF5A-5829-13BF-3D6D-4D3F4E22C483}"/>
              </a:ext>
            </a:extLst>
          </p:cNvPr>
          <p:cNvCxnSpPr>
            <a:stCxn id="27" idx="2"/>
            <a:endCxn id="34" idx="0"/>
          </p:cNvCxnSpPr>
          <p:nvPr/>
        </p:nvCxnSpPr>
        <p:spPr>
          <a:xfrm>
            <a:off x="3168000" y="2916000"/>
            <a:ext cx="0" cy="237600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9" name="Rechteck 78">
            <a:extLst>
              <a:ext uri="{FF2B5EF4-FFF2-40B4-BE49-F238E27FC236}">
                <a16:creationId xmlns:a16="http://schemas.microsoft.com/office/drawing/2014/main" id="{2E74A15E-9D87-5E19-8A96-4982ACA235C6}"/>
              </a:ext>
            </a:extLst>
          </p:cNvPr>
          <p:cNvSpPr/>
          <p:nvPr/>
        </p:nvSpPr>
        <p:spPr bwMode="gray">
          <a:xfrm>
            <a:off x="2597751" y="5953997"/>
            <a:ext cx="4890234" cy="822373"/>
          </a:xfrm>
          <a:prstGeom prst="rect">
            <a:avLst/>
          </a:prstGeom>
          <a:solidFill>
            <a:schemeClr val="accent2"/>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49" name="Straight Arrow Connector 48">
            <a:extLst>
              <a:ext uri="{FF2B5EF4-FFF2-40B4-BE49-F238E27FC236}">
                <a16:creationId xmlns:a16="http://schemas.microsoft.com/office/drawing/2014/main" id="{5CB7E0ED-8136-3EBD-525B-3477737344EC}"/>
              </a:ext>
            </a:extLst>
          </p:cNvPr>
          <p:cNvCxnSpPr>
            <a:stCxn id="42" idx="2"/>
            <a:endCxn id="47" idx="0"/>
          </p:cNvCxnSpPr>
          <p:nvPr/>
        </p:nvCxnSpPr>
        <p:spPr>
          <a:xfrm>
            <a:off x="4104000" y="5868000"/>
            <a:ext cx="0" cy="21600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51CBB26-5AC8-72C1-7808-2CFB4E7BDFA5}"/>
              </a:ext>
            </a:extLst>
          </p:cNvPr>
          <p:cNvCxnSpPr>
            <a:cxnSpLocks/>
            <a:stCxn id="50" idx="2"/>
            <a:endCxn id="53" idx="0"/>
          </p:cNvCxnSpPr>
          <p:nvPr/>
        </p:nvCxnSpPr>
        <p:spPr>
          <a:xfrm>
            <a:off x="5040000" y="5868000"/>
            <a:ext cx="4846" cy="21600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910A456A-E078-FA5E-579E-2C3B99E08BE5}"/>
              </a:ext>
            </a:extLst>
          </p:cNvPr>
          <p:cNvGrpSpPr/>
          <p:nvPr/>
        </p:nvGrpSpPr>
        <p:grpSpPr>
          <a:xfrm>
            <a:off x="3744000" y="6084000"/>
            <a:ext cx="1660846" cy="576000"/>
            <a:chOff x="5400000" y="5651999"/>
            <a:chExt cx="1660846" cy="576000"/>
          </a:xfrm>
        </p:grpSpPr>
        <p:sp>
          <p:nvSpPr>
            <p:cNvPr id="47" name="Rectangle: Rounded Corners 46">
              <a:extLst>
                <a:ext uri="{FF2B5EF4-FFF2-40B4-BE49-F238E27FC236}">
                  <a16:creationId xmlns:a16="http://schemas.microsoft.com/office/drawing/2014/main" id="{E6DE87F8-9C0B-FC3E-C069-A81FA73D8145}"/>
                </a:ext>
              </a:extLst>
            </p:cNvPr>
            <p:cNvSpPr/>
            <p:nvPr/>
          </p:nvSpPr>
          <p:spPr bwMode="gray">
            <a:xfrm>
              <a:off x="5400000" y="5651999"/>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Content creation via AI</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53" name="Rectangle: Rounded Corners 52">
              <a:extLst>
                <a:ext uri="{FF2B5EF4-FFF2-40B4-BE49-F238E27FC236}">
                  <a16:creationId xmlns:a16="http://schemas.microsoft.com/office/drawing/2014/main" id="{6A69C206-A319-D303-250A-A35D0A7488BF}"/>
                </a:ext>
              </a:extLst>
            </p:cNvPr>
            <p:cNvSpPr/>
            <p:nvPr/>
          </p:nvSpPr>
          <p:spPr bwMode="gray">
            <a:xfrm>
              <a:off x="6340846" y="5651999"/>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Classification mapping</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58" name="Straight Arrow Connector 57">
              <a:extLst>
                <a:ext uri="{FF2B5EF4-FFF2-40B4-BE49-F238E27FC236}">
                  <a16:creationId xmlns:a16="http://schemas.microsoft.com/office/drawing/2014/main" id="{14079EB3-0F7D-4D9C-B3E3-A94570CF436E}"/>
                </a:ext>
              </a:extLst>
            </p:cNvPr>
            <p:cNvCxnSpPr>
              <a:stCxn id="47" idx="3"/>
              <a:endCxn id="53" idx="1"/>
            </p:cNvCxnSpPr>
            <p:nvPr/>
          </p:nvCxnSpPr>
          <p:spPr>
            <a:xfrm>
              <a:off x="6120000" y="5939999"/>
              <a:ext cx="220846" cy="0"/>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60" name="Connector: Elbow 59">
            <a:extLst>
              <a:ext uri="{FF2B5EF4-FFF2-40B4-BE49-F238E27FC236}">
                <a16:creationId xmlns:a16="http://schemas.microsoft.com/office/drawing/2014/main" id="{4BADDB12-1EA1-5398-1309-407BD8CBE958}"/>
              </a:ext>
            </a:extLst>
          </p:cNvPr>
          <p:cNvCxnSpPr>
            <a:stCxn id="53" idx="3"/>
            <a:endCxn id="35" idx="2"/>
          </p:cNvCxnSpPr>
          <p:nvPr/>
        </p:nvCxnSpPr>
        <p:spPr>
          <a:xfrm flipV="1">
            <a:off x="5404846" y="5868001"/>
            <a:ext cx="571154" cy="503999"/>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6" name="Rechteck 85">
            <a:extLst>
              <a:ext uri="{FF2B5EF4-FFF2-40B4-BE49-F238E27FC236}">
                <a16:creationId xmlns:a16="http://schemas.microsoft.com/office/drawing/2014/main" id="{9E972A9C-5A88-9105-5936-CE98C5A569BE}"/>
              </a:ext>
            </a:extLst>
          </p:cNvPr>
          <p:cNvSpPr/>
          <p:nvPr/>
        </p:nvSpPr>
        <p:spPr bwMode="gray">
          <a:xfrm>
            <a:off x="7077936" y="4390342"/>
            <a:ext cx="3002061" cy="793653"/>
          </a:xfrm>
          <a:prstGeom prst="rect">
            <a:avLst/>
          </a:prstGeom>
          <a:solidFill>
            <a:schemeClr val="accent2"/>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a:ln>
                <a:noFill/>
              </a:ln>
              <a:effectLst/>
              <a:uLnTx/>
              <a:uFillTx/>
              <a:latin typeface="+mn-lt"/>
              <a:ea typeface="Arial Unicode MS" pitchFamily="34" charset="-128"/>
              <a:cs typeface="Arial Unicode MS" pitchFamily="34" charset="-128"/>
            </a:endParaRPr>
          </a:p>
        </p:txBody>
      </p:sp>
      <p:grpSp>
        <p:nvGrpSpPr>
          <p:cNvPr id="80" name="Group 79">
            <a:extLst>
              <a:ext uri="{FF2B5EF4-FFF2-40B4-BE49-F238E27FC236}">
                <a16:creationId xmlns:a16="http://schemas.microsoft.com/office/drawing/2014/main" id="{E454D190-C812-CC3D-26F0-529798D4A750}"/>
              </a:ext>
            </a:extLst>
          </p:cNvPr>
          <p:cNvGrpSpPr/>
          <p:nvPr/>
        </p:nvGrpSpPr>
        <p:grpSpPr>
          <a:xfrm>
            <a:off x="2808000" y="5292000"/>
            <a:ext cx="4464000" cy="576001"/>
            <a:chOff x="4464000" y="4571999"/>
            <a:chExt cx="4464000" cy="576001"/>
          </a:xfrm>
        </p:grpSpPr>
        <p:sp>
          <p:nvSpPr>
            <p:cNvPr id="34" name="Rectangle: Rounded Corners 33">
              <a:extLst>
                <a:ext uri="{FF2B5EF4-FFF2-40B4-BE49-F238E27FC236}">
                  <a16:creationId xmlns:a16="http://schemas.microsoft.com/office/drawing/2014/main" id="{DC72BFE5-5695-1F4C-5AB3-E95BB1FA4943}"/>
                </a:ext>
              </a:extLst>
            </p:cNvPr>
            <p:cNvSpPr/>
            <p:nvPr/>
          </p:nvSpPr>
          <p:spPr bwMode="gray">
            <a:xfrm>
              <a:off x="4464000" y="457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Receive equipment request from Operator</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36" name="Straight Arrow Connector 35">
              <a:extLst>
                <a:ext uri="{FF2B5EF4-FFF2-40B4-BE49-F238E27FC236}">
                  <a16:creationId xmlns:a16="http://schemas.microsoft.com/office/drawing/2014/main" id="{A6D70584-14DF-C756-1AE5-44B55FD5826D}"/>
                </a:ext>
              </a:extLst>
            </p:cNvPr>
            <p:cNvCxnSpPr>
              <a:cxnSpLocks/>
              <a:stCxn id="42" idx="3"/>
              <a:endCxn id="50" idx="1"/>
            </p:cNvCxnSpPr>
            <p:nvPr/>
          </p:nvCxnSpPr>
          <p:spPr>
            <a:xfrm>
              <a:off x="6120000" y="4859999"/>
              <a:ext cx="216000" cy="0"/>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4FAA73A9-4C6B-6613-0569-75F3B3D85BDC}"/>
                </a:ext>
              </a:extLst>
            </p:cNvPr>
            <p:cNvGrpSpPr/>
            <p:nvPr/>
          </p:nvGrpSpPr>
          <p:grpSpPr>
            <a:xfrm>
              <a:off x="7272000" y="4572000"/>
              <a:ext cx="1656000" cy="576000"/>
              <a:chOff x="5400000" y="4572000"/>
              <a:chExt cx="1656000" cy="576000"/>
            </a:xfrm>
          </p:grpSpPr>
          <p:sp>
            <p:nvSpPr>
              <p:cNvPr id="35" name="Rectangle: Rounded Corners 34">
                <a:extLst>
                  <a:ext uri="{FF2B5EF4-FFF2-40B4-BE49-F238E27FC236}">
                    <a16:creationId xmlns:a16="http://schemas.microsoft.com/office/drawing/2014/main" id="{75341DC6-947C-D306-A883-2827FE76FB71}"/>
                  </a:ext>
                </a:extLst>
              </p:cNvPr>
              <p:cNvSpPr/>
              <p:nvPr/>
            </p:nvSpPr>
            <p:spPr bwMode="gray">
              <a:xfrm>
                <a:off x="5400000" y="457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Create equipment and dependent data</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37" name="Rectangle: Rounded Corners 36">
                <a:extLst>
                  <a:ext uri="{FF2B5EF4-FFF2-40B4-BE49-F238E27FC236}">
                    <a16:creationId xmlns:a16="http://schemas.microsoft.com/office/drawing/2014/main" id="{2B9DF5B5-C9F1-D2D5-D5E5-4F1BF4FA0650}"/>
                  </a:ext>
                </a:extLst>
              </p:cNvPr>
              <p:cNvSpPr/>
              <p:nvPr/>
            </p:nvSpPr>
            <p:spPr bwMode="gray">
              <a:xfrm>
                <a:off x="6336000" y="4572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Share equipment and dependent data to Operator</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38" name="Straight Arrow Connector 37">
                <a:extLst>
                  <a:ext uri="{FF2B5EF4-FFF2-40B4-BE49-F238E27FC236}">
                    <a16:creationId xmlns:a16="http://schemas.microsoft.com/office/drawing/2014/main" id="{59A846FE-EA4E-0DA6-0DCB-B6F9F6E87DAB}"/>
                  </a:ext>
                </a:extLst>
              </p:cNvPr>
              <p:cNvCxnSpPr>
                <a:stCxn id="35" idx="3"/>
                <a:endCxn id="37" idx="1"/>
              </p:cNvCxnSpPr>
              <p:nvPr/>
            </p:nvCxnSpPr>
            <p:spPr>
              <a:xfrm>
                <a:off x="6120000" y="4860000"/>
                <a:ext cx="216000" cy="0"/>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42" name="Flowchart: Decision 41">
              <a:extLst>
                <a:ext uri="{FF2B5EF4-FFF2-40B4-BE49-F238E27FC236}">
                  <a16:creationId xmlns:a16="http://schemas.microsoft.com/office/drawing/2014/main" id="{0A4C870A-1558-FEC0-120D-5A6B19A59421}"/>
                </a:ext>
              </a:extLst>
            </p:cNvPr>
            <p:cNvSpPr>
              <a:spLocks/>
            </p:cNvSpPr>
            <p:nvPr/>
          </p:nvSpPr>
          <p:spPr bwMode="gray">
            <a:xfrm>
              <a:off x="5400000" y="4571999"/>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a:ln>
                    <a:noFill/>
                  </a:ln>
                  <a:effectLst/>
                  <a:uLnTx/>
                  <a:uFillTx/>
                  <a:latin typeface="+mn-lt"/>
                  <a:ea typeface="Arial Unicode MS" pitchFamily="34" charset="-128"/>
                  <a:cs typeface="Arial Unicode MS" pitchFamily="34" charset="-128"/>
                </a:rPr>
                <a:t>Is requested data available in unstructured format?</a:t>
              </a:r>
              <a:endParaRPr kumimoji="0" lang="en-DE" sz="45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44" name="Straight Arrow Connector 43">
              <a:extLst>
                <a:ext uri="{FF2B5EF4-FFF2-40B4-BE49-F238E27FC236}">
                  <a16:creationId xmlns:a16="http://schemas.microsoft.com/office/drawing/2014/main" id="{01E96517-FB23-97F9-53BD-8D30832D7314}"/>
                </a:ext>
              </a:extLst>
            </p:cNvPr>
            <p:cNvCxnSpPr>
              <a:cxnSpLocks/>
              <a:stCxn id="34" idx="3"/>
              <a:endCxn id="42" idx="1"/>
            </p:cNvCxnSpPr>
            <p:nvPr/>
          </p:nvCxnSpPr>
          <p:spPr>
            <a:xfrm flipV="1">
              <a:off x="5184000" y="4859999"/>
              <a:ext cx="216000" cy="1"/>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0" name="Flowchart: Decision 49">
              <a:extLst>
                <a:ext uri="{FF2B5EF4-FFF2-40B4-BE49-F238E27FC236}">
                  <a16:creationId xmlns:a16="http://schemas.microsoft.com/office/drawing/2014/main" id="{4A7FC5EC-AAE2-9E02-493B-74CFDBD6CE62}"/>
                </a:ext>
              </a:extLst>
            </p:cNvPr>
            <p:cNvSpPr>
              <a:spLocks/>
            </p:cNvSpPr>
            <p:nvPr/>
          </p:nvSpPr>
          <p:spPr bwMode="gray">
            <a:xfrm>
              <a:off x="6336000" y="4571999"/>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a:ln>
                    <a:noFill/>
                  </a:ln>
                  <a:effectLst/>
                  <a:uLnTx/>
                  <a:uFillTx/>
                  <a:latin typeface="+mn-lt"/>
                  <a:ea typeface="Arial Unicode MS" pitchFamily="34" charset="-128"/>
                  <a:cs typeface="Arial Unicode MS" pitchFamily="34" charset="-128"/>
                </a:rPr>
                <a:t>Is requested data classified according to operator?</a:t>
              </a:r>
              <a:endParaRPr kumimoji="0" lang="en-DE" sz="45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61" name="Straight Arrow Connector 60">
              <a:extLst>
                <a:ext uri="{FF2B5EF4-FFF2-40B4-BE49-F238E27FC236}">
                  <a16:creationId xmlns:a16="http://schemas.microsoft.com/office/drawing/2014/main" id="{4099FC61-D410-152A-6BFE-9077FAA4270D}"/>
                </a:ext>
              </a:extLst>
            </p:cNvPr>
            <p:cNvCxnSpPr>
              <a:cxnSpLocks/>
              <a:stCxn id="50" idx="3"/>
              <a:endCxn id="35" idx="1"/>
            </p:cNvCxnSpPr>
            <p:nvPr/>
          </p:nvCxnSpPr>
          <p:spPr>
            <a:xfrm>
              <a:off x="7056000" y="4859999"/>
              <a:ext cx="216000" cy="1"/>
            </a:xfrm>
            <a:prstGeom prst="straightConnector1">
              <a:avLst/>
            </a:prstGeom>
            <a:solidFill>
              <a:schemeClr val="accent6">
                <a:lumMod val="20000"/>
                <a:lumOff val="80000"/>
              </a:schemeClr>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64" name="Rectangle: Rounded Corners 63">
            <a:extLst>
              <a:ext uri="{FF2B5EF4-FFF2-40B4-BE49-F238E27FC236}">
                <a16:creationId xmlns:a16="http://schemas.microsoft.com/office/drawing/2014/main" id="{CFBA98E4-13EA-6B28-C315-5A14D2CE3DEA}"/>
              </a:ext>
            </a:extLst>
          </p:cNvPr>
          <p:cNvSpPr/>
          <p:nvPr/>
        </p:nvSpPr>
        <p:spPr bwMode="gray">
          <a:xfrm>
            <a:off x="6552000" y="2339999"/>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Receive equipment and dependent data from OEM</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65" name="Straight Arrow Connector 64">
            <a:extLst>
              <a:ext uri="{FF2B5EF4-FFF2-40B4-BE49-F238E27FC236}">
                <a16:creationId xmlns:a16="http://schemas.microsoft.com/office/drawing/2014/main" id="{0D726A8B-D5C2-83F0-E688-D5D3D3B91BD0}"/>
              </a:ext>
            </a:extLst>
          </p:cNvPr>
          <p:cNvCxnSpPr>
            <a:cxnSpLocks/>
            <a:stCxn id="37" idx="0"/>
            <a:endCxn id="64" idx="2"/>
          </p:cNvCxnSpPr>
          <p:nvPr/>
        </p:nvCxnSpPr>
        <p:spPr>
          <a:xfrm flipV="1">
            <a:off x="6912000" y="2915999"/>
            <a:ext cx="0" cy="237600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8" name="Flowchart: Decision 67">
            <a:extLst>
              <a:ext uri="{FF2B5EF4-FFF2-40B4-BE49-F238E27FC236}">
                <a16:creationId xmlns:a16="http://schemas.microsoft.com/office/drawing/2014/main" id="{6E20C533-F27B-0823-F34E-FBE02B9766CF}"/>
              </a:ext>
            </a:extLst>
          </p:cNvPr>
          <p:cNvSpPr>
            <a:spLocks/>
          </p:cNvSpPr>
          <p:nvPr/>
        </p:nvSpPr>
        <p:spPr bwMode="gray">
          <a:xfrm>
            <a:off x="7488000" y="2339999"/>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a:ln>
                  <a:noFill/>
                </a:ln>
                <a:effectLst/>
                <a:uLnTx/>
                <a:uFillTx/>
                <a:latin typeface="+mn-lt"/>
                <a:ea typeface="Arial Unicode MS" pitchFamily="34" charset="-128"/>
                <a:cs typeface="Arial Unicode MS" pitchFamily="34" charset="-128"/>
              </a:rPr>
              <a:t>Is classification mapping needed?</a:t>
            </a:r>
            <a:endParaRPr kumimoji="0" lang="en-DE" sz="45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69" name="Straight Arrow Connector 68">
            <a:extLst>
              <a:ext uri="{FF2B5EF4-FFF2-40B4-BE49-F238E27FC236}">
                <a16:creationId xmlns:a16="http://schemas.microsoft.com/office/drawing/2014/main" id="{C5AB2CE9-C0AD-768A-ABB4-C981B63E0213}"/>
              </a:ext>
            </a:extLst>
          </p:cNvPr>
          <p:cNvCxnSpPr>
            <a:cxnSpLocks/>
            <a:stCxn id="64" idx="3"/>
            <a:endCxn id="68" idx="1"/>
          </p:cNvCxnSpPr>
          <p:nvPr/>
        </p:nvCxnSpPr>
        <p:spPr>
          <a:xfrm>
            <a:off x="7272000" y="2627999"/>
            <a:ext cx="216000" cy="0"/>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2" name="Rectangle: Rounded Corners 71">
            <a:extLst>
              <a:ext uri="{FF2B5EF4-FFF2-40B4-BE49-F238E27FC236}">
                <a16:creationId xmlns:a16="http://schemas.microsoft.com/office/drawing/2014/main" id="{C3EA8B31-AF5A-1D7D-D45E-B3BCFA8516E6}"/>
              </a:ext>
            </a:extLst>
          </p:cNvPr>
          <p:cNvSpPr/>
          <p:nvPr/>
        </p:nvSpPr>
        <p:spPr bwMode="gray">
          <a:xfrm>
            <a:off x="7488000" y="4500000"/>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Classification mapping</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73" name="Straight Arrow Connector 72">
            <a:extLst>
              <a:ext uri="{FF2B5EF4-FFF2-40B4-BE49-F238E27FC236}">
                <a16:creationId xmlns:a16="http://schemas.microsoft.com/office/drawing/2014/main" id="{15EB10B4-40DB-C138-37AE-B575D486783A}"/>
              </a:ext>
            </a:extLst>
          </p:cNvPr>
          <p:cNvCxnSpPr>
            <a:cxnSpLocks/>
            <a:stCxn id="68" idx="2"/>
            <a:endCxn id="72" idx="0"/>
          </p:cNvCxnSpPr>
          <p:nvPr/>
        </p:nvCxnSpPr>
        <p:spPr>
          <a:xfrm>
            <a:off x="7848000" y="2915999"/>
            <a:ext cx="0" cy="1584001"/>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Rectangle: Rounded Corners 73">
            <a:extLst>
              <a:ext uri="{FF2B5EF4-FFF2-40B4-BE49-F238E27FC236}">
                <a16:creationId xmlns:a16="http://schemas.microsoft.com/office/drawing/2014/main" id="{452118E0-AA2D-5112-9E8B-63007557BA57}"/>
              </a:ext>
            </a:extLst>
          </p:cNvPr>
          <p:cNvSpPr/>
          <p:nvPr/>
        </p:nvSpPr>
        <p:spPr bwMode="gray">
          <a:xfrm>
            <a:off x="1877751" y="4520821"/>
            <a:ext cx="720000" cy="519177"/>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Check for data in </a:t>
            </a:r>
            <a:r>
              <a:rPr kumimoji="0" lang="en-US" sz="700" b="0" i="0" u="none" strike="noStrike" kern="0" cap="none" spc="0" normalizeH="0" baseline="0" noProof="0" err="1">
                <a:ln>
                  <a:noFill/>
                </a:ln>
                <a:effectLst/>
                <a:uLnTx/>
                <a:uFillTx/>
                <a:latin typeface="+mn-lt"/>
                <a:ea typeface="Arial Unicode MS" pitchFamily="34" charset="-128"/>
                <a:cs typeface="Arial Unicode MS" pitchFamily="34" charset="-128"/>
              </a:rPr>
              <a:t>PiLog</a:t>
            </a:r>
            <a:r>
              <a:rPr lang="en-US" sz="700" kern="0">
                <a:latin typeface="+mn-lt"/>
                <a:ea typeface="Arial Unicode MS" pitchFamily="34" charset="-128"/>
                <a:cs typeface="Arial Unicode MS" pitchFamily="34" charset="-128"/>
              </a:rPr>
              <a:t> ICF</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75" name="Straight Arrow Connector 74">
            <a:extLst>
              <a:ext uri="{FF2B5EF4-FFF2-40B4-BE49-F238E27FC236}">
                <a16:creationId xmlns:a16="http://schemas.microsoft.com/office/drawing/2014/main" id="{739598C1-D6EE-BAF7-720D-B5D441296D7C}"/>
              </a:ext>
            </a:extLst>
          </p:cNvPr>
          <p:cNvCxnSpPr>
            <a:cxnSpLocks/>
            <a:stCxn id="28" idx="2"/>
            <a:endCxn id="94" idx="0"/>
          </p:cNvCxnSpPr>
          <p:nvPr/>
        </p:nvCxnSpPr>
        <p:spPr>
          <a:xfrm flipH="1">
            <a:off x="2229125" y="2916000"/>
            <a:ext cx="2875" cy="845336"/>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2" name="Flowchart: Decision 81">
            <a:extLst>
              <a:ext uri="{FF2B5EF4-FFF2-40B4-BE49-F238E27FC236}">
                <a16:creationId xmlns:a16="http://schemas.microsoft.com/office/drawing/2014/main" id="{30D5B81D-FA47-39A6-4A84-16F60D78EABE}"/>
              </a:ext>
            </a:extLst>
          </p:cNvPr>
          <p:cNvSpPr>
            <a:spLocks/>
          </p:cNvSpPr>
          <p:nvPr/>
        </p:nvSpPr>
        <p:spPr bwMode="gray">
          <a:xfrm>
            <a:off x="8424000" y="2339998"/>
            <a:ext cx="720000" cy="576000"/>
          </a:xfrm>
          <a:prstGeom prst="flowChartDecision">
            <a:avLst/>
          </a:prstGeom>
          <a:solidFill>
            <a:schemeClr val="bg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450" b="0" i="0" u="none" strike="noStrike" kern="0" cap="none" spc="0" normalizeH="0" baseline="0" noProof="0">
                <a:ln>
                  <a:noFill/>
                </a:ln>
                <a:effectLst/>
                <a:uLnTx/>
                <a:uFillTx/>
                <a:latin typeface="+mn-lt"/>
                <a:ea typeface="Arial Unicode MS" pitchFamily="34" charset="-128"/>
                <a:cs typeface="Arial Unicode MS" pitchFamily="34" charset="-128"/>
              </a:rPr>
              <a:t>Is MDG needed?</a:t>
            </a:r>
            <a:endParaRPr kumimoji="0" lang="en-DE" sz="45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83" name="Straight Arrow Connector 82">
            <a:extLst>
              <a:ext uri="{FF2B5EF4-FFF2-40B4-BE49-F238E27FC236}">
                <a16:creationId xmlns:a16="http://schemas.microsoft.com/office/drawing/2014/main" id="{927DBCC3-E086-3C39-8DDF-DC62009766C9}"/>
              </a:ext>
            </a:extLst>
          </p:cNvPr>
          <p:cNvCxnSpPr>
            <a:cxnSpLocks/>
            <a:stCxn id="68" idx="3"/>
            <a:endCxn id="82" idx="1"/>
          </p:cNvCxnSpPr>
          <p:nvPr/>
        </p:nvCxnSpPr>
        <p:spPr>
          <a:xfrm flipV="1">
            <a:off x="8208000" y="2627998"/>
            <a:ext cx="216000" cy="1"/>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EB6EECC2-B578-7110-F636-F2FE16F9DCE6}"/>
              </a:ext>
            </a:extLst>
          </p:cNvPr>
          <p:cNvCxnSpPr>
            <a:stCxn id="72" idx="3"/>
            <a:endCxn id="82" idx="1"/>
          </p:cNvCxnSpPr>
          <p:nvPr/>
        </p:nvCxnSpPr>
        <p:spPr>
          <a:xfrm flipV="1">
            <a:off x="8208000" y="2627998"/>
            <a:ext cx="216000" cy="2160002"/>
          </a:xfrm>
          <a:prstGeom prst="bentConnector3">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8" name="Rectangle: Rounded Corners 87">
            <a:extLst>
              <a:ext uri="{FF2B5EF4-FFF2-40B4-BE49-F238E27FC236}">
                <a16:creationId xmlns:a16="http://schemas.microsoft.com/office/drawing/2014/main" id="{DD0427F6-D2B4-ED33-61E6-26E16E85EB54}"/>
              </a:ext>
            </a:extLst>
          </p:cNvPr>
          <p:cNvSpPr/>
          <p:nvPr/>
        </p:nvSpPr>
        <p:spPr bwMode="gray">
          <a:xfrm>
            <a:off x="8429750" y="4499998"/>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Review, governance, check, validation</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89" name="Straight Arrow Connector 88">
            <a:extLst>
              <a:ext uri="{FF2B5EF4-FFF2-40B4-BE49-F238E27FC236}">
                <a16:creationId xmlns:a16="http://schemas.microsoft.com/office/drawing/2014/main" id="{D7ABB35F-63A7-E9C9-528E-5B9451967B91}"/>
              </a:ext>
            </a:extLst>
          </p:cNvPr>
          <p:cNvCxnSpPr>
            <a:cxnSpLocks/>
            <a:stCxn id="72" idx="3"/>
            <a:endCxn id="88" idx="1"/>
          </p:cNvCxnSpPr>
          <p:nvPr/>
        </p:nvCxnSpPr>
        <p:spPr>
          <a:xfrm flipV="1">
            <a:off x="8208000" y="4787998"/>
            <a:ext cx="221750" cy="2"/>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2" name="Rectangle: Rounded Corners 91">
            <a:extLst>
              <a:ext uri="{FF2B5EF4-FFF2-40B4-BE49-F238E27FC236}">
                <a16:creationId xmlns:a16="http://schemas.microsoft.com/office/drawing/2014/main" id="{F64C0E9D-3377-9807-E13C-6C3E07FD83C9}"/>
              </a:ext>
            </a:extLst>
          </p:cNvPr>
          <p:cNvSpPr/>
          <p:nvPr/>
        </p:nvSpPr>
        <p:spPr bwMode="gray">
          <a:xfrm>
            <a:off x="9360000" y="2339998"/>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Replicate equipment and improvement data to SAP ERP</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93" name="Straight Arrow Connector 92">
            <a:extLst>
              <a:ext uri="{FF2B5EF4-FFF2-40B4-BE49-F238E27FC236}">
                <a16:creationId xmlns:a16="http://schemas.microsoft.com/office/drawing/2014/main" id="{45A8B5A9-DFAA-D1B2-F67E-D394C511E721}"/>
              </a:ext>
            </a:extLst>
          </p:cNvPr>
          <p:cNvCxnSpPr>
            <a:cxnSpLocks/>
            <a:stCxn id="82" idx="3"/>
            <a:endCxn id="92" idx="1"/>
          </p:cNvCxnSpPr>
          <p:nvPr/>
        </p:nvCxnSpPr>
        <p:spPr>
          <a:xfrm>
            <a:off x="9144000" y="2627998"/>
            <a:ext cx="216000" cy="0"/>
          </a:xfrm>
          <a:prstGeom prst="straightConnector1">
            <a:avLst/>
          </a:prstGeom>
          <a:solidFill>
            <a:schemeClr val="bg1"/>
          </a:solidFill>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1DCF64A1-9226-3DB7-C7A6-4F0A9A0148FF}"/>
              </a:ext>
            </a:extLst>
          </p:cNvPr>
          <p:cNvCxnSpPr>
            <a:stCxn id="92" idx="0"/>
            <a:endCxn id="17" idx="2"/>
          </p:cNvCxnSpPr>
          <p:nvPr/>
        </p:nvCxnSpPr>
        <p:spPr>
          <a:xfrm rot="5400000" flipH="1" flipV="1">
            <a:off x="9756001" y="1799999"/>
            <a:ext cx="503998" cy="576000"/>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3BD80005-48DA-8D68-3912-ECF0A814BDA2}"/>
              </a:ext>
            </a:extLst>
          </p:cNvPr>
          <p:cNvCxnSpPr>
            <a:cxnSpLocks/>
            <a:stCxn id="88" idx="3"/>
            <a:endCxn id="17" idx="4"/>
          </p:cNvCxnSpPr>
          <p:nvPr/>
        </p:nvCxnSpPr>
        <p:spPr>
          <a:xfrm flipV="1">
            <a:off x="9149750" y="2124000"/>
            <a:ext cx="1434250" cy="2663998"/>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2" name="Rectangle: Rounded Corners 101">
            <a:extLst>
              <a:ext uri="{FF2B5EF4-FFF2-40B4-BE49-F238E27FC236}">
                <a16:creationId xmlns:a16="http://schemas.microsoft.com/office/drawing/2014/main" id="{82B6FE85-2852-41AE-34D2-7F84D33BF8ED}"/>
              </a:ext>
            </a:extLst>
          </p:cNvPr>
          <p:cNvSpPr/>
          <p:nvPr/>
        </p:nvSpPr>
        <p:spPr bwMode="gray">
          <a:xfrm>
            <a:off x="3483055" y="4520332"/>
            <a:ext cx="720000" cy="506369"/>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Prepare Data</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110" name="Straight Connector 109">
            <a:extLst>
              <a:ext uri="{FF2B5EF4-FFF2-40B4-BE49-F238E27FC236}">
                <a16:creationId xmlns:a16="http://schemas.microsoft.com/office/drawing/2014/main" id="{DB3A303A-C34A-7252-0311-381F2608A94E}"/>
              </a:ext>
            </a:extLst>
          </p:cNvPr>
          <p:cNvCxnSpPr>
            <a:cxnSpLocks/>
          </p:cNvCxnSpPr>
          <p:nvPr/>
        </p:nvCxnSpPr>
        <p:spPr>
          <a:xfrm>
            <a:off x="504000" y="5184000"/>
            <a:ext cx="11160000" cy="0"/>
          </a:xfrm>
          <a:prstGeom prst="line">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5854879-9472-C74C-3FF8-C126237D88FE}"/>
              </a:ext>
            </a:extLst>
          </p:cNvPr>
          <p:cNvCxnSpPr>
            <a:cxnSpLocks/>
          </p:cNvCxnSpPr>
          <p:nvPr/>
        </p:nvCxnSpPr>
        <p:spPr>
          <a:xfrm>
            <a:off x="504000" y="4392000"/>
            <a:ext cx="11160000" cy="0"/>
          </a:xfrm>
          <a:prstGeom prst="line">
            <a:avLst/>
          </a:prstGeom>
          <a:ln w="127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451A324A-87EE-0326-A1BE-4B92CADE593E}"/>
              </a:ext>
            </a:extLst>
          </p:cNvPr>
          <p:cNvCxnSpPr>
            <a:cxnSpLocks/>
          </p:cNvCxnSpPr>
          <p:nvPr/>
        </p:nvCxnSpPr>
        <p:spPr>
          <a:xfrm>
            <a:off x="504000" y="2232000"/>
            <a:ext cx="11160000" cy="0"/>
          </a:xfrm>
          <a:prstGeom prst="line">
            <a:avLst/>
          </a:prstGeom>
          <a:ln w="127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1B7710D-AF06-02B7-30A3-969E069FFF42}"/>
              </a:ext>
            </a:extLst>
          </p:cNvPr>
          <p:cNvCxnSpPr>
            <a:cxnSpLocks/>
          </p:cNvCxnSpPr>
          <p:nvPr/>
        </p:nvCxnSpPr>
        <p:spPr>
          <a:xfrm>
            <a:off x="504000" y="5976000"/>
            <a:ext cx="11160000" cy="0"/>
          </a:xfrm>
          <a:prstGeom prst="line">
            <a:avLst/>
          </a:prstGeom>
          <a:ln w="127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176BEA82-5AE0-57EA-5556-B17969899B05}"/>
              </a:ext>
            </a:extLst>
          </p:cNvPr>
          <p:cNvCxnSpPr>
            <a:endCxn id="28" idx="0"/>
          </p:cNvCxnSpPr>
          <p:nvPr/>
        </p:nvCxnSpPr>
        <p:spPr>
          <a:xfrm>
            <a:off x="1656000" y="1836000"/>
            <a:ext cx="576000" cy="504000"/>
          </a:xfrm>
          <a:prstGeom prst="bentConnector2">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5C5E6DD-8ECF-7354-1C17-70C92C8D87A8}"/>
              </a:ext>
            </a:extLst>
          </p:cNvPr>
          <p:cNvSpPr/>
          <p:nvPr/>
        </p:nvSpPr>
        <p:spPr bwMode="gray">
          <a:xfrm>
            <a:off x="2556000" y="2448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2" name="Rectangle 11">
            <a:extLst>
              <a:ext uri="{FF2B5EF4-FFF2-40B4-BE49-F238E27FC236}">
                <a16:creationId xmlns:a16="http://schemas.microsoft.com/office/drawing/2014/main" id="{A67FAF9F-BDCE-2117-0AA0-2A46EDD77EF5}"/>
              </a:ext>
            </a:extLst>
          </p:cNvPr>
          <p:cNvSpPr/>
          <p:nvPr/>
        </p:nvSpPr>
        <p:spPr bwMode="gray">
          <a:xfrm>
            <a:off x="3888000" y="5832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3" name="Rectangle 12">
            <a:extLst>
              <a:ext uri="{FF2B5EF4-FFF2-40B4-BE49-F238E27FC236}">
                <a16:creationId xmlns:a16="http://schemas.microsoft.com/office/drawing/2014/main" id="{A1DEE38F-79F2-D6A6-08A5-2311D853C8A3}"/>
              </a:ext>
            </a:extLst>
          </p:cNvPr>
          <p:cNvSpPr/>
          <p:nvPr/>
        </p:nvSpPr>
        <p:spPr bwMode="gray">
          <a:xfrm>
            <a:off x="5364000" y="540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4" name="Rectangle 13">
            <a:extLst>
              <a:ext uri="{FF2B5EF4-FFF2-40B4-BE49-F238E27FC236}">
                <a16:creationId xmlns:a16="http://schemas.microsoft.com/office/drawing/2014/main" id="{9A9ED5AB-B307-9671-501D-4CE7CF55DA35}"/>
              </a:ext>
            </a:extLst>
          </p:cNvPr>
          <p:cNvSpPr/>
          <p:nvPr/>
        </p:nvSpPr>
        <p:spPr bwMode="gray">
          <a:xfrm>
            <a:off x="4427638" y="540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5" name="Rectangle 14">
            <a:extLst>
              <a:ext uri="{FF2B5EF4-FFF2-40B4-BE49-F238E27FC236}">
                <a16:creationId xmlns:a16="http://schemas.microsoft.com/office/drawing/2014/main" id="{7CDADD4A-37BC-0F40-E863-028506EC2578}"/>
              </a:ext>
            </a:extLst>
          </p:cNvPr>
          <p:cNvSpPr/>
          <p:nvPr/>
        </p:nvSpPr>
        <p:spPr bwMode="gray">
          <a:xfrm>
            <a:off x="4824000" y="5832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6" name="Rectangle 15">
            <a:extLst>
              <a:ext uri="{FF2B5EF4-FFF2-40B4-BE49-F238E27FC236}">
                <a16:creationId xmlns:a16="http://schemas.microsoft.com/office/drawing/2014/main" id="{861EF394-35EC-945D-526E-C2CA1666DA3F}"/>
              </a:ext>
            </a:extLst>
          </p:cNvPr>
          <p:cNvSpPr/>
          <p:nvPr/>
        </p:nvSpPr>
        <p:spPr bwMode="gray">
          <a:xfrm>
            <a:off x="2016000" y="288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8" name="Rectangle 17">
            <a:extLst>
              <a:ext uri="{FF2B5EF4-FFF2-40B4-BE49-F238E27FC236}">
                <a16:creationId xmlns:a16="http://schemas.microsoft.com/office/drawing/2014/main" id="{EB601FB3-E772-0B5B-C654-493836F10A18}"/>
              </a:ext>
            </a:extLst>
          </p:cNvPr>
          <p:cNvSpPr/>
          <p:nvPr/>
        </p:nvSpPr>
        <p:spPr bwMode="gray">
          <a:xfrm>
            <a:off x="8172000" y="2448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9" name="Rectangle 18">
            <a:extLst>
              <a:ext uri="{FF2B5EF4-FFF2-40B4-BE49-F238E27FC236}">
                <a16:creationId xmlns:a16="http://schemas.microsoft.com/office/drawing/2014/main" id="{55311573-8301-71F3-ECBC-326ABFCEBF0C}"/>
              </a:ext>
            </a:extLst>
          </p:cNvPr>
          <p:cNvSpPr/>
          <p:nvPr/>
        </p:nvSpPr>
        <p:spPr bwMode="gray">
          <a:xfrm>
            <a:off x="9108000" y="2448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no</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20" name="Straight Arrow Connector 19">
            <a:extLst>
              <a:ext uri="{FF2B5EF4-FFF2-40B4-BE49-F238E27FC236}">
                <a16:creationId xmlns:a16="http://schemas.microsoft.com/office/drawing/2014/main" id="{CB3EF32E-68AA-D038-382D-F4FFCEC828D6}"/>
              </a:ext>
            </a:extLst>
          </p:cNvPr>
          <p:cNvCxnSpPr>
            <a:cxnSpLocks/>
            <a:stCxn id="82" idx="2"/>
          </p:cNvCxnSpPr>
          <p:nvPr/>
        </p:nvCxnSpPr>
        <p:spPr>
          <a:xfrm>
            <a:off x="8784000" y="2915998"/>
            <a:ext cx="0" cy="1487382"/>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597F776F-53EB-4107-F83B-6ADCF94E70B9}"/>
              </a:ext>
            </a:extLst>
          </p:cNvPr>
          <p:cNvSpPr/>
          <p:nvPr/>
        </p:nvSpPr>
        <p:spPr bwMode="gray">
          <a:xfrm>
            <a:off x="7632000" y="288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30" name="Rectangle 29">
            <a:extLst>
              <a:ext uri="{FF2B5EF4-FFF2-40B4-BE49-F238E27FC236}">
                <a16:creationId xmlns:a16="http://schemas.microsoft.com/office/drawing/2014/main" id="{A7F06AEC-080E-ED4B-C581-88B03EBF45A5}"/>
              </a:ext>
            </a:extLst>
          </p:cNvPr>
          <p:cNvSpPr/>
          <p:nvPr/>
        </p:nvSpPr>
        <p:spPr bwMode="gray">
          <a:xfrm>
            <a:off x="8568000" y="2880000"/>
            <a:ext cx="216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effectLst/>
                <a:uLnTx/>
                <a:uFillTx/>
                <a:latin typeface="+mn-lt"/>
                <a:ea typeface="Arial Unicode MS" pitchFamily="34" charset="-128"/>
                <a:cs typeface="Arial Unicode MS" pitchFamily="34" charset="-128"/>
              </a:rPr>
              <a:t>yes</a:t>
            </a:r>
            <a:endParaRPr kumimoji="0" lang="en-DE" sz="6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32" name="Oval 31">
            <a:extLst>
              <a:ext uri="{FF2B5EF4-FFF2-40B4-BE49-F238E27FC236}">
                <a16:creationId xmlns:a16="http://schemas.microsoft.com/office/drawing/2014/main" id="{73D98E93-4B62-A95C-6AB1-C0F54C2682E0}"/>
              </a:ext>
            </a:extLst>
          </p:cNvPr>
          <p:cNvSpPr>
            <a:spLocks noChangeAspect="1"/>
          </p:cNvSpPr>
          <p:nvPr/>
        </p:nvSpPr>
        <p:spPr bwMode="gray">
          <a:xfrm>
            <a:off x="1548000" y="1548000"/>
            <a:ext cx="576000" cy="576000"/>
          </a:xfrm>
          <a:prstGeom prst="ellipse">
            <a:avLst/>
          </a:prstGeom>
          <a:solidFill>
            <a:schemeClr val="accent1"/>
          </a:solidFill>
          <a:ln w="127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600" b="0" i="0" u="none" strike="noStrike" kern="0" cap="none" spc="0" normalizeH="0" baseline="0" noProof="0">
                <a:ln>
                  <a:noFill/>
                </a:ln>
                <a:solidFill>
                  <a:schemeClr val="bg1"/>
                </a:solidFill>
                <a:effectLst/>
                <a:uLnTx/>
                <a:uFillTx/>
                <a:latin typeface="+mn-lt"/>
                <a:ea typeface="Arial Unicode MS" pitchFamily="34" charset="-128"/>
                <a:cs typeface="Arial Unicode MS" pitchFamily="34" charset="-128"/>
              </a:rPr>
              <a:t>Technical objects missing</a:t>
            </a:r>
            <a:endParaRPr kumimoji="0" lang="en-DE" sz="600" b="0" i="0" u="none" strike="noStrike" kern="0" cap="none" spc="0" normalizeH="0" baseline="0" noProof="0">
              <a:ln>
                <a:noFill/>
              </a:ln>
              <a:solidFill>
                <a:schemeClr val="bg1"/>
              </a:solidFill>
              <a:effectLst/>
              <a:uLnTx/>
              <a:uFillTx/>
              <a:latin typeface="+mn-lt"/>
              <a:ea typeface="Arial Unicode MS" pitchFamily="34" charset="-128"/>
              <a:cs typeface="Arial Unicode MS" pitchFamily="34" charset="-128"/>
            </a:endParaRPr>
          </a:p>
        </p:txBody>
      </p:sp>
      <p:sp>
        <p:nvSpPr>
          <p:cNvPr id="8" name="Rectangle: Rounded Corners 26">
            <a:extLst>
              <a:ext uri="{FF2B5EF4-FFF2-40B4-BE49-F238E27FC236}">
                <a16:creationId xmlns:a16="http://schemas.microsoft.com/office/drawing/2014/main" id="{58BE1847-7958-F3D2-F48E-8F72EAC2B5AC}"/>
              </a:ext>
            </a:extLst>
          </p:cNvPr>
          <p:cNvSpPr/>
          <p:nvPr/>
        </p:nvSpPr>
        <p:spPr bwMode="gray">
          <a:xfrm>
            <a:off x="1877751" y="3021174"/>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Send equipment request to </a:t>
            </a:r>
            <a:r>
              <a:rPr kumimoji="0" lang="en-US" sz="700" b="0" i="0" u="none" strike="noStrike" kern="0" cap="none" spc="0" normalizeH="0" baseline="0" noProof="0" err="1">
                <a:ln>
                  <a:noFill/>
                </a:ln>
                <a:effectLst/>
                <a:uLnTx/>
                <a:uFillTx/>
                <a:latin typeface="+mn-lt"/>
                <a:ea typeface="Arial Unicode MS" pitchFamily="34" charset="-128"/>
                <a:cs typeface="Arial Unicode MS" pitchFamily="34" charset="-128"/>
              </a:rPr>
              <a:t>Pilog</a:t>
            </a: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 Public Tenant or Invitee</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33" name="Connector: Elbow 99">
            <a:extLst>
              <a:ext uri="{FF2B5EF4-FFF2-40B4-BE49-F238E27FC236}">
                <a16:creationId xmlns:a16="http://schemas.microsoft.com/office/drawing/2014/main" id="{C77C0699-72FB-1982-114A-7951C697CC8F}"/>
              </a:ext>
            </a:extLst>
          </p:cNvPr>
          <p:cNvCxnSpPr>
            <a:cxnSpLocks/>
            <a:stCxn id="63" idx="3"/>
            <a:endCxn id="64" idx="1"/>
          </p:cNvCxnSpPr>
          <p:nvPr/>
        </p:nvCxnSpPr>
        <p:spPr>
          <a:xfrm flipV="1">
            <a:off x="5868000" y="2627999"/>
            <a:ext cx="684000" cy="1444632"/>
          </a:xfrm>
          <a:prstGeom prst="bentConnector3">
            <a:avLst>
              <a:gd name="adj1" fmla="val 50000"/>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99">
            <a:extLst>
              <a:ext uri="{FF2B5EF4-FFF2-40B4-BE49-F238E27FC236}">
                <a16:creationId xmlns:a16="http://schemas.microsoft.com/office/drawing/2014/main" id="{3507ABC4-0FF1-3C5C-3992-46AD31BC08B7}"/>
              </a:ext>
            </a:extLst>
          </p:cNvPr>
          <p:cNvCxnSpPr>
            <a:cxnSpLocks/>
            <a:stCxn id="74" idx="3"/>
            <a:endCxn id="102" idx="1"/>
          </p:cNvCxnSpPr>
          <p:nvPr/>
        </p:nvCxnSpPr>
        <p:spPr>
          <a:xfrm flipV="1">
            <a:off x="2597751" y="4773517"/>
            <a:ext cx="885304" cy="6893"/>
          </a:xfrm>
          <a:prstGeom prst="bentConnector3">
            <a:avLst>
              <a:gd name="adj1" fmla="val 50000"/>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101">
            <a:extLst>
              <a:ext uri="{FF2B5EF4-FFF2-40B4-BE49-F238E27FC236}">
                <a16:creationId xmlns:a16="http://schemas.microsoft.com/office/drawing/2014/main" id="{998437EC-FDDD-FC7F-4E8C-A9FD36974DF8}"/>
              </a:ext>
            </a:extLst>
          </p:cNvPr>
          <p:cNvSpPr/>
          <p:nvPr/>
        </p:nvSpPr>
        <p:spPr bwMode="gray">
          <a:xfrm>
            <a:off x="5148000" y="3819446"/>
            <a:ext cx="720000" cy="506369"/>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Complete Equipment Request</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67" name="Connector: Elbow 99">
            <a:extLst>
              <a:ext uri="{FF2B5EF4-FFF2-40B4-BE49-F238E27FC236}">
                <a16:creationId xmlns:a16="http://schemas.microsoft.com/office/drawing/2014/main" id="{9DAED90C-BC17-5926-654F-F57E0FF81380}"/>
              </a:ext>
            </a:extLst>
          </p:cNvPr>
          <p:cNvCxnSpPr>
            <a:cxnSpLocks/>
            <a:stCxn id="102" idx="3"/>
            <a:endCxn id="63" idx="1"/>
          </p:cNvCxnSpPr>
          <p:nvPr/>
        </p:nvCxnSpPr>
        <p:spPr>
          <a:xfrm flipV="1">
            <a:off x="4203055" y="4072631"/>
            <a:ext cx="944945" cy="700886"/>
          </a:xfrm>
          <a:prstGeom prst="bentConnector3">
            <a:avLst>
              <a:gd name="adj1" fmla="val 50000"/>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8" name="Textfeld 77">
            <a:extLst>
              <a:ext uri="{FF2B5EF4-FFF2-40B4-BE49-F238E27FC236}">
                <a16:creationId xmlns:a16="http://schemas.microsoft.com/office/drawing/2014/main" id="{ED3CE450-ADD7-658E-6B13-0FF539D85C38}"/>
              </a:ext>
            </a:extLst>
          </p:cNvPr>
          <p:cNvSpPr txBox="1"/>
          <p:nvPr/>
        </p:nvSpPr>
        <p:spPr>
          <a:xfrm>
            <a:off x="3215827" y="3734668"/>
            <a:ext cx="1173398" cy="369332"/>
          </a:xfrm>
          <a:prstGeom prst="rect">
            <a:avLst/>
          </a:prstGeom>
          <a:noFill/>
        </p:spPr>
        <p:txBody>
          <a:bodyPr wrap="none" lIns="0" tIns="0" rIns="0" bIns="0" rtlCol="0">
            <a:spAutoFit/>
          </a:bodyPr>
          <a:lstStyle/>
          <a:p>
            <a:pPr algn="l" fontAlgn="base">
              <a:spcBef>
                <a:spcPct val="50000"/>
              </a:spcBef>
              <a:spcAft>
                <a:spcPct val="0"/>
              </a:spcAft>
              <a:buClr>
                <a:schemeClr val="tx1"/>
              </a:buClr>
              <a:buSzPct val="100000"/>
            </a:pPr>
            <a:r>
              <a:rPr lang="en-US" sz="1200" kern="0" err="1">
                <a:solidFill>
                  <a:schemeClr val="bg1"/>
                </a:solidFill>
                <a:latin typeface="72 Brand" panose="020B0504030603020204" pitchFamily="34" charset="0"/>
                <a:ea typeface="Arial Unicode MS" pitchFamily="34" charset="-128"/>
                <a:cs typeface="Arial Unicode MS" pitchFamily="34" charset="-128"/>
              </a:rPr>
              <a:t>Pilog</a:t>
            </a:r>
            <a:r>
              <a:rPr lang="en-US" sz="1200" kern="0">
                <a:solidFill>
                  <a:schemeClr val="bg1"/>
                </a:solidFill>
                <a:latin typeface="72 Brand" panose="020B0504030603020204" pitchFamily="34" charset="0"/>
                <a:ea typeface="Arial Unicode MS" pitchFamily="34" charset="-128"/>
                <a:cs typeface="Arial Unicode MS" pitchFamily="34" charset="-128"/>
              </a:rPr>
              <a:t> Operator</a:t>
            </a:r>
            <a:br>
              <a:rPr lang="en-US" sz="1200" kern="0">
                <a:solidFill>
                  <a:schemeClr val="bg1"/>
                </a:solidFill>
                <a:latin typeface="72 Brand" panose="020B0504030603020204" pitchFamily="34" charset="0"/>
                <a:ea typeface="Arial Unicode MS" pitchFamily="34" charset="-128"/>
                <a:cs typeface="Arial Unicode MS" pitchFamily="34" charset="-128"/>
              </a:rPr>
            </a:br>
            <a:r>
              <a:rPr lang="en-US" sz="1200" kern="0" err="1">
                <a:solidFill>
                  <a:schemeClr val="bg1"/>
                </a:solidFill>
                <a:latin typeface="72 Brand" panose="020B0504030603020204" pitchFamily="34" charset="0"/>
                <a:ea typeface="Arial Unicode MS" pitchFamily="34" charset="-128"/>
                <a:cs typeface="Arial Unicode MS" pitchFamily="34" charset="-128"/>
              </a:rPr>
              <a:t>Conntent</a:t>
            </a:r>
            <a:r>
              <a:rPr lang="en-US" sz="1200" kern="0">
                <a:solidFill>
                  <a:schemeClr val="bg1"/>
                </a:solidFill>
                <a:latin typeface="72 Brand" panose="020B0504030603020204" pitchFamily="34" charset="0"/>
                <a:ea typeface="Arial Unicode MS" pitchFamily="34" charset="-128"/>
                <a:cs typeface="Arial Unicode MS" pitchFamily="34" charset="-128"/>
              </a:rPr>
              <a:t> Service</a:t>
            </a:r>
          </a:p>
        </p:txBody>
      </p:sp>
      <p:sp>
        <p:nvSpPr>
          <p:cNvPr id="85" name="Textfeld 84">
            <a:extLst>
              <a:ext uri="{FF2B5EF4-FFF2-40B4-BE49-F238E27FC236}">
                <a16:creationId xmlns:a16="http://schemas.microsoft.com/office/drawing/2014/main" id="{0958A834-E0DC-A8A6-D5B1-6AABD4338FAD}"/>
              </a:ext>
            </a:extLst>
          </p:cNvPr>
          <p:cNvSpPr txBox="1"/>
          <p:nvPr/>
        </p:nvSpPr>
        <p:spPr>
          <a:xfrm>
            <a:off x="6325199" y="5949333"/>
            <a:ext cx="1173398" cy="369332"/>
          </a:xfrm>
          <a:prstGeom prst="rect">
            <a:avLst/>
          </a:prstGeom>
          <a:noFill/>
        </p:spPr>
        <p:txBody>
          <a:bodyPr wrap="none" lIns="0" tIns="0" rIns="0" bIns="0" rtlCol="0">
            <a:spAutoFit/>
          </a:bodyPr>
          <a:lstStyle/>
          <a:p>
            <a:pPr algn="l" fontAlgn="base">
              <a:spcBef>
                <a:spcPct val="50000"/>
              </a:spcBef>
              <a:spcAft>
                <a:spcPct val="0"/>
              </a:spcAft>
              <a:buClr>
                <a:schemeClr val="tx1"/>
              </a:buClr>
              <a:buSzPct val="100000"/>
            </a:pPr>
            <a:r>
              <a:rPr lang="en-US" sz="1200" kern="0" err="1">
                <a:solidFill>
                  <a:schemeClr val="bg1"/>
                </a:solidFill>
                <a:latin typeface="72 Brand" panose="020B0504030603020204" pitchFamily="34" charset="0"/>
                <a:ea typeface="Arial Unicode MS" pitchFamily="34" charset="-128"/>
                <a:cs typeface="Arial Unicode MS" pitchFamily="34" charset="-128"/>
              </a:rPr>
              <a:t>Pilog</a:t>
            </a:r>
            <a:r>
              <a:rPr lang="en-US" sz="1200" kern="0">
                <a:solidFill>
                  <a:schemeClr val="bg1"/>
                </a:solidFill>
                <a:latin typeface="72 Brand" panose="020B0504030603020204" pitchFamily="34" charset="0"/>
                <a:ea typeface="Arial Unicode MS" pitchFamily="34" charset="-128"/>
                <a:cs typeface="Arial Unicode MS" pitchFamily="34" charset="-128"/>
              </a:rPr>
              <a:t> OEM</a:t>
            </a:r>
            <a:br>
              <a:rPr lang="en-US" sz="1200" kern="0">
                <a:solidFill>
                  <a:schemeClr val="bg1"/>
                </a:solidFill>
                <a:latin typeface="72 Brand" panose="020B0504030603020204" pitchFamily="34" charset="0"/>
                <a:ea typeface="Arial Unicode MS" pitchFamily="34" charset="-128"/>
                <a:cs typeface="Arial Unicode MS" pitchFamily="34" charset="-128"/>
              </a:rPr>
            </a:br>
            <a:r>
              <a:rPr lang="en-US" sz="1200" kern="0" err="1">
                <a:solidFill>
                  <a:schemeClr val="bg1"/>
                </a:solidFill>
                <a:latin typeface="72 Brand" panose="020B0504030603020204" pitchFamily="34" charset="0"/>
                <a:ea typeface="Arial Unicode MS" pitchFamily="34" charset="-128"/>
                <a:cs typeface="Arial Unicode MS" pitchFamily="34" charset="-128"/>
              </a:rPr>
              <a:t>Conntent</a:t>
            </a:r>
            <a:r>
              <a:rPr lang="en-US" sz="1200" kern="0">
                <a:solidFill>
                  <a:schemeClr val="bg1"/>
                </a:solidFill>
                <a:latin typeface="72 Brand" panose="020B0504030603020204" pitchFamily="34" charset="0"/>
                <a:ea typeface="Arial Unicode MS" pitchFamily="34" charset="-128"/>
                <a:cs typeface="Arial Unicode MS" pitchFamily="34" charset="-128"/>
              </a:rPr>
              <a:t> Service</a:t>
            </a:r>
          </a:p>
        </p:txBody>
      </p:sp>
      <p:sp>
        <p:nvSpPr>
          <p:cNvPr id="90" name="Textfeld 89">
            <a:extLst>
              <a:ext uri="{FF2B5EF4-FFF2-40B4-BE49-F238E27FC236}">
                <a16:creationId xmlns:a16="http://schemas.microsoft.com/office/drawing/2014/main" id="{7BD084E0-3BAF-ED13-FAFC-25F49BE4239A}"/>
              </a:ext>
            </a:extLst>
          </p:cNvPr>
          <p:cNvSpPr txBox="1"/>
          <p:nvPr/>
        </p:nvSpPr>
        <p:spPr>
          <a:xfrm>
            <a:off x="9252000" y="4403380"/>
            <a:ext cx="964828" cy="369332"/>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1200" kern="0" err="1">
                <a:solidFill>
                  <a:schemeClr val="bg1"/>
                </a:solidFill>
                <a:latin typeface="72 Brand" panose="020B0504030603020204" pitchFamily="34" charset="0"/>
                <a:ea typeface="Arial Unicode MS" pitchFamily="34" charset="-128"/>
                <a:cs typeface="Arial Unicode MS" pitchFamily="34" charset="-128"/>
              </a:rPr>
              <a:t>Pilog</a:t>
            </a:r>
            <a:r>
              <a:rPr lang="en-US" sz="1200" kern="0">
                <a:solidFill>
                  <a:schemeClr val="bg1"/>
                </a:solidFill>
                <a:latin typeface="72 Brand" panose="020B0504030603020204" pitchFamily="34" charset="0"/>
                <a:ea typeface="Arial Unicode MS" pitchFamily="34" charset="-128"/>
                <a:cs typeface="Arial Unicode MS" pitchFamily="34" charset="-128"/>
              </a:rPr>
              <a:t> MDM-Service</a:t>
            </a:r>
          </a:p>
        </p:txBody>
      </p:sp>
      <p:sp>
        <p:nvSpPr>
          <p:cNvPr id="91" name="Rechteck 90">
            <a:extLst>
              <a:ext uri="{FF2B5EF4-FFF2-40B4-BE49-F238E27FC236}">
                <a16:creationId xmlns:a16="http://schemas.microsoft.com/office/drawing/2014/main" id="{F030A2F3-D17F-7E9E-4AF9-18A7F6AEB63B}"/>
              </a:ext>
            </a:extLst>
          </p:cNvPr>
          <p:cNvSpPr/>
          <p:nvPr/>
        </p:nvSpPr>
        <p:spPr bwMode="gray">
          <a:xfrm>
            <a:off x="9465712" y="214686"/>
            <a:ext cx="2198288" cy="1006995"/>
          </a:xfrm>
          <a:prstGeom prst="rect">
            <a:avLst/>
          </a:prstGeom>
          <a:solidFill>
            <a:schemeClr val="accent2"/>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a:ln>
                  <a:noFill/>
                </a:ln>
                <a:solidFill>
                  <a:schemeClr val="bg1"/>
                </a:solidFill>
                <a:effectLst/>
                <a:uLnTx/>
                <a:uFillTx/>
                <a:latin typeface="+mn-lt"/>
                <a:ea typeface="Arial Unicode MS" pitchFamily="34" charset="-128"/>
                <a:cs typeface="Arial Unicode MS" pitchFamily="34" charset="-128"/>
              </a:rPr>
              <a:t>Draft to be discussed NOT aligned </a:t>
            </a:r>
          </a:p>
        </p:txBody>
      </p:sp>
      <p:sp>
        <p:nvSpPr>
          <p:cNvPr id="94" name="Rectangle: Rounded Corners 33">
            <a:extLst>
              <a:ext uri="{FF2B5EF4-FFF2-40B4-BE49-F238E27FC236}">
                <a16:creationId xmlns:a16="http://schemas.microsoft.com/office/drawing/2014/main" id="{88F71A67-9D6F-AE63-BC53-AA2A49503FE3}"/>
              </a:ext>
            </a:extLst>
          </p:cNvPr>
          <p:cNvSpPr/>
          <p:nvPr/>
        </p:nvSpPr>
        <p:spPr bwMode="gray">
          <a:xfrm>
            <a:off x="1869125" y="3761336"/>
            <a:ext cx="720000" cy="576000"/>
          </a:xfrm>
          <a:prstGeom prst="roundRect">
            <a:avLst/>
          </a:prstGeom>
          <a:solidFill>
            <a:schemeClr val="bg1"/>
          </a:solidFill>
          <a:ln w="127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700" b="0" i="0" u="none" strike="noStrike" kern="0" cap="none" spc="0" normalizeH="0" baseline="0" noProof="0">
                <a:ln>
                  <a:noFill/>
                </a:ln>
                <a:effectLst/>
                <a:uLnTx/>
                <a:uFillTx/>
                <a:latin typeface="+mn-lt"/>
                <a:ea typeface="Arial Unicode MS" pitchFamily="34" charset="-128"/>
                <a:cs typeface="Arial Unicode MS" pitchFamily="34" charset="-128"/>
              </a:rPr>
              <a:t>Receive equipment request from Operator</a:t>
            </a:r>
            <a:endParaRPr kumimoji="0" lang="en-DE" sz="700" b="0" i="0" u="none" strike="noStrike" kern="0" cap="none" spc="0" normalizeH="0" baseline="0" noProof="0">
              <a:ln>
                <a:noFill/>
              </a:ln>
              <a:effectLst/>
              <a:uLnTx/>
              <a:uFillTx/>
              <a:latin typeface="+mn-lt"/>
              <a:ea typeface="Arial Unicode MS" pitchFamily="34" charset="-128"/>
              <a:cs typeface="Arial Unicode MS" pitchFamily="34" charset="-128"/>
            </a:endParaRPr>
          </a:p>
        </p:txBody>
      </p:sp>
      <p:cxnSp>
        <p:nvCxnSpPr>
          <p:cNvPr id="115" name="Straight Connector 114">
            <a:extLst>
              <a:ext uri="{FF2B5EF4-FFF2-40B4-BE49-F238E27FC236}">
                <a16:creationId xmlns:a16="http://schemas.microsoft.com/office/drawing/2014/main" id="{C98DB604-4EA4-4235-8394-BDF04CDA265C}"/>
              </a:ext>
            </a:extLst>
          </p:cNvPr>
          <p:cNvCxnSpPr>
            <a:cxnSpLocks/>
          </p:cNvCxnSpPr>
          <p:nvPr/>
        </p:nvCxnSpPr>
        <p:spPr>
          <a:xfrm>
            <a:off x="936000" y="1440000"/>
            <a:ext cx="0" cy="5328000"/>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Arrow Connector 74">
            <a:extLst>
              <a:ext uri="{FF2B5EF4-FFF2-40B4-BE49-F238E27FC236}">
                <a16:creationId xmlns:a16="http://schemas.microsoft.com/office/drawing/2014/main" id="{A5AB1A04-6596-E0E5-0581-76FF306B4D02}"/>
              </a:ext>
            </a:extLst>
          </p:cNvPr>
          <p:cNvCxnSpPr>
            <a:cxnSpLocks/>
            <a:stCxn id="94" idx="2"/>
            <a:endCxn id="74" idx="0"/>
          </p:cNvCxnSpPr>
          <p:nvPr/>
        </p:nvCxnSpPr>
        <p:spPr>
          <a:xfrm>
            <a:off x="2229125" y="4337336"/>
            <a:ext cx="8626" cy="183485"/>
          </a:xfrm>
          <a:prstGeom prst="straightConnector1">
            <a:avLst/>
          </a:prstGeom>
          <a:ln w="127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4" name="Straight Connector 114">
            <a:extLst>
              <a:ext uri="{FF2B5EF4-FFF2-40B4-BE49-F238E27FC236}">
                <a16:creationId xmlns:a16="http://schemas.microsoft.com/office/drawing/2014/main" id="{CB3EDECA-0E04-AD8B-4CF4-67E550CEC6EA}"/>
              </a:ext>
            </a:extLst>
          </p:cNvPr>
          <p:cNvCxnSpPr>
            <a:cxnSpLocks/>
          </p:cNvCxnSpPr>
          <p:nvPr/>
        </p:nvCxnSpPr>
        <p:spPr>
          <a:xfrm>
            <a:off x="6357857" y="4403380"/>
            <a:ext cx="0" cy="749996"/>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14">
            <a:extLst>
              <a:ext uri="{FF2B5EF4-FFF2-40B4-BE49-F238E27FC236}">
                <a16:creationId xmlns:a16="http://schemas.microsoft.com/office/drawing/2014/main" id="{BC14CED4-DFD5-382E-95D9-91A2E9974E64}"/>
              </a:ext>
            </a:extLst>
          </p:cNvPr>
          <p:cNvCxnSpPr>
            <a:cxnSpLocks/>
          </p:cNvCxnSpPr>
          <p:nvPr/>
        </p:nvCxnSpPr>
        <p:spPr>
          <a:xfrm>
            <a:off x="6757658" y="4403380"/>
            <a:ext cx="0" cy="763034"/>
          </a:xfrm>
          <a:prstGeom prst="line">
            <a:avLst/>
          </a:prstGeom>
          <a:ln w="1270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728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3DBF6-C35F-6530-6405-E8BC0731A8D3}"/>
              </a:ext>
            </a:extLst>
          </p:cNvPr>
          <p:cNvSpPr>
            <a:spLocks noGrp="1"/>
          </p:cNvSpPr>
          <p:nvPr>
            <p:ph type="ctrTitle"/>
          </p:nvPr>
        </p:nvSpPr>
        <p:spPr/>
        <p:txBody>
          <a:bodyPr/>
          <a:lstStyle/>
          <a:p>
            <a:r>
              <a:rPr lang="en-US" dirty="0" err="1"/>
              <a:t>PiLog</a:t>
            </a:r>
            <a:r>
              <a:rPr lang="en-US" dirty="0"/>
              <a:t> Offering</a:t>
            </a:r>
            <a:endParaRPr lang="en-DE" dirty="0"/>
          </a:p>
        </p:txBody>
      </p:sp>
    </p:spTree>
    <p:extLst>
      <p:ext uri="{BB962C8B-B14F-4D97-AF65-F5344CB8AC3E}">
        <p14:creationId xmlns:p14="http://schemas.microsoft.com/office/powerpoint/2010/main" val="1126183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934C4E-EC90-EF14-CE89-D8843497020D}"/>
              </a:ext>
            </a:extLst>
          </p:cNvPr>
          <p:cNvSpPr>
            <a:spLocks noGrp="1"/>
          </p:cNvSpPr>
          <p:nvPr>
            <p:ph type="title"/>
          </p:nvPr>
        </p:nvSpPr>
        <p:spPr>
          <a:xfrm>
            <a:off x="504001" y="504000"/>
            <a:ext cx="11186476" cy="677108"/>
          </a:xfrm>
        </p:spPr>
        <p:txBody>
          <a:bodyPr/>
          <a:lstStyle/>
          <a:p>
            <a:r>
              <a:rPr lang="en-US" dirty="0" err="1"/>
              <a:t>PiLog</a:t>
            </a:r>
            <a:r>
              <a:rPr lang="en-US" dirty="0"/>
              <a:t> Offering</a:t>
            </a:r>
            <a:br>
              <a:rPr lang="en-US" dirty="0"/>
            </a:br>
            <a:r>
              <a:rPr lang="en-US" sz="2000" dirty="0">
                <a:solidFill>
                  <a:schemeClr val="tx2"/>
                </a:solidFill>
              </a:rPr>
              <a:t>Win-win positioning complementing BNAC collaboration capabilities</a:t>
            </a:r>
            <a:endParaRPr lang="en-DE" sz="2000" dirty="0">
              <a:solidFill>
                <a:schemeClr val="tx2"/>
              </a:solidFill>
            </a:endParaRPr>
          </a:p>
        </p:txBody>
      </p:sp>
      <p:sp>
        <p:nvSpPr>
          <p:cNvPr id="4" name="Rectangle: Rounded Corners 3">
            <a:extLst>
              <a:ext uri="{FF2B5EF4-FFF2-40B4-BE49-F238E27FC236}">
                <a16:creationId xmlns:a16="http://schemas.microsoft.com/office/drawing/2014/main" id="{A98D2810-3714-D33A-8114-73809E731685}"/>
              </a:ext>
            </a:extLst>
          </p:cNvPr>
          <p:cNvSpPr/>
          <p:nvPr/>
        </p:nvSpPr>
        <p:spPr bwMode="gray">
          <a:xfrm>
            <a:off x="504000" y="1440000"/>
            <a:ext cx="5400000" cy="2160000"/>
          </a:xfrm>
          <a:prstGeom prst="roundRect">
            <a:avLst>
              <a:gd name="adj" fmla="val 6276"/>
            </a:avLst>
          </a:prstGeom>
          <a:noFill/>
          <a:ln w="12700" algn="ctr">
            <a:solidFill>
              <a:schemeClr val="tx2"/>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rPr>
              <a:t>Content</a:t>
            </a:r>
            <a:endParaRPr kumimoji="0" lang="en-US" sz="1800" b="1"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endParaRPr>
          </a:p>
          <a:p>
            <a:pPr marR="0" defTabSz="914400" eaLnBrk="1" fontAlgn="base" latinLnBrk="0" hangingPunct="1">
              <a:lnSpc>
                <a:spcPct val="100000"/>
              </a:lnSpc>
              <a:spcBef>
                <a:spcPct val="50000"/>
              </a:spcBef>
              <a:spcAft>
                <a:spcPct val="0"/>
              </a:spcAft>
              <a:buClr>
                <a:srgbClr val="F0AB00"/>
              </a:buClr>
              <a:buSzPct val="80000"/>
              <a:tabLst/>
            </a:pPr>
            <a:r>
              <a:rPr lang="en-US" sz="1800" kern="0" dirty="0">
                <a:latin typeface="+mn-lt"/>
                <a:ea typeface="Arial Unicode MS" pitchFamily="34" charset="-128"/>
                <a:cs typeface="Arial Unicode MS" pitchFamily="34" charset="-128"/>
              </a:rPr>
              <a:t>Specific content to classify and model technical objects and dependent data</a:t>
            </a:r>
          </a:p>
          <a:p>
            <a:pPr marR="0"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latin typeface="+mn-lt"/>
                <a:ea typeface="Arial Unicode MS" pitchFamily="34" charset="-128"/>
                <a:cs typeface="Arial Unicode MS" pitchFamily="34" charset="-128"/>
              </a:rPr>
              <a:t>Content libraries for technical objects and dependent data</a:t>
            </a:r>
          </a:p>
          <a:p>
            <a:pPr marR="0"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 name="Rectangle: Rounded Corners 4">
            <a:extLst>
              <a:ext uri="{FF2B5EF4-FFF2-40B4-BE49-F238E27FC236}">
                <a16:creationId xmlns:a16="http://schemas.microsoft.com/office/drawing/2014/main" id="{1AEEB929-8A5E-0B2E-A510-EA22096662FB}"/>
              </a:ext>
            </a:extLst>
          </p:cNvPr>
          <p:cNvSpPr/>
          <p:nvPr/>
        </p:nvSpPr>
        <p:spPr bwMode="gray">
          <a:xfrm>
            <a:off x="6291176" y="1440000"/>
            <a:ext cx="5400000" cy="2160000"/>
          </a:xfrm>
          <a:prstGeom prst="roundRect">
            <a:avLst>
              <a:gd name="adj" fmla="val 6276"/>
            </a:avLst>
          </a:prstGeom>
          <a:noFill/>
          <a:ln w="12700" algn="ctr">
            <a:solidFill>
              <a:schemeClr val="tx2"/>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rPr>
              <a:t>Applications</a:t>
            </a:r>
          </a:p>
          <a:p>
            <a:pPr marR="0" defTabSz="914400" eaLnBrk="1" fontAlgn="base" latinLnBrk="0" hangingPunct="1">
              <a:lnSpc>
                <a:spcPct val="100000"/>
              </a:lnSpc>
              <a:spcBef>
                <a:spcPct val="50000"/>
              </a:spcBef>
              <a:spcAft>
                <a:spcPct val="0"/>
              </a:spcAft>
              <a:buClr>
                <a:srgbClr val="F0AB00"/>
              </a:buClr>
              <a:buSzPct val="80000"/>
              <a:tabLst/>
            </a:pPr>
            <a:r>
              <a:rPr lang="en-US" sz="1800" kern="0" dirty="0">
                <a:latin typeface="+mn-lt"/>
                <a:ea typeface="Arial Unicode MS" pitchFamily="34" charset="-128"/>
                <a:cs typeface="Arial Unicode MS" pitchFamily="34" charset="-128"/>
              </a:rPr>
              <a:t>Applications supporting content creation in BNAC</a:t>
            </a:r>
          </a:p>
          <a:p>
            <a:pPr marR="0"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latin typeface="+mn-lt"/>
                <a:ea typeface="Arial Unicode MS" pitchFamily="34" charset="-128"/>
                <a:cs typeface="Arial Unicode MS" pitchFamily="34" charset="-128"/>
              </a:rPr>
              <a:t>Applications to map different taxonomies across different trading partners in BNAC</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6" name="Rectangle: Rounded Corners 5">
            <a:extLst>
              <a:ext uri="{FF2B5EF4-FFF2-40B4-BE49-F238E27FC236}">
                <a16:creationId xmlns:a16="http://schemas.microsoft.com/office/drawing/2014/main" id="{D5F01E90-3152-57D5-13F8-6031EA304EB9}"/>
              </a:ext>
            </a:extLst>
          </p:cNvPr>
          <p:cNvSpPr/>
          <p:nvPr/>
        </p:nvSpPr>
        <p:spPr bwMode="gray">
          <a:xfrm>
            <a:off x="504000" y="3892255"/>
            <a:ext cx="5400000" cy="2160000"/>
          </a:xfrm>
          <a:prstGeom prst="roundRect">
            <a:avLst>
              <a:gd name="adj" fmla="val 6276"/>
            </a:avLst>
          </a:prstGeom>
          <a:noFill/>
          <a:ln w="12700" algn="ctr">
            <a:solidFill>
              <a:schemeClr val="tx2"/>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rPr>
              <a:t>Master Data Governance</a:t>
            </a:r>
          </a:p>
          <a:p>
            <a:pPr marR="0" defTabSz="914400" eaLnBrk="1" fontAlgn="base" latinLnBrk="0" hangingPunct="1">
              <a:lnSpc>
                <a:spcPct val="100000"/>
              </a:lnSpc>
              <a:spcBef>
                <a:spcPct val="50000"/>
              </a:spcBef>
              <a:spcAft>
                <a:spcPct val="0"/>
              </a:spcAft>
              <a:buClr>
                <a:srgbClr val="F0AB00"/>
              </a:buClr>
              <a:buSzPct val="80000"/>
              <a:tabLst/>
            </a:pPr>
            <a:r>
              <a:rPr lang="en-US" sz="1800" kern="0" dirty="0">
                <a:latin typeface="+mn-lt"/>
                <a:ea typeface="Arial Unicode MS" pitchFamily="34" charset="-128"/>
                <a:cs typeface="Arial Unicode MS" pitchFamily="34" charset="-128"/>
              </a:rPr>
              <a:t>Master Data Governance for technical objects integrated with BNAC</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7" name="Rectangle: Rounded Corners 6">
            <a:extLst>
              <a:ext uri="{FF2B5EF4-FFF2-40B4-BE49-F238E27FC236}">
                <a16:creationId xmlns:a16="http://schemas.microsoft.com/office/drawing/2014/main" id="{5E475B71-B469-8F3F-F1E9-A635B328DBE2}"/>
              </a:ext>
            </a:extLst>
          </p:cNvPr>
          <p:cNvSpPr/>
          <p:nvPr/>
        </p:nvSpPr>
        <p:spPr bwMode="gray">
          <a:xfrm>
            <a:off x="6291176" y="3903928"/>
            <a:ext cx="5400000" cy="2160000"/>
          </a:xfrm>
          <a:prstGeom prst="roundRect">
            <a:avLst>
              <a:gd name="adj" fmla="val 6276"/>
            </a:avLst>
          </a:prstGeom>
          <a:noFill/>
          <a:ln w="12700" algn="ctr">
            <a:solidFill>
              <a:schemeClr val="tx2"/>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rPr>
              <a:t>Implementation</a:t>
            </a:r>
          </a:p>
          <a:p>
            <a:pPr marR="0" defTabSz="914400" eaLnBrk="1" fontAlgn="base" latinLnBrk="0" hangingPunct="1">
              <a:lnSpc>
                <a:spcPct val="100000"/>
              </a:lnSpc>
              <a:spcBef>
                <a:spcPct val="50000"/>
              </a:spcBef>
              <a:spcAft>
                <a:spcPct val="0"/>
              </a:spcAft>
              <a:buClr>
                <a:srgbClr val="F0AB00"/>
              </a:buClr>
              <a:buSzPct val="80000"/>
              <a:tabLst/>
            </a:pPr>
            <a:r>
              <a:rPr lang="en-US" sz="1800" kern="0" dirty="0">
                <a:latin typeface="+mn-lt"/>
                <a:ea typeface="Arial Unicode MS" pitchFamily="34" charset="-128"/>
                <a:cs typeface="Arial Unicode MS" pitchFamily="34" charset="-128"/>
              </a:rPr>
              <a:t>Supporting the implementation of BNAC customer projects</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Tree>
    <p:extLst>
      <p:ext uri="{BB962C8B-B14F-4D97-AF65-F5344CB8AC3E}">
        <p14:creationId xmlns:p14="http://schemas.microsoft.com/office/powerpoint/2010/main" val="2713984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EE1B03-ECF3-E6E1-2A5B-712C04E36167}"/>
              </a:ext>
            </a:extLst>
          </p:cNvPr>
          <p:cNvSpPr>
            <a:spLocks noGrp="1"/>
          </p:cNvSpPr>
          <p:nvPr>
            <p:ph type="title"/>
          </p:nvPr>
        </p:nvSpPr>
        <p:spPr/>
        <p:txBody>
          <a:bodyPr/>
          <a:lstStyle/>
          <a:p>
            <a:r>
              <a:rPr lang="en-US" dirty="0" err="1"/>
              <a:t>PiLog</a:t>
            </a:r>
            <a:r>
              <a:rPr lang="en-US" dirty="0"/>
              <a:t> Applications</a:t>
            </a:r>
            <a:endParaRPr lang="en-DE" dirty="0"/>
          </a:p>
        </p:txBody>
      </p:sp>
      <p:sp>
        <p:nvSpPr>
          <p:cNvPr id="4" name="Rectangle: Rounded Corners 3">
            <a:extLst>
              <a:ext uri="{FF2B5EF4-FFF2-40B4-BE49-F238E27FC236}">
                <a16:creationId xmlns:a16="http://schemas.microsoft.com/office/drawing/2014/main" id="{E00CE4EF-59E5-415E-2920-6931511C2D6B}"/>
              </a:ext>
            </a:extLst>
          </p:cNvPr>
          <p:cNvSpPr>
            <a:spLocks noChangeAspect="1"/>
          </p:cNvSpPr>
          <p:nvPr/>
        </p:nvSpPr>
        <p:spPr bwMode="gray">
          <a:xfrm>
            <a:off x="504000" y="1620000"/>
            <a:ext cx="1296000" cy="1296000"/>
          </a:xfrm>
          <a:prstGeom prst="roundRect">
            <a:avLst/>
          </a:prstGeom>
          <a:solidFill>
            <a:schemeClr val="bg1"/>
          </a:solidFill>
          <a:ln w="12700" algn="ctr">
            <a:solidFill>
              <a:schemeClr val="tx2"/>
            </a:solidFill>
            <a:miter lim="800000"/>
            <a:headEnd/>
            <a:tailEnd/>
          </a:ln>
          <a:effectLst>
            <a:outerShdw blurRad="50800" dist="38100" dir="2700000" algn="tl" rotWithShape="0">
              <a:prstClr val="black">
                <a:alpha val="40000"/>
              </a:prstClr>
            </a:outerShdw>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Classification Mapping</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 name="Rectangle 4">
            <a:extLst>
              <a:ext uri="{FF2B5EF4-FFF2-40B4-BE49-F238E27FC236}">
                <a16:creationId xmlns:a16="http://schemas.microsoft.com/office/drawing/2014/main" id="{35379F19-1702-DFC4-8B1A-F1FE2D9701FD}"/>
              </a:ext>
            </a:extLst>
          </p:cNvPr>
          <p:cNvSpPr>
            <a:spLocks/>
          </p:cNvSpPr>
          <p:nvPr/>
        </p:nvSpPr>
        <p:spPr bwMode="gray">
          <a:xfrm>
            <a:off x="2086366" y="1620000"/>
            <a:ext cx="3600000" cy="1296000"/>
          </a:xfrm>
          <a:prstGeom prst="rect">
            <a:avLst/>
          </a:prstGeom>
          <a:solidFill>
            <a:schemeClr val="bg1"/>
          </a:solidFill>
          <a:ln w="12700" algn="ctr">
            <a:noFill/>
            <a:miter lim="800000"/>
            <a:headEnd/>
            <a:tailEnd/>
          </a:ln>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200" kern="0" dirty="0">
                <a:latin typeface="+mn-lt"/>
                <a:ea typeface="Arial Unicode MS" pitchFamily="34" charset="-128"/>
                <a:cs typeface="Arial Unicode MS" pitchFamily="34" charset="-128"/>
              </a:rPr>
              <a:t>Mapping of multiple classifications and industry standards across different trading partners</a:t>
            </a:r>
          </a:p>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rPr>
              <a:t>Value Proposition</a:t>
            </a: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 preparation and consumption of BNAC network delivered content according to the needs of each trading partner</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 name="Straight Connector 6">
            <a:extLst>
              <a:ext uri="{FF2B5EF4-FFF2-40B4-BE49-F238E27FC236}">
                <a16:creationId xmlns:a16="http://schemas.microsoft.com/office/drawing/2014/main" id="{76FEA579-0B8A-A193-C160-2813389FDCAA}"/>
              </a:ext>
            </a:extLst>
          </p:cNvPr>
          <p:cNvCxnSpPr/>
          <p:nvPr/>
        </p:nvCxnSpPr>
        <p:spPr>
          <a:xfrm>
            <a:off x="2047456" y="1620000"/>
            <a:ext cx="0" cy="1296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A43BFF69-FB5F-8F41-7E52-06A54C36BF5F}"/>
              </a:ext>
            </a:extLst>
          </p:cNvPr>
          <p:cNvSpPr>
            <a:spLocks noChangeAspect="1"/>
          </p:cNvSpPr>
          <p:nvPr/>
        </p:nvSpPr>
        <p:spPr bwMode="gray">
          <a:xfrm>
            <a:off x="6508810" y="1620000"/>
            <a:ext cx="1296000" cy="1296000"/>
          </a:xfrm>
          <a:prstGeom prst="roundRect">
            <a:avLst/>
          </a:prstGeom>
          <a:solidFill>
            <a:schemeClr val="bg1"/>
          </a:solidFill>
          <a:ln w="12700" algn="ctr">
            <a:solidFill>
              <a:schemeClr val="tx2"/>
            </a:solidFill>
            <a:miter lim="800000"/>
            <a:headEnd/>
            <a:tailEnd/>
          </a:ln>
          <a:effectLst>
            <a:outerShdw blurRad="50800" dist="38100" dir="2700000" algn="tl" rotWithShape="0">
              <a:prstClr val="black">
                <a:alpha val="40000"/>
              </a:prstClr>
            </a:outerShdw>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Content Creation</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 name="Rectangle 8">
            <a:extLst>
              <a:ext uri="{FF2B5EF4-FFF2-40B4-BE49-F238E27FC236}">
                <a16:creationId xmlns:a16="http://schemas.microsoft.com/office/drawing/2014/main" id="{5F1F5DE0-8B4F-1B9B-966A-215F754B2C19}"/>
              </a:ext>
            </a:extLst>
          </p:cNvPr>
          <p:cNvSpPr>
            <a:spLocks/>
          </p:cNvSpPr>
          <p:nvPr/>
        </p:nvSpPr>
        <p:spPr bwMode="gray">
          <a:xfrm>
            <a:off x="8091176" y="1620000"/>
            <a:ext cx="3600000" cy="1296000"/>
          </a:xfrm>
          <a:prstGeom prst="rect">
            <a:avLst/>
          </a:prstGeom>
          <a:solidFill>
            <a:schemeClr val="bg1"/>
          </a:solidFill>
          <a:ln w="12700" algn="ctr">
            <a:noFill/>
            <a:miter lim="800000"/>
            <a:headEnd/>
            <a:tailEnd/>
          </a:ln>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200" kern="0" dirty="0">
                <a:latin typeface="+mn-lt"/>
                <a:ea typeface="Arial Unicode MS" pitchFamily="34" charset="-128"/>
                <a:cs typeface="Arial Unicode MS" pitchFamily="34" charset="-128"/>
              </a:rPr>
              <a:t>AI-based creation of standardized digital asset master data out of unstructured data (i.e. documents, drawings)</a:t>
            </a:r>
          </a:p>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rPr>
              <a:t>Value Proposition</a:t>
            </a: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 drastically facilitate the creation of content to be shared and consumed in BNAC</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0" name="Straight Connector 9">
            <a:extLst>
              <a:ext uri="{FF2B5EF4-FFF2-40B4-BE49-F238E27FC236}">
                <a16:creationId xmlns:a16="http://schemas.microsoft.com/office/drawing/2014/main" id="{BDC504E3-6D60-08B9-C544-0959C3CFF27A}"/>
              </a:ext>
            </a:extLst>
          </p:cNvPr>
          <p:cNvCxnSpPr/>
          <p:nvPr/>
        </p:nvCxnSpPr>
        <p:spPr>
          <a:xfrm>
            <a:off x="8052266" y="1620000"/>
            <a:ext cx="0" cy="1296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C30CA5B7-E5EE-D007-00DB-E094B8DE46A1}"/>
              </a:ext>
            </a:extLst>
          </p:cNvPr>
          <p:cNvGrpSpPr/>
          <p:nvPr/>
        </p:nvGrpSpPr>
        <p:grpSpPr>
          <a:xfrm>
            <a:off x="504000" y="3240000"/>
            <a:ext cx="5182366" cy="1296000"/>
            <a:chOff x="504000" y="3429000"/>
            <a:chExt cx="5182366" cy="1296000"/>
          </a:xfrm>
        </p:grpSpPr>
        <p:sp>
          <p:nvSpPr>
            <p:cNvPr id="11" name="Rectangle: Rounded Corners 10">
              <a:extLst>
                <a:ext uri="{FF2B5EF4-FFF2-40B4-BE49-F238E27FC236}">
                  <a16:creationId xmlns:a16="http://schemas.microsoft.com/office/drawing/2014/main" id="{CB86ADE4-43DD-FEB1-473A-ECB9E3D1FD8B}"/>
                </a:ext>
              </a:extLst>
            </p:cNvPr>
            <p:cNvSpPr>
              <a:spLocks noChangeAspect="1"/>
            </p:cNvSpPr>
            <p:nvPr/>
          </p:nvSpPr>
          <p:spPr bwMode="gray">
            <a:xfrm>
              <a:off x="504000" y="3429000"/>
              <a:ext cx="1296000" cy="1296000"/>
            </a:xfrm>
            <a:prstGeom prst="roundRect">
              <a:avLst/>
            </a:prstGeom>
            <a:solidFill>
              <a:schemeClr val="bg1"/>
            </a:solidFill>
            <a:ln w="12700" algn="ctr">
              <a:solidFill>
                <a:schemeClr val="tx2"/>
              </a:solidFill>
              <a:miter lim="800000"/>
              <a:headEnd/>
              <a:tailEnd/>
            </a:ln>
            <a:effectLst>
              <a:outerShdw blurRad="50800" dist="38100" dir="2700000" algn="tl" rotWithShape="0">
                <a:prstClr val="black">
                  <a:alpha val="40000"/>
                </a:prstClr>
              </a:outerShdw>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 ICF Content</a:t>
              </a:r>
            </a:p>
          </p:txBody>
        </p:sp>
        <p:sp>
          <p:nvSpPr>
            <p:cNvPr id="12" name="Rectangle 11">
              <a:extLst>
                <a:ext uri="{FF2B5EF4-FFF2-40B4-BE49-F238E27FC236}">
                  <a16:creationId xmlns:a16="http://schemas.microsoft.com/office/drawing/2014/main" id="{BD87472D-4CF7-1725-03B5-4DF92E1943C6}"/>
                </a:ext>
              </a:extLst>
            </p:cNvPr>
            <p:cNvSpPr>
              <a:spLocks/>
            </p:cNvSpPr>
            <p:nvPr/>
          </p:nvSpPr>
          <p:spPr bwMode="gray">
            <a:xfrm>
              <a:off x="2086366" y="3429000"/>
              <a:ext cx="3600000" cy="1296000"/>
            </a:xfrm>
            <a:prstGeom prst="rect">
              <a:avLst/>
            </a:prstGeom>
            <a:solidFill>
              <a:schemeClr val="bg1"/>
            </a:solidFill>
            <a:ln w="12700" algn="ctr">
              <a:noFill/>
              <a:miter lim="800000"/>
              <a:headEnd/>
              <a:tailEnd/>
            </a:ln>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200" kern="0" dirty="0">
                  <a:latin typeface="+mn-lt"/>
                  <a:ea typeface="Arial Unicode MS" pitchFamily="34" charset="-128"/>
                  <a:cs typeface="Arial Unicode MS" pitchFamily="34" charset="-128"/>
                </a:rPr>
                <a:t>Application to search and consume content from </a:t>
              </a:r>
              <a:r>
                <a:rPr lang="en-US" sz="1200" kern="0" dirty="0" err="1">
                  <a:latin typeface="+mn-lt"/>
                  <a:ea typeface="Arial Unicode MS" pitchFamily="34" charset="-128"/>
                  <a:cs typeface="Arial Unicode MS" pitchFamily="34" charset="-128"/>
                </a:rPr>
                <a:t>PiLog</a:t>
              </a:r>
              <a:r>
                <a:rPr lang="en-US" sz="1200" kern="0" dirty="0">
                  <a:latin typeface="+mn-lt"/>
                  <a:ea typeface="Arial Unicode MS" pitchFamily="34" charset="-128"/>
                  <a:cs typeface="Arial Unicode MS" pitchFamily="34" charset="-128"/>
                </a:rPr>
                <a:t> ICF</a:t>
              </a:r>
            </a:p>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rPr>
                <a:t>Value Proposition</a:t>
              </a: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 enhance the content delivered over the network with best-in-class industry specific content delivered by </a:t>
              </a:r>
              <a:r>
                <a:rPr kumimoji="0" lang="en-US" sz="12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 Cover white spots due to missing trading partners in BNAC</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3" name="Straight Connector 12">
              <a:extLst>
                <a:ext uri="{FF2B5EF4-FFF2-40B4-BE49-F238E27FC236}">
                  <a16:creationId xmlns:a16="http://schemas.microsoft.com/office/drawing/2014/main" id="{A521D1D5-158F-C970-8676-DD92B0A41BAE}"/>
                </a:ext>
              </a:extLst>
            </p:cNvPr>
            <p:cNvCxnSpPr/>
            <p:nvPr/>
          </p:nvCxnSpPr>
          <p:spPr>
            <a:xfrm>
              <a:off x="2047456" y="3429000"/>
              <a:ext cx="0" cy="1296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7AB053C6-E899-0FC8-DAD9-76C0CDD224A0}"/>
              </a:ext>
            </a:extLst>
          </p:cNvPr>
          <p:cNvGrpSpPr/>
          <p:nvPr/>
        </p:nvGrpSpPr>
        <p:grpSpPr>
          <a:xfrm>
            <a:off x="6508111" y="3240000"/>
            <a:ext cx="5182366" cy="1296000"/>
            <a:chOff x="6508111" y="3429000"/>
            <a:chExt cx="5182366" cy="1296000"/>
          </a:xfrm>
        </p:grpSpPr>
        <p:sp>
          <p:nvSpPr>
            <p:cNvPr id="14" name="Rectangle: Rounded Corners 13">
              <a:extLst>
                <a:ext uri="{FF2B5EF4-FFF2-40B4-BE49-F238E27FC236}">
                  <a16:creationId xmlns:a16="http://schemas.microsoft.com/office/drawing/2014/main" id="{B75EF4F3-9E0B-F477-7DBE-07A902CF9E4A}"/>
                </a:ext>
              </a:extLst>
            </p:cNvPr>
            <p:cNvSpPr>
              <a:spLocks noChangeAspect="1"/>
            </p:cNvSpPr>
            <p:nvPr/>
          </p:nvSpPr>
          <p:spPr bwMode="gray">
            <a:xfrm>
              <a:off x="6508111" y="3429000"/>
              <a:ext cx="1296000" cy="1296000"/>
            </a:xfrm>
            <a:prstGeom prst="roundRect">
              <a:avLst/>
            </a:prstGeom>
            <a:solidFill>
              <a:schemeClr val="bg1"/>
            </a:solidFill>
            <a:ln w="12700" algn="ctr">
              <a:solidFill>
                <a:schemeClr val="tx2"/>
              </a:solidFill>
              <a:miter lim="800000"/>
              <a:headEnd/>
              <a:tailEnd/>
            </a:ln>
            <a:effectLst>
              <a:outerShdw blurRad="50800" dist="38100" dir="2700000" algn="tl" rotWithShape="0">
                <a:prstClr val="black">
                  <a:alpha val="40000"/>
                </a:prstClr>
              </a:outerShdw>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 Master Data Governance</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5" name="Rectangle 14">
              <a:extLst>
                <a:ext uri="{FF2B5EF4-FFF2-40B4-BE49-F238E27FC236}">
                  <a16:creationId xmlns:a16="http://schemas.microsoft.com/office/drawing/2014/main" id="{E2E1EF76-06B1-4C0D-C34E-AB2949506570}"/>
                </a:ext>
              </a:extLst>
            </p:cNvPr>
            <p:cNvSpPr>
              <a:spLocks/>
            </p:cNvSpPr>
            <p:nvPr/>
          </p:nvSpPr>
          <p:spPr bwMode="gray">
            <a:xfrm>
              <a:off x="8090477" y="3429000"/>
              <a:ext cx="3600000" cy="1296000"/>
            </a:xfrm>
            <a:prstGeom prst="rect">
              <a:avLst/>
            </a:prstGeom>
            <a:solidFill>
              <a:schemeClr val="bg1"/>
            </a:solidFill>
            <a:ln w="12700" algn="ctr">
              <a:noFill/>
              <a:miter lim="800000"/>
              <a:headEnd/>
              <a:tailEnd/>
            </a:ln>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200" kern="0" dirty="0">
                  <a:latin typeface="+mn-lt"/>
                  <a:ea typeface="Arial Unicode MS" pitchFamily="34" charset="-128"/>
                  <a:cs typeface="Arial Unicode MS" pitchFamily="34" charset="-128"/>
                </a:rPr>
                <a:t>Master Data Governance for technical objects integrated with BNAC</a:t>
              </a:r>
            </a:p>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rPr>
                <a:t>Value Proposition</a:t>
              </a: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 MDG layer on the top of network shared data</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6" name="Straight Connector 15">
              <a:extLst>
                <a:ext uri="{FF2B5EF4-FFF2-40B4-BE49-F238E27FC236}">
                  <a16:creationId xmlns:a16="http://schemas.microsoft.com/office/drawing/2014/main" id="{D64E3F18-4539-3000-97D2-263507ECD940}"/>
                </a:ext>
              </a:extLst>
            </p:cNvPr>
            <p:cNvCxnSpPr/>
            <p:nvPr/>
          </p:nvCxnSpPr>
          <p:spPr>
            <a:xfrm>
              <a:off x="8051567" y="3429000"/>
              <a:ext cx="0" cy="1296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7" name="Rectangle: Rounded Corners 16">
            <a:extLst>
              <a:ext uri="{FF2B5EF4-FFF2-40B4-BE49-F238E27FC236}">
                <a16:creationId xmlns:a16="http://schemas.microsoft.com/office/drawing/2014/main" id="{ED0999A9-3575-E79C-F9BD-8C091AC393F7}"/>
              </a:ext>
            </a:extLst>
          </p:cNvPr>
          <p:cNvSpPr>
            <a:spLocks noChangeAspect="1"/>
          </p:cNvSpPr>
          <p:nvPr/>
        </p:nvSpPr>
        <p:spPr bwMode="gray">
          <a:xfrm>
            <a:off x="504000" y="4860000"/>
            <a:ext cx="1296000" cy="1296000"/>
          </a:xfrm>
          <a:prstGeom prst="roundRect">
            <a:avLst/>
          </a:prstGeom>
          <a:solidFill>
            <a:schemeClr val="bg1"/>
          </a:solidFill>
          <a:ln w="12700" algn="ctr">
            <a:solidFill>
              <a:schemeClr val="tx2"/>
            </a:solidFill>
            <a:miter lim="800000"/>
            <a:headEnd/>
            <a:tailEnd/>
          </a:ln>
          <a:effectLst>
            <a:outerShdw blurRad="50800" dist="38100" dir="2700000" algn="tl" rotWithShape="0">
              <a:prstClr val="black">
                <a:alpha val="40000"/>
              </a:prstClr>
            </a:outerShdw>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KSA Registry Uploader</a:t>
            </a:r>
          </a:p>
        </p:txBody>
      </p:sp>
      <p:sp>
        <p:nvSpPr>
          <p:cNvPr id="18" name="Rectangle 17">
            <a:extLst>
              <a:ext uri="{FF2B5EF4-FFF2-40B4-BE49-F238E27FC236}">
                <a16:creationId xmlns:a16="http://schemas.microsoft.com/office/drawing/2014/main" id="{4F72E5B4-5ADD-5CCD-72E5-CDB9955792AA}"/>
              </a:ext>
            </a:extLst>
          </p:cNvPr>
          <p:cNvSpPr>
            <a:spLocks/>
          </p:cNvSpPr>
          <p:nvPr/>
        </p:nvSpPr>
        <p:spPr bwMode="gray">
          <a:xfrm>
            <a:off x="2086366" y="4860000"/>
            <a:ext cx="3600000" cy="1296000"/>
          </a:xfrm>
          <a:prstGeom prst="rect">
            <a:avLst/>
          </a:prstGeom>
          <a:solidFill>
            <a:schemeClr val="bg1"/>
          </a:solidFill>
          <a:ln w="12700" algn="ctr">
            <a:noFill/>
            <a:miter lim="800000"/>
            <a:headEnd/>
            <a:tailEnd/>
          </a:ln>
          <a:effectLst/>
        </p:spPr>
        <p:txBody>
          <a:bodyPr lIns="90000" tIns="72000" rIns="90000" bIns="72000" rtlCol="0" anchor="t"/>
          <a:lstStyle/>
          <a:p>
            <a:pPr marR="0" defTabSz="914400" eaLnBrk="1" fontAlgn="base" latinLnBrk="0" hangingPunct="1">
              <a:lnSpc>
                <a:spcPct val="100000"/>
              </a:lnSpc>
              <a:spcBef>
                <a:spcPct val="50000"/>
              </a:spcBef>
              <a:spcAft>
                <a:spcPct val="0"/>
              </a:spcAft>
              <a:buClr>
                <a:srgbClr val="F0AB00"/>
              </a:buClr>
              <a:buSzPct val="80000"/>
              <a:tabLst/>
            </a:pPr>
            <a:r>
              <a:rPr lang="en-US" sz="1200" kern="0" dirty="0">
                <a:latin typeface="+mn-lt"/>
                <a:ea typeface="Arial Unicode MS" pitchFamily="34" charset="-128"/>
                <a:cs typeface="Arial Unicode MS" pitchFamily="34" charset="-128"/>
              </a:rPr>
              <a:t>Application to onboard products and spare parts into the KSA product register</a:t>
            </a:r>
          </a:p>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solidFill>
                  <a:schemeClr val="tx2"/>
                </a:solidFill>
                <a:effectLst/>
                <a:uLnTx/>
                <a:uFillTx/>
                <a:latin typeface="+mn-lt"/>
                <a:ea typeface="Arial Unicode MS" pitchFamily="34" charset="-128"/>
                <a:cs typeface="Arial Unicode MS" pitchFamily="34" charset="-128"/>
              </a:rPr>
              <a:t>Value Proposition</a:t>
            </a: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 register your products into the KSA product register out of BNAC model content</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9" name="Straight Connector 18">
            <a:extLst>
              <a:ext uri="{FF2B5EF4-FFF2-40B4-BE49-F238E27FC236}">
                <a16:creationId xmlns:a16="http://schemas.microsoft.com/office/drawing/2014/main" id="{DEAA7E48-4CED-D2B4-6CB1-2401E6FF5468}"/>
              </a:ext>
            </a:extLst>
          </p:cNvPr>
          <p:cNvCxnSpPr/>
          <p:nvPr/>
        </p:nvCxnSpPr>
        <p:spPr>
          <a:xfrm>
            <a:off x="2047456" y="4860000"/>
            <a:ext cx="0" cy="1296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5636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A3715-224B-6A86-515F-746A39D3D05C}"/>
              </a:ext>
            </a:extLst>
          </p:cNvPr>
          <p:cNvSpPr>
            <a:spLocks noGrp="1"/>
          </p:cNvSpPr>
          <p:nvPr>
            <p:ph type="title"/>
          </p:nvPr>
        </p:nvSpPr>
        <p:spPr/>
        <p:txBody>
          <a:bodyPr/>
          <a:lstStyle/>
          <a:p>
            <a:r>
              <a:rPr lang="en-US" dirty="0" err="1"/>
              <a:t>PiLog</a:t>
            </a:r>
            <a:r>
              <a:rPr lang="en-US" dirty="0"/>
              <a:t> Applications</a:t>
            </a:r>
            <a:endParaRPr lang="en-DE" dirty="0"/>
          </a:p>
        </p:txBody>
      </p:sp>
      <p:graphicFrame>
        <p:nvGraphicFramePr>
          <p:cNvPr id="3" name="Table 2">
            <a:extLst>
              <a:ext uri="{FF2B5EF4-FFF2-40B4-BE49-F238E27FC236}">
                <a16:creationId xmlns:a16="http://schemas.microsoft.com/office/drawing/2014/main" id="{B7B95596-3B72-9110-C695-109BCCA5124E}"/>
              </a:ext>
            </a:extLst>
          </p:cNvPr>
          <p:cNvGraphicFramePr>
            <a:graphicFrameLocks noGrp="1"/>
          </p:cNvGraphicFramePr>
          <p:nvPr>
            <p:extLst>
              <p:ext uri="{D42A27DB-BD31-4B8C-83A1-F6EECF244321}">
                <p14:modId xmlns:p14="http://schemas.microsoft.com/office/powerpoint/2010/main" val="5335771"/>
              </p:ext>
            </p:extLst>
          </p:nvPr>
        </p:nvGraphicFramePr>
        <p:xfrm>
          <a:off x="504000" y="1440000"/>
          <a:ext cx="11186475" cy="4826000"/>
        </p:xfrm>
        <a:graphic>
          <a:graphicData uri="http://schemas.openxmlformats.org/drawingml/2006/table">
            <a:tbl>
              <a:tblPr firstRow="1" bandRow="1">
                <a:tableStyleId>{284E427A-3D55-4303-BF80-6455036E1DE7}</a:tableStyleId>
              </a:tblPr>
              <a:tblGrid>
                <a:gridCol w="2237295">
                  <a:extLst>
                    <a:ext uri="{9D8B030D-6E8A-4147-A177-3AD203B41FA5}">
                      <a16:colId xmlns:a16="http://schemas.microsoft.com/office/drawing/2014/main" val="3848719256"/>
                    </a:ext>
                  </a:extLst>
                </a:gridCol>
                <a:gridCol w="2237295">
                  <a:extLst>
                    <a:ext uri="{9D8B030D-6E8A-4147-A177-3AD203B41FA5}">
                      <a16:colId xmlns:a16="http://schemas.microsoft.com/office/drawing/2014/main" val="2042878349"/>
                    </a:ext>
                  </a:extLst>
                </a:gridCol>
                <a:gridCol w="2237295">
                  <a:extLst>
                    <a:ext uri="{9D8B030D-6E8A-4147-A177-3AD203B41FA5}">
                      <a16:colId xmlns:a16="http://schemas.microsoft.com/office/drawing/2014/main" val="3403484835"/>
                    </a:ext>
                  </a:extLst>
                </a:gridCol>
                <a:gridCol w="2237295">
                  <a:extLst>
                    <a:ext uri="{9D8B030D-6E8A-4147-A177-3AD203B41FA5}">
                      <a16:colId xmlns:a16="http://schemas.microsoft.com/office/drawing/2014/main" val="1614195660"/>
                    </a:ext>
                  </a:extLst>
                </a:gridCol>
                <a:gridCol w="2237295">
                  <a:extLst>
                    <a:ext uri="{9D8B030D-6E8A-4147-A177-3AD203B41FA5}">
                      <a16:colId xmlns:a16="http://schemas.microsoft.com/office/drawing/2014/main" val="665812286"/>
                    </a:ext>
                  </a:extLst>
                </a:gridCol>
              </a:tblGrid>
              <a:tr h="370840">
                <a:tc>
                  <a:txBody>
                    <a:bodyPr/>
                    <a:lstStyle/>
                    <a:p>
                      <a:r>
                        <a:rPr lang="en-US" sz="1400" dirty="0"/>
                        <a:t>Application</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dirty="0"/>
                        <a:t>Target Trading Partners</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dirty="0"/>
                        <a:t>Priority</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dirty="0"/>
                        <a:t>Fast Adopters</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US" sz="1400" dirty="0"/>
                        <a:t>SAP position</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490842406"/>
                  </a:ext>
                </a:extLst>
              </a:tr>
              <a:tr h="370840">
                <a:tc>
                  <a:txBody>
                    <a:bodyPr/>
                    <a:lstStyle/>
                    <a:p>
                      <a:r>
                        <a:rPr lang="en-US" sz="1400" b="1" dirty="0"/>
                        <a:t>Classification Mapping</a:t>
                      </a:r>
                      <a:endParaRPr lang="en-DE" sz="1400" b="1"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All</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Very high</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Bayer, Saudi Aramco, Wacker </a:t>
                      </a:r>
                      <a:r>
                        <a:rPr lang="en-US" sz="1400" dirty="0" err="1"/>
                        <a:t>Chemie</a:t>
                      </a:r>
                      <a:r>
                        <a:rPr lang="en-US" sz="1400" dirty="0"/>
                        <a:t>, DDCC, ?</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This will not be implemented as part of standard BNAC</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9570130"/>
                  </a:ext>
                </a:extLst>
              </a:tr>
              <a:tr h="370840">
                <a:tc>
                  <a:txBody>
                    <a:bodyPr/>
                    <a:lstStyle/>
                    <a:p>
                      <a:r>
                        <a:rPr lang="en-US" sz="1400" b="1" dirty="0"/>
                        <a:t>Content Creation</a:t>
                      </a:r>
                      <a:endParaRPr lang="en-DE" sz="1400" b="1"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Component Suppliers, OEMs, EPCs</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High</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SAP might implement some capabilities in this segment (i.e. web crawler)</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6299529"/>
                  </a:ext>
                </a:extLst>
              </a:tr>
              <a:tr h="370840">
                <a:tc>
                  <a:txBody>
                    <a:bodyPr/>
                    <a:lstStyle/>
                    <a:p>
                      <a:r>
                        <a:rPr lang="en-US" sz="1400" b="1" dirty="0" err="1"/>
                        <a:t>PiLog</a:t>
                      </a:r>
                      <a:r>
                        <a:rPr lang="en-US" sz="1400" b="1" dirty="0"/>
                        <a:t> ICF Content</a:t>
                      </a:r>
                      <a:endParaRPr lang="en-DE" sz="1400" b="1"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Operators, EPCs</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Very High</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Saudi Aramco, BMW (?), ?</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SAP might provide additional industry standards as part of standard BNAC licensing</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13396896"/>
                  </a:ext>
                </a:extLst>
              </a:tr>
              <a:tr h="370840">
                <a:tc>
                  <a:txBody>
                    <a:bodyPr/>
                    <a:lstStyle/>
                    <a:p>
                      <a:r>
                        <a:rPr lang="en-US" sz="1400" b="1" dirty="0" err="1"/>
                        <a:t>PiLoG</a:t>
                      </a:r>
                      <a:r>
                        <a:rPr lang="en-US" sz="1400" b="1" dirty="0"/>
                        <a:t> Master Data Governance</a:t>
                      </a:r>
                      <a:endParaRPr lang="en-DE" sz="1400" b="1"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Operators</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Under discussion</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6962351"/>
                  </a:ext>
                </a:extLst>
              </a:tr>
              <a:tr h="370840">
                <a:tc>
                  <a:txBody>
                    <a:bodyPr/>
                    <a:lstStyle/>
                    <a:p>
                      <a:r>
                        <a:rPr lang="en-US" sz="1400" b="1" dirty="0"/>
                        <a:t>KSA Registry Uploader</a:t>
                      </a:r>
                      <a:endParaRPr lang="en-DE" sz="1400" b="1"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a:t>OEM, Component Suppliers</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dirty="0"/>
                        <a:t>SAP will focus on the EU DPP Uploader. If, this has overlap with the KSA Registry, SAP might offer this as well</a:t>
                      </a:r>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35392185"/>
                  </a:ext>
                </a:extLst>
              </a:tr>
              <a:tr h="370840">
                <a:tc>
                  <a:txBody>
                    <a:bodyPr/>
                    <a:lstStyle/>
                    <a:p>
                      <a:endParaRPr lang="en-DE" sz="140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DE" sz="140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DE" sz="1400" dirty="0"/>
                    </a:p>
                  </a:txBody>
                  <a:tcP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79611102"/>
                  </a:ext>
                </a:extLst>
              </a:tr>
            </a:tbl>
          </a:graphicData>
        </a:graphic>
      </p:graphicFrame>
    </p:spTree>
    <p:extLst>
      <p:ext uri="{BB962C8B-B14F-4D97-AF65-F5344CB8AC3E}">
        <p14:creationId xmlns:p14="http://schemas.microsoft.com/office/powerpoint/2010/main" val="3798195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8332F-9D04-A45B-C4F3-3FF345CF82A5}"/>
              </a:ext>
            </a:extLst>
          </p:cNvPr>
          <p:cNvSpPr>
            <a:spLocks noGrp="1"/>
          </p:cNvSpPr>
          <p:nvPr>
            <p:ph type="ctrTitle"/>
          </p:nvPr>
        </p:nvSpPr>
        <p:spPr/>
        <p:txBody>
          <a:bodyPr/>
          <a:lstStyle/>
          <a:p>
            <a:r>
              <a:rPr lang="en-US" dirty="0"/>
              <a:t>Appendix</a:t>
            </a:r>
            <a:endParaRPr lang="en-DE" dirty="0"/>
          </a:p>
        </p:txBody>
      </p:sp>
    </p:spTree>
    <p:extLst>
      <p:ext uri="{BB962C8B-B14F-4D97-AF65-F5344CB8AC3E}">
        <p14:creationId xmlns:p14="http://schemas.microsoft.com/office/powerpoint/2010/main" val="1177842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919DDE2E-9581-C80D-B416-6C77D19A6AAF}"/>
              </a:ext>
            </a:extLst>
          </p:cNvPr>
          <p:cNvGrpSpPr/>
          <p:nvPr/>
        </p:nvGrpSpPr>
        <p:grpSpPr>
          <a:xfrm>
            <a:off x="504000" y="4356000"/>
            <a:ext cx="11088000" cy="936000"/>
            <a:chOff x="504000" y="3492000"/>
            <a:chExt cx="11088000" cy="936000"/>
          </a:xfrm>
          <a:solidFill>
            <a:schemeClr val="accent6">
              <a:lumMod val="20000"/>
              <a:lumOff val="80000"/>
            </a:schemeClr>
          </a:solidFill>
        </p:grpSpPr>
        <p:sp>
          <p:nvSpPr>
            <p:cNvPr id="34" name="Rectangle 33">
              <a:extLst>
                <a:ext uri="{FF2B5EF4-FFF2-40B4-BE49-F238E27FC236}">
                  <a16:creationId xmlns:a16="http://schemas.microsoft.com/office/drawing/2014/main" id="{C130DB6A-EF86-9678-50D0-A1CE13C0964D}"/>
                </a:ext>
              </a:extLst>
            </p:cNvPr>
            <p:cNvSpPr/>
            <p:nvPr/>
          </p:nvSpPr>
          <p:spPr bwMode="gray">
            <a:xfrm>
              <a:off x="504000" y="3492000"/>
              <a:ext cx="11088000" cy="936000"/>
            </a:xfrm>
            <a:prstGeom prst="rect">
              <a:avLst/>
            </a:prstGeom>
            <a:grp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5" name="Rectangle 34">
              <a:extLst>
                <a:ext uri="{FF2B5EF4-FFF2-40B4-BE49-F238E27FC236}">
                  <a16:creationId xmlns:a16="http://schemas.microsoft.com/office/drawing/2014/main" id="{DFB82F2C-D513-A4D8-389D-230519F441C7}"/>
                </a:ext>
              </a:extLst>
            </p:cNvPr>
            <p:cNvSpPr/>
            <p:nvPr/>
          </p:nvSpPr>
          <p:spPr bwMode="gray">
            <a:xfrm>
              <a:off x="504000" y="3492000"/>
              <a:ext cx="360000" cy="936000"/>
            </a:xfrm>
            <a:prstGeom prst="rect">
              <a:avLst/>
            </a:prstGeom>
            <a:grp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BNAC Manufacturer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6" name="Rectangle: Rounded Corners 35">
              <a:extLst>
                <a:ext uri="{FF2B5EF4-FFF2-40B4-BE49-F238E27FC236}">
                  <a16:creationId xmlns:a16="http://schemas.microsoft.com/office/drawing/2014/main" id="{02F57BE4-286D-DD26-0AFA-14C51F560518}"/>
                </a:ext>
              </a:extLst>
            </p:cNvPr>
            <p:cNvSpPr/>
            <p:nvPr/>
          </p:nvSpPr>
          <p:spPr bwMode="gray">
            <a:xfrm>
              <a:off x="5256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 request from Operator</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7" name="Rectangle: Rounded Corners 36">
              <a:extLst>
                <a:ext uri="{FF2B5EF4-FFF2-40B4-BE49-F238E27FC236}">
                  <a16:creationId xmlns:a16="http://schemas.microsoft.com/office/drawing/2014/main" id="{4F922A9C-2C39-B0EE-B0B9-3CB137FAB470}"/>
                </a:ext>
              </a:extLst>
            </p:cNvPr>
            <p:cNvSpPr/>
            <p:nvPr/>
          </p:nvSpPr>
          <p:spPr bwMode="gray">
            <a:xfrm>
              <a:off x="6408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Improve technical objects and dependent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8" name="Straight Arrow Connector 37">
              <a:extLst>
                <a:ext uri="{FF2B5EF4-FFF2-40B4-BE49-F238E27FC236}">
                  <a16:creationId xmlns:a16="http://schemas.microsoft.com/office/drawing/2014/main" id="{2D01EDF9-1F69-F757-0DDF-4355BE0D0A77}"/>
                </a:ext>
              </a:extLst>
            </p:cNvPr>
            <p:cNvCxnSpPr>
              <a:cxnSpLocks/>
              <a:stCxn id="36" idx="3"/>
              <a:endCxn id="37" idx="1"/>
            </p:cNvCxnSpPr>
            <p:nvPr/>
          </p:nvCxnSpPr>
          <p:spPr>
            <a:xfrm>
              <a:off x="6120000" y="3960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7F7A6A14-F490-0335-CEA5-A569798EECBB}"/>
                </a:ext>
              </a:extLst>
            </p:cNvPr>
            <p:cNvSpPr/>
            <p:nvPr/>
          </p:nvSpPr>
          <p:spPr bwMode="gray">
            <a:xfrm>
              <a:off x="7560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Share improvements to Operator</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45" name="Straight Arrow Connector 44">
              <a:extLst>
                <a:ext uri="{FF2B5EF4-FFF2-40B4-BE49-F238E27FC236}">
                  <a16:creationId xmlns:a16="http://schemas.microsoft.com/office/drawing/2014/main" id="{FECC114E-11D0-7D52-8DD3-E1540E6F4788}"/>
                </a:ext>
              </a:extLst>
            </p:cNvPr>
            <p:cNvCxnSpPr>
              <a:stCxn id="37" idx="3"/>
              <a:endCxn id="41" idx="1"/>
            </p:cNvCxnSpPr>
            <p:nvPr/>
          </p:nvCxnSpPr>
          <p:spPr>
            <a:xfrm>
              <a:off x="7272000" y="3960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5" name="Rectangle 4">
            <a:extLst>
              <a:ext uri="{FF2B5EF4-FFF2-40B4-BE49-F238E27FC236}">
                <a16:creationId xmlns:a16="http://schemas.microsoft.com/office/drawing/2014/main" id="{72C849BA-F112-F36E-77AE-23AA1D5AF284}"/>
              </a:ext>
            </a:extLst>
          </p:cNvPr>
          <p:cNvSpPr/>
          <p:nvPr/>
        </p:nvSpPr>
        <p:spPr bwMode="gray">
          <a:xfrm>
            <a:off x="504000" y="1440000"/>
            <a:ext cx="11088000" cy="1116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4" name="Title"/>
          <p:cNvSpPr>
            <a:spLocks noGrp="1"/>
          </p:cNvSpPr>
          <p:nvPr>
            <p:ph type="title"/>
          </p:nvPr>
        </p:nvSpPr>
        <p:spPr bwMode="gray">
          <a:xfrm>
            <a:off x="504001" y="504000"/>
            <a:ext cx="11186476" cy="677108"/>
          </a:xfrm>
          <a:noFill/>
        </p:spPr>
        <p:txBody>
          <a:bodyPr/>
          <a:lstStyle/>
          <a:p>
            <a:r>
              <a:rPr lang="en-US" dirty="0"/>
              <a:t>SAP BNAC – </a:t>
            </a:r>
            <a:r>
              <a:rPr lang="en-US" dirty="0" err="1"/>
              <a:t>PiLog</a:t>
            </a:r>
            <a:r>
              <a:rPr lang="en-US" dirty="0"/>
              <a:t> ICF Integration</a:t>
            </a:r>
            <a:br>
              <a:rPr lang="en-US" dirty="0"/>
            </a:br>
            <a:r>
              <a:rPr lang="en-US" sz="2000" dirty="0">
                <a:solidFill>
                  <a:schemeClr val="tx2"/>
                </a:solidFill>
              </a:rPr>
              <a:t>High-level flow</a:t>
            </a:r>
            <a:endParaRPr lang="en-US" dirty="0">
              <a:solidFill>
                <a:schemeClr val="tx2"/>
              </a:solidFill>
            </a:endParaRPr>
          </a:p>
        </p:txBody>
      </p:sp>
      <p:sp>
        <p:nvSpPr>
          <p:cNvPr id="6" name="Rectangle 5">
            <a:extLst>
              <a:ext uri="{FF2B5EF4-FFF2-40B4-BE49-F238E27FC236}">
                <a16:creationId xmlns:a16="http://schemas.microsoft.com/office/drawing/2014/main" id="{45269A02-4787-5B77-C319-9A62284EE096}"/>
              </a:ext>
            </a:extLst>
          </p:cNvPr>
          <p:cNvSpPr/>
          <p:nvPr/>
        </p:nvSpPr>
        <p:spPr bwMode="gray">
          <a:xfrm>
            <a:off x="504000" y="2555999"/>
            <a:ext cx="11088000" cy="1800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CB8C16A7-47AE-4617-3375-CA7DFB5B3DA6}"/>
              </a:ext>
            </a:extLst>
          </p:cNvPr>
          <p:cNvSpPr/>
          <p:nvPr/>
        </p:nvSpPr>
        <p:spPr bwMode="gray">
          <a:xfrm>
            <a:off x="504000" y="5292000"/>
            <a:ext cx="11088000" cy="936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 name="Rectangle 7">
            <a:extLst>
              <a:ext uri="{FF2B5EF4-FFF2-40B4-BE49-F238E27FC236}">
                <a16:creationId xmlns:a16="http://schemas.microsoft.com/office/drawing/2014/main" id="{AB64F391-AE9E-77B4-39F6-A82F33B42E78}"/>
              </a:ext>
            </a:extLst>
          </p:cNvPr>
          <p:cNvSpPr/>
          <p:nvPr/>
        </p:nvSpPr>
        <p:spPr bwMode="gray">
          <a:xfrm>
            <a:off x="504000" y="1440000"/>
            <a:ext cx="360000" cy="1116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ERP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0" name="Rectangle 9">
            <a:extLst>
              <a:ext uri="{FF2B5EF4-FFF2-40B4-BE49-F238E27FC236}">
                <a16:creationId xmlns:a16="http://schemas.microsoft.com/office/drawing/2014/main" id="{68E72CC6-FA44-E498-58B4-3F2A54AAF70E}"/>
              </a:ext>
            </a:extLst>
          </p:cNvPr>
          <p:cNvSpPr/>
          <p:nvPr/>
        </p:nvSpPr>
        <p:spPr bwMode="gray">
          <a:xfrm>
            <a:off x="504000" y="2555999"/>
            <a:ext cx="360000" cy="1800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BNAC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1" name="Rectangle 10">
            <a:extLst>
              <a:ext uri="{FF2B5EF4-FFF2-40B4-BE49-F238E27FC236}">
                <a16:creationId xmlns:a16="http://schemas.microsoft.com/office/drawing/2014/main" id="{4AC7DF2A-84E0-613A-2ABB-A3DEBE847524}"/>
              </a:ext>
            </a:extLst>
          </p:cNvPr>
          <p:cNvSpPr/>
          <p:nvPr/>
        </p:nvSpPr>
        <p:spPr bwMode="gray">
          <a:xfrm>
            <a:off x="504000" y="5292000"/>
            <a:ext cx="360000" cy="936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 ICF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grpSp>
        <p:nvGrpSpPr>
          <p:cNvPr id="32" name="Group 31">
            <a:extLst>
              <a:ext uri="{FF2B5EF4-FFF2-40B4-BE49-F238E27FC236}">
                <a16:creationId xmlns:a16="http://schemas.microsoft.com/office/drawing/2014/main" id="{66AD0DA5-4548-08B8-8E52-FA7C1DD849B9}"/>
              </a:ext>
            </a:extLst>
          </p:cNvPr>
          <p:cNvGrpSpPr/>
          <p:nvPr/>
        </p:nvGrpSpPr>
        <p:grpSpPr>
          <a:xfrm>
            <a:off x="1080000" y="1800000"/>
            <a:ext cx="3888000" cy="576000"/>
            <a:chOff x="1080000" y="1908000"/>
            <a:chExt cx="3888000" cy="576000"/>
          </a:xfrm>
          <a:solidFill>
            <a:schemeClr val="bg1"/>
          </a:solidFill>
        </p:grpSpPr>
        <p:sp>
          <p:nvSpPr>
            <p:cNvPr id="12" name="Rectangle: Rounded Corners 11">
              <a:extLst>
                <a:ext uri="{FF2B5EF4-FFF2-40B4-BE49-F238E27FC236}">
                  <a16:creationId xmlns:a16="http://schemas.microsoft.com/office/drawing/2014/main" id="{D3D3FCD2-31B2-8C92-FAC3-D5D5DCAE4B42}"/>
                </a:ext>
              </a:extLst>
            </p:cNvPr>
            <p:cNvSpPr/>
            <p:nvPr/>
          </p:nvSpPr>
          <p:spPr bwMode="gray">
            <a:xfrm>
              <a:off x="1800000" y="1908000"/>
              <a:ext cx="864000" cy="576000"/>
            </a:xfrm>
            <a:prstGeom prst="roundRect">
              <a:avLst/>
            </a:prstGeom>
            <a:grpFill/>
            <a:ln w="254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Check technical objects and dependent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3" name="Oval 12">
              <a:extLst>
                <a:ext uri="{FF2B5EF4-FFF2-40B4-BE49-F238E27FC236}">
                  <a16:creationId xmlns:a16="http://schemas.microsoft.com/office/drawing/2014/main" id="{7FE09339-111B-7113-89B7-D865A7ABFE4B}"/>
                </a:ext>
              </a:extLst>
            </p:cNvPr>
            <p:cNvSpPr/>
            <p:nvPr/>
          </p:nvSpPr>
          <p:spPr bwMode="gray">
            <a:xfrm>
              <a:off x="1080000" y="1980001"/>
              <a:ext cx="432000" cy="432000"/>
            </a:xfrm>
            <a:prstGeom prst="ellipse">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Start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5" name="Straight Arrow Connector 14">
              <a:extLst>
                <a:ext uri="{FF2B5EF4-FFF2-40B4-BE49-F238E27FC236}">
                  <a16:creationId xmlns:a16="http://schemas.microsoft.com/office/drawing/2014/main" id="{3629BCEA-5999-5F21-C6A7-F517224EA9BC}"/>
                </a:ext>
              </a:extLst>
            </p:cNvPr>
            <p:cNvCxnSpPr>
              <a:stCxn id="13" idx="6"/>
              <a:endCxn id="12" idx="1"/>
            </p:cNvCxnSpPr>
            <p:nvPr/>
          </p:nvCxnSpPr>
          <p:spPr>
            <a:xfrm flipV="1">
              <a:off x="1512000" y="2196000"/>
              <a:ext cx="288000" cy="1"/>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Flowchart: Decision 15">
              <a:extLst>
                <a:ext uri="{FF2B5EF4-FFF2-40B4-BE49-F238E27FC236}">
                  <a16:creationId xmlns:a16="http://schemas.microsoft.com/office/drawing/2014/main" id="{6284742F-6CA0-1CA1-EE57-8064528AFD59}"/>
                </a:ext>
              </a:extLst>
            </p:cNvPr>
            <p:cNvSpPr>
              <a:spLocks/>
            </p:cNvSpPr>
            <p:nvPr/>
          </p:nvSpPr>
          <p:spPr bwMode="gray">
            <a:xfrm>
              <a:off x="2952000" y="1908000"/>
              <a:ext cx="864000" cy="576000"/>
            </a:xfrm>
            <a:prstGeom prst="flowChartDecision">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Issues with data quality?</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7" name="Straight Arrow Connector 16">
              <a:extLst>
                <a:ext uri="{FF2B5EF4-FFF2-40B4-BE49-F238E27FC236}">
                  <a16:creationId xmlns:a16="http://schemas.microsoft.com/office/drawing/2014/main" id="{8546BF96-EA1E-BB2A-8935-1BDC23AAD16F}"/>
                </a:ext>
              </a:extLst>
            </p:cNvPr>
            <p:cNvCxnSpPr>
              <a:cxnSpLocks/>
              <a:stCxn id="12" idx="3"/>
              <a:endCxn id="16" idx="1"/>
            </p:cNvCxnSpPr>
            <p:nvPr/>
          </p:nvCxnSpPr>
          <p:spPr>
            <a:xfrm>
              <a:off x="2664000" y="219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2A1C897-252F-51C1-C74D-162F6CD167A8}"/>
                </a:ext>
              </a:extLst>
            </p:cNvPr>
            <p:cNvSpPr/>
            <p:nvPr/>
          </p:nvSpPr>
          <p:spPr bwMode="gray">
            <a:xfrm>
              <a:off x="4104000" y="1908000"/>
              <a:ext cx="864000" cy="576000"/>
            </a:xfrm>
            <a:prstGeom prst="roundRect">
              <a:avLst/>
            </a:prstGeom>
            <a:grp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Replicate technical </a:t>
              </a:r>
              <a:r>
                <a:rPr lang="en-US" sz="800" kern="0" dirty="0">
                  <a:latin typeface="+mn-lt"/>
                  <a:ea typeface="Arial Unicode MS" pitchFamily="34" charset="-128"/>
                  <a:cs typeface="Arial Unicode MS" pitchFamily="34" charset="-128"/>
                </a:rPr>
                <a:t>data objects to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2" name="Straight Arrow Connector 21">
              <a:extLst>
                <a:ext uri="{FF2B5EF4-FFF2-40B4-BE49-F238E27FC236}">
                  <a16:creationId xmlns:a16="http://schemas.microsoft.com/office/drawing/2014/main" id="{37E7ED3B-8D51-A382-0D6C-09C968077671}"/>
                </a:ext>
              </a:extLst>
            </p:cNvPr>
            <p:cNvCxnSpPr>
              <a:stCxn id="16" idx="3"/>
              <a:endCxn id="20" idx="1"/>
            </p:cNvCxnSpPr>
            <p:nvPr/>
          </p:nvCxnSpPr>
          <p:spPr>
            <a:xfrm>
              <a:off x="3816000" y="219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27" name="Straight Arrow Connector 26">
            <a:extLst>
              <a:ext uri="{FF2B5EF4-FFF2-40B4-BE49-F238E27FC236}">
                <a16:creationId xmlns:a16="http://schemas.microsoft.com/office/drawing/2014/main" id="{53481B41-D53E-0D74-E3B5-C875CB09D736}"/>
              </a:ext>
            </a:extLst>
          </p:cNvPr>
          <p:cNvCxnSpPr>
            <a:stCxn id="20" idx="2"/>
            <a:endCxn id="25" idx="0"/>
          </p:cNvCxnSpPr>
          <p:nvPr/>
        </p:nvCxnSpPr>
        <p:spPr>
          <a:xfrm>
            <a:off x="4536000" y="2376000"/>
            <a:ext cx="0" cy="3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F025BC76-A74E-3846-ABB2-EEB863039877}"/>
              </a:ext>
            </a:extLst>
          </p:cNvPr>
          <p:cNvGrpSpPr/>
          <p:nvPr/>
        </p:nvGrpSpPr>
        <p:grpSpPr>
          <a:xfrm>
            <a:off x="4104000" y="2736000"/>
            <a:ext cx="2016000" cy="576000"/>
            <a:chOff x="4104000" y="3348000"/>
            <a:chExt cx="2016000" cy="576000"/>
          </a:xfrm>
          <a:solidFill>
            <a:schemeClr val="bg1"/>
          </a:solidFill>
        </p:grpSpPr>
        <p:sp>
          <p:nvSpPr>
            <p:cNvPr id="23" name="Rectangle: Rounded Corners 22">
              <a:extLst>
                <a:ext uri="{FF2B5EF4-FFF2-40B4-BE49-F238E27FC236}">
                  <a16:creationId xmlns:a16="http://schemas.microsoft.com/office/drawing/2014/main" id="{29C82537-6136-C62C-7891-40281803ECED}"/>
                </a:ext>
              </a:extLst>
            </p:cNvPr>
            <p:cNvSpPr/>
            <p:nvPr/>
          </p:nvSpPr>
          <p:spPr bwMode="gray">
            <a:xfrm>
              <a:off x="5256000" y="3348000"/>
              <a:ext cx="864000" cy="576000"/>
            </a:xfrm>
            <a:prstGeom prst="roundRect">
              <a:avLst/>
            </a:prstGeom>
            <a:grp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Send improvement request to OEM</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5" name="Flowchart: Decision 24">
              <a:extLst>
                <a:ext uri="{FF2B5EF4-FFF2-40B4-BE49-F238E27FC236}">
                  <a16:creationId xmlns:a16="http://schemas.microsoft.com/office/drawing/2014/main" id="{DA8F1FDC-0E2B-3CE0-34CF-A41E30D5EACF}"/>
                </a:ext>
              </a:extLst>
            </p:cNvPr>
            <p:cNvSpPr>
              <a:spLocks/>
            </p:cNvSpPr>
            <p:nvPr/>
          </p:nvSpPr>
          <p:spPr bwMode="gray">
            <a:xfrm>
              <a:off x="4104000" y="3348000"/>
              <a:ext cx="864000" cy="576000"/>
            </a:xfrm>
            <a:prstGeom prst="flowChartDecision">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 OEM in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8" name="Straight Arrow Connector 27">
              <a:extLst>
                <a:ext uri="{FF2B5EF4-FFF2-40B4-BE49-F238E27FC236}">
                  <a16:creationId xmlns:a16="http://schemas.microsoft.com/office/drawing/2014/main" id="{A061FDF0-2D41-DED1-2826-947062AE372C}"/>
                </a:ext>
              </a:extLst>
            </p:cNvPr>
            <p:cNvCxnSpPr>
              <a:cxnSpLocks/>
              <a:stCxn id="25" idx="3"/>
              <a:endCxn id="23" idx="1"/>
            </p:cNvCxnSpPr>
            <p:nvPr/>
          </p:nvCxnSpPr>
          <p:spPr>
            <a:xfrm>
              <a:off x="4968000" y="363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43" name="Straight Arrow Connector 42">
            <a:extLst>
              <a:ext uri="{FF2B5EF4-FFF2-40B4-BE49-F238E27FC236}">
                <a16:creationId xmlns:a16="http://schemas.microsoft.com/office/drawing/2014/main" id="{50F7FF99-860C-74D2-CB45-E78575664418}"/>
              </a:ext>
            </a:extLst>
          </p:cNvPr>
          <p:cNvCxnSpPr>
            <a:stCxn id="23" idx="2"/>
            <a:endCxn id="36" idx="0"/>
          </p:cNvCxnSpPr>
          <p:nvPr/>
        </p:nvCxnSpPr>
        <p:spPr>
          <a:xfrm>
            <a:off x="5688000" y="3312000"/>
            <a:ext cx="0" cy="1224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Rectangle: Rounded Corners 45">
            <a:extLst>
              <a:ext uri="{FF2B5EF4-FFF2-40B4-BE49-F238E27FC236}">
                <a16:creationId xmlns:a16="http://schemas.microsoft.com/office/drawing/2014/main" id="{39F5DFB1-4CDE-D867-F68D-3046A3B3B807}"/>
              </a:ext>
            </a:extLst>
          </p:cNvPr>
          <p:cNvSpPr/>
          <p:nvPr/>
        </p:nvSpPr>
        <p:spPr bwMode="gray">
          <a:xfrm>
            <a:off x="7560000" y="2737534"/>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improvements from OEM</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7" name="Flowchart: Decision 46">
            <a:extLst>
              <a:ext uri="{FF2B5EF4-FFF2-40B4-BE49-F238E27FC236}">
                <a16:creationId xmlns:a16="http://schemas.microsoft.com/office/drawing/2014/main" id="{9D06724D-E6F0-07DC-FEB1-2B30E0AFEE65}"/>
              </a:ext>
            </a:extLst>
          </p:cNvPr>
          <p:cNvSpPr>
            <a:spLocks/>
          </p:cNvSpPr>
          <p:nvPr/>
        </p:nvSpPr>
        <p:spPr bwMode="gray">
          <a:xfrm>
            <a:off x="8711361" y="2736000"/>
            <a:ext cx="864000" cy="576000"/>
          </a:xfrm>
          <a:prstGeom prst="flowChartDecision">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MDG needed?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9" name="Rectangle: Rounded Corners 48">
            <a:extLst>
              <a:ext uri="{FF2B5EF4-FFF2-40B4-BE49-F238E27FC236}">
                <a16:creationId xmlns:a16="http://schemas.microsoft.com/office/drawing/2014/main" id="{67744F4D-899B-9004-17AB-7DD6E49BF31E}"/>
              </a:ext>
            </a:extLst>
          </p:cNvPr>
          <p:cNvSpPr/>
          <p:nvPr/>
        </p:nvSpPr>
        <p:spPr bwMode="gray">
          <a:xfrm>
            <a:off x="9864000" y="1800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Technical objects with good quality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0" name="Oval 49">
            <a:extLst>
              <a:ext uri="{FF2B5EF4-FFF2-40B4-BE49-F238E27FC236}">
                <a16:creationId xmlns:a16="http://schemas.microsoft.com/office/drawing/2014/main" id="{AEFDC506-2253-C220-736A-AA3607ED4B29}"/>
              </a:ext>
            </a:extLst>
          </p:cNvPr>
          <p:cNvSpPr/>
          <p:nvPr/>
        </p:nvSpPr>
        <p:spPr bwMode="gray">
          <a:xfrm>
            <a:off x="11016000" y="1872832"/>
            <a:ext cx="432000" cy="432000"/>
          </a:xfrm>
          <a:prstGeom prst="ellipse">
            <a:avLst/>
          </a:prstGeom>
          <a:solidFill>
            <a:schemeClr val="bg1"/>
          </a:solidFill>
          <a:ln w="41275" cmpd="tri"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End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52" name="Straight Arrow Connector 51">
            <a:extLst>
              <a:ext uri="{FF2B5EF4-FFF2-40B4-BE49-F238E27FC236}">
                <a16:creationId xmlns:a16="http://schemas.microsoft.com/office/drawing/2014/main" id="{F0C54442-E41C-7A9A-2FB0-D7E51559E7A1}"/>
              </a:ext>
            </a:extLst>
          </p:cNvPr>
          <p:cNvCxnSpPr>
            <a:cxnSpLocks/>
            <a:endCxn id="50" idx="2"/>
          </p:cNvCxnSpPr>
          <p:nvPr/>
        </p:nvCxnSpPr>
        <p:spPr>
          <a:xfrm>
            <a:off x="10728000" y="2088000"/>
            <a:ext cx="288000" cy="832"/>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AB54774-DA78-D7B7-127C-00FECCB38E7F}"/>
              </a:ext>
            </a:extLst>
          </p:cNvPr>
          <p:cNvCxnSpPr>
            <a:stCxn id="41" idx="0"/>
            <a:endCxn id="46" idx="2"/>
          </p:cNvCxnSpPr>
          <p:nvPr/>
        </p:nvCxnSpPr>
        <p:spPr>
          <a:xfrm flipV="1">
            <a:off x="7992000" y="3313534"/>
            <a:ext cx="0" cy="1222466"/>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0BD7418-D8D2-BFC2-F6DF-91DBE9764C33}"/>
              </a:ext>
            </a:extLst>
          </p:cNvPr>
          <p:cNvCxnSpPr>
            <a:stCxn id="46" idx="3"/>
            <a:endCxn id="47" idx="1"/>
          </p:cNvCxnSpPr>
          <p:nvPr/>
        </p:nvCxnSpPr>
        <p:spPr>
          <a:xfrm flipV="1">
            <a:off x="8424000" y="3024000"/>
            <a:ext cx="287361" cy="1534"/>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CB6ABFB-FC6A-7770-9DFD-F752391BF2DB}"/>
              </a:ext>
            </a:extLst>
          </p:cNvPr>
          <p:cNvCxnSpPr>
            <a:stCxn id="47" idx="3"/>
            <a:endCxn id="48" idx="1"/>
          </p:cNvCxnSpPr>
          <p:nvPr/>
        </p:nvCxnSpPr>
        <p:spPr>
          <a:xfrm>
            <a:off x="9575361" y="3024000"/>
            <a:ext cx="288639"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0" name="Rectangle: Rounded Corners 59">
            <a:extLst>
              <a:ext uri="{FF2B5EF4-FFF2-40B4-BE49-F238E27FC236}">
                <a16:creationId xmlns:a16="http://schemas.microsoft.com/office/drawing/2014/main" id="{7FCCE1A3-97E5-194C-5E08-98547513CACD}"/>
              </a:ext>
            </a:extLst>
          </p:cNvPr>
          <p:cNvSpPr/>
          <p:nvPr/>
        </p:nvSpPr>
        <p:spPr bwMode="gray">
          <a:xfrm>
            <a:off x="4104000" y="3600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Check for data in </a:t>
            </a:r>
            <a:r>
              <a:rPr kumimoji="0" lang="en-US" sz="8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lang="en-US" sz="800" kern="0" dirty="0">
                <a:latin typeface="+mn-lt"/>
                <a:ea typeface="Arial Unicode MS" pitchFamily="34" charset="-128"/>
                <a:cs typeface="Arial Unicode MS" pitchFamily="34" charset="-128"/>
              </a:rPr>
              <a:t> ICF</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2" name="Straight Arrow Connector 61">
            <a:extLst>
              <a:ext uri="{FF2B5EF4-FFF2-40B4-BE49-F238E27FC236}">
                <a16:creationId xmlns:a16="http://schemas.microsoft.com/office/drawing/2014/main" id="{9169D0F3-2BFE-3693-43B4-59ED9FF4D37A}"/>
              </a:ext>
            </a:extLst>
          </p:cNvPr>
          <p:cNvCxnSpPr>
            <a:stCxn id="25" idx="2"/>
            <a:endCxn id="60" idx="0"/>
          </p:cNvCxnSpPr>
          <p:nvPr/>
        </p:nvCxnSpPr>
        <p:spPr>
          <a:xfrm>
            <a:off x="4536000" y="3312000"/>
            <a:ext cx="0" cy="288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2DAC5B00-77C6-4107-6991-863F22ACD9FA}"/>
              </a:ext>
            </a:extLst>
          </p:cNvPr>
          <p:cNvSpPr/>
          <p:nvPr/>
        </p:nvSpPr>
        <p:spPr bwMode="gray">
          <a:xfrm>
            <a:off x="4104000"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Find OEM content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5" name="Straight Arrow Connector 64">
            <a:extLst>
              <a:ext uri="{FF2B5EF4-FFF2-40B4-BE49-F238E27FC236}">
                <a16:creationId xmlns:a16="http://schemas.microsoft.com/office/drawing/2014/main" id="{A2EEED2E-41D8-B86D-792B-CF5371139B47}"/>
              </a:ext>
            </a:extLst>
          </p:cNvPr>
          <p:cNvCxnSpPr>
            <a:stCxn id="60" idx="2"/>
            <a:endCxn id="63" idx="0"/>
          </p:cNvCxnSpPr>
          <p:nvPr/>
        </p:nvCxnSpPr>
        <p:spPr>
          <a:xfrm>
            <a:off x="4536000" y="4176000"/>
            <a:ext cx="0" cy="1296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9C5CC83-A18D-8356-DEBD-23D9DBFB618C}"/>
              </a:ext>
            </a:extLst>
          </p:cNvPr>
          <p:cNvCxnSpPr>
            <a:stCxn id="48" idx="0"/>
            <a:endCxn id="49" idx="2"/>
          </p:cNvCxnSpPr>
          <p:nvPr/>
        </p:nvCxnSpPr>
        <p:spPr>
          <a:xfrm flipV="1">
            <a:off x="10296000" y="2376000"/>
            <a:ext cx="0" cy="3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AC3EBF8E-80FA-7BFE-29FD-D118899B706C}"/>
              </a:ext>
            </a:extLst>
          </p:cNvPr>
          <p:cNvSpPr/>
          <p:nvPr/>
        </p:nvSpPr>
        <p:spPr bwMode="gray">
          <a:xfrm>
            <a:off x="1080000" y="4608000"/>
            <a:ext cx="432000" cy="432000"/>
          </a:xfrm>
          <a:prstGeom prst="ellipse">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Start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9" name="Straight Arrow Connector 68">
            <a:extLst>
              <a:ext uri="{FF2B5EF4-FFF2-40B4-BE49-F238E27FC236}">
                <a16:creationId xmlns:a16="http://schemas.microsoft.com/office/drawing/2014/main" id="{3E20587D-02B0-1E53-C6DD-C994635A125F}"/>
              </a:ext>
            </a:extLst>
          </p:cNvPr>
          <p:cNvCxnSpPr>
            <a:cxnSpLocks/>
            <a:stCxn id="68" idx="6"/>
            <a:endCxn id="36" idx="1"/>
          </p:cNvCxnSpPr>
          <p:nvPr/>
        </p:nvCxnSpPr>
        <p:spPr>
          <a:xfrm>
            <a:off x="1512000" y="4824000"/>
            <a:ext cx="3744000"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4F19B4F2-A0AA-B15C-8DD6-A7BB83C0C3C8}"/>
              </a:ext>
            </a:extLst>
          </p:cNvPr>
          <p:cNvSpPr/>
          <p:nvPr/>
        </p:nvSpPr>
        <p:spPr bwMode="gray">
          <a:xfrm>
            <a:off x="11016000" y="4608000"/>
            <a:ext cx="432000" cy="432000"/>
          </a:xfrm>
          <a:prstGeom prst="ellipse">
            <a:avLst/>
          </a:prstGeom>
          <a:solidFill>
            <a:schemeClr val="bg1"/>
          </a:solidFill>
          <a:ln w="41275" cmpd="tri"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End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4" name="Straight Arrow Connector 73">
            <a:extLst>
              <a:ext uri="{FF2B5EF4-FFF2-40B4-BE49-F238E27FC236}">
                <a16:creationId xmlns:a16="http://schemas.microsoft.com/office/drawing/2014/main" id="{24B58ECE-EBFA-77FC-E56B-46A36AD2D98D}"/>
              </a:ext>
            </a:extLst>
          </p:cNvPr>
          <p:cNvCxnSpPr>
            <a:stCxn id="41" idx="3"/>
            <a:endCxn id="71" idx="2"/>
          </p:cNvCxnSpPr>
          <p:nvPr/>
        </p:nvCxnSpPr>
        <p:spPr>
          <a:xfrm>
            <a:off x="8424000" y="4824000"/>
            <a:ext cx="2592000"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5" name="Rectangle: Rounded Corners 74">
            <a:extLst>
              <a:ext uri="{FF2B5EF4-FFF2-40B4-BE49-F238E27FC236}">
                <a16:creationId xmlns:a16="http://schemas.microsoft.com/office/drawing/2014/main" id="{EA46F371-08ED-01E1-CFCA-0915C8CCC67F}"/>
              </a:ext>
            </a:extLst>
          </p:cNvPr>
          <p:cNvSpPr/>
          <p:nvPr/>
        </p:nvSpPr>
        <p:spPr bwMode="gray">
          <a:xfrm>
            <a:off x="8711361"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Review, governance, check, validation</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7" name="Straight Arrow Connector 76">
            <a:extLst>
              <a:ext uri="{FF2B5EF4-FFF2-40B4-BE49-F238E27FC236}">
                <a16:creationId xmlns:a16="http://schemas.microsoft.com/office/drawing/2014/main" id="{FEDE36DC-5BB9-50F5-ED57-06E2394E6178}"/>
              </a:ext>
            </a:extLst>
          </p:cNvPr>
          <p:cNvCxnSpPr>
            <a:stCxn id="47" idx="2"/>
            <a:endCxn id="75" idx="0"/>
          </p:cNvCxnSpPr>
          <p:nvPr/>
        </p:nvCxnSpPr>
        <p:spPr>
          <a:xfrm>
            <a:off x="9143361" y="3312000"/>
            <a:ext cx="0" cy="21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7E6B2CB0-362D-C994-1503-96EB274FDA11}"/>
              </a:ext>
            </a:extLst>
          </p:cNvPr>
          <p:cNvCxnSpPr>
            <a:stCxn id="75" idx="3"/>
            <a:endCxn id="49" idx="1"/>
          </p:cNvCxnSpPr>
          <p:nvPr/>
        </p:nvCxnSpPr>
        <p:spPr>
          <a:xfrm flipV="1">
            <a:off x="9575361" y="2088000"/>
            <a:ext cx="288639" cy="3672000"/>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6FFE665-E34C-E7A5-A14E-73C1D8D8A40A}"/>
              </a:ext>
            </a:extLst>
          </p:cNvPr>
          <p:cNvCxnSpPr>
            <a:stCxn id="63" idx="3"/>
            <a:endCxn id="75" idx="1"/>
          </p:cNvCxnSpPr>
          <p:nvPr/>
        </p:nvCxnSpPr>
        <p:spPr>
          <a:xfrm>
            <a:off x="4968000" y="5760000"/>
            <a:ext cx="3743361"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00566158-C96E-B7E6-BB4F-45CCD98BBC12}"/>
              </a:ext>
            </a:extLst>
          </p:cNvPr>
          <p:cNvSpPr/>
          <p:nvPr/>
        </p:nvSpPr>
        <p:spPr bwMode="gray">
          <a:xfrm>
            <a:off x="3815681" y="1908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85" name="Connector: Elbow 84">
            <a:extLst>
              <a:ext uri="{FF2B5EF4-FFF2-40B4-BE49-F238E27FC236}">
                <a16:creationId xmlns:a16="http://schemas.microsoft.com/office/drawing/2014/main" id="{B18226BB-CC58-3A8A-E4B0-DF359DF37557}"/>
              </a:ext>
            </a:extLst>
          </p:cNvPr>
          <p:cNvCxnSpPr>
            <a:stCxn id="16" idx="0"/>
            <a:endCxn id="50" idx="0"/>
          </p:cNvCxnSpPr>
          <p:nvPr/>
        </p:nvCxnSpPr>
        <p:spPr>
          <a:xfrm rot="16200000" flipH="1">
            <a:off x="7271584" y="-2087584"/>
            <a:ext cx="72832" cy="7848000"/>
          </a:xfrm>
          <a:prstGeom prst="bentConnector3">
            <a:avLst>
              <a:gd name="adj1" fmla="val -31387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14A55AA7-AC24-CED7-8387-7069F7736209}"/>
              </a:ext>
            </a:extLst>
          </p:cNvPr>
          <p:cNvSpPr/>
          <p:nvPr/>
        </p:nvSpPr>
        <p:spPr bwMode="gray">
          <a:xfrm>
            <a:off x="3096000" y="1619168"/>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7" name="Rectangle 86">
            <a:extLst>
              <a:ext uri="{FF2B5EF4-FFF2-40B4-BE49-F238E27FC236}">
                <a16:creationId xmlns:a16="http://schemas.microsoft.com/office/drawing/2014/main" id="{6C655EEF-4D96-FE26-7237-00477DE3A28B}"/>
              </a:ext>
            </a:extLst>
          </p:cNvPr>
          <p:cNvSpPr/>
          <p:nvPr/>
        </p:nvSpPr>
        <p:spPr bwMode="gray">
          <a:xfrm>
            <a:off x="4967361" y="2844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8" name="Rectangle 87">
            <a:extLst>
              <a:ext uri="{FF2B5EF4-FFF2-40B4-BE49-F238E27FC236}">
                <a16:creationId xmlns:a16="http://schemas.microsoft.com/office/drawing/2014/main" id="{EE6F152A-8D53-2ED9-8482-9956CF8A499C}"/>
              </a:ext>
            </a:extLst>
          </p:cNvPr>
          <p:cNvSpPr/>
          <p:nvPr/>
        </p:nvSpPr>
        <p:spPr bwMode="gray">
          <a:xfrm>
            <a:off x="4248000" y="3384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9" name="Rectangle 88">
            <a:extLst>
              <a:ext uri="{FF2B5EF4-FFF2-40B4-BE49-F238E27FC236}">
                <a16:creationId xmlns:a16="http://schemas.microsoft.com/office/drawing/2014/main" id="{31DD1C70-E71D-4ACC-788B-2C4338FB9642}"/>
              </a:ext>
            </a:extLst>
          </p:cNvPr>
          <p:cNvSpPr/>
          <p:nvPr/>
        </p:nvSpPr>
        <p:spPr bwMode="gray">
          <a:xfrm>
            <a:off x="8855360" y="3383999"/>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0" name="Rectangle 89">
            <a:extLst>
              <a:ext uri="{FF2B5EF4-FFF2-40B4-BE49-F238E27FC236}">
                <a16:creationId xmlns:a16="http://schemas.microsoft.com/office/drawing/2014/main" id="{ACD4EA90-D135-493D-3370-B9DE5C8379E1}"/>
              </a:ext>
            </a:extLst>
          </p:cNvPr>
          <p:cNvSpPr/>
          <p:nvPr/>
        </p:nvSpPr>
        <p:spPr bwMode="gray">
          <a:xfrm>
            <a:off x="9574722" y="2843999"/>
            <a:ext cx="288000" cy="144000"/>
          </a:xfrm>
          <a:prstGeom prst="rect">
            <a:avLst/>
          </a:prstGeom>
          <a:solidFill>
            <a:schemeClr val="bg2">
              <a:lumMod val="40000"/>
              <a:lumOff val="60000"/>
            </a:schemeClr>
          </a:solid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8" name="Rectangle: Rounded Corners 47">
            <a:extLst>
              <a:ext uri="{FF2B5EF4-FFF2-40B4-BE49-F238E27FC236}">
                <a16:creationId xmlns:a16="http://schemas.microsoft.com/office/drawing/2014/main" id="{62874052-FABB-EA6F-71CE-1E747492EE5F}"/>
              </a:ext>
            </a:extLst>
          </p:cNvPr>
          <p:cNvSpPr/>
          <p:nvPr/>
        </p:nvSpPr>
        <p:spPr bwMode="gray">
          <a:xfrm>
            <a:off x="9864000" y="2736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Replicate improvements to SAP ERP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2" name="Rectangle 91">
            <a:extLst>
              <a:ext uri="{FF2B5EF4-FFF2-40B4-BE49-F238E27FC236}">
                <a16:creationId xmlns:a16="http://schemas.microsoft.com/office/drawing/2014/main" id="{FAC9D437-28AB-015C-E22B-25D473C0EBBA}"/>
              </a:ext>
            </a:extLst>
          </p:cNvPr>
          <p:cNvSpPr/>
          <p:nvPr/>
        </p:nvSpPr>
        <p:spPr bwMode="gray">
          <a:xfrm>
            <a:off x="504000" y="6354000"/>
            <a:ext cx="3096000" cy="287999"/>
          </a:xfrm>
          <a:prstGeom prst="rect">
            <a:avLst/>
          </a:prstGeom>
          <a:noFill/>
          <a:ln w="25400" algn="ctr">
            <a:solidFill>
              <a:schemeClr val="tx1"/>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Legend: </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3" name="Rectangle 92">
            <a:extLst>
              <a:ext uri="{FF2B5EF4-FFF2-40B4-BE49-F238E27FC236}">
                <a16:creationId xmlns:a16="http://schemas.microsoft.com/office/drawing/2014/main" id="{A70B341B-CC29-F9C9-8304-FA1A39E7A25B}"/>
              </a:ext>
            </a:extLst>
          </p:cNvPr>
          <p:cNvSpPr/>
          <p:nvPr/>
        </p:nvSpPr>
        <p:spPr bwMode="gray">
          <a:xfrm>
            <a:off x="1228200" y="6389999"/>
            <a:ext cx="1080000" cy="216000"/>
          </a:xfrm>
          <a:prstGeom prst="rect">
            <a:avLst/>
          </a:prstGeom>
          <a:solidFill>
            <a:schemeClr val="tx2">
              <a:lumMod val="20000"/>
              <a:lumOff val="80000"/>
            </a:schemeClr>
          </a:solidFill>
          <a:ln w="190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dirty="0">
                <a:ln>
                  <a:noFill/>
                </a:ln>
                <a:effectLst/>
                <a:uLnTx/>
                <a:uFillTx/>
                <a:latin typeface="+mn-lt"/>
                <a:ea typeface="Arial Unicode MS" pitchFamily="34" charset="-128"/>
                <a:cs typeface="Arial Unicode MS" pitchFamily="34" charset="-128"/>
              </a:rPr>
              <a:t>Operator</a:t>
            </a:r>
            <a:endParaRPr kumimoji="0" lang="en-DE" sz="10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4" name="Rectangle 93">
            <a:extLst>
              <a:ext uri="{FF2B5EF4-FFF2-40B4-BE49-F238E27FC236}">
                <a16:creationId xmlns:a16="http://schemas.microsoft.com/office/drawing/2014/main" id="{C8370D19-B04E-4A26-4F33-557FC69E3E15}"/>
              </a:ext>
            </a:extLst>
          </p:cNvPr>
          <p:cNvSpPr/>
          <p:nvPr/>
        </p:nvSpPr>
        <p:spPr bwMode="gray">
          <a:xfrm>
            <a:off x="2412000" y="6389999"/>
            <a:ext cx="1080000" cy="216000"/>
          </a:xfrm>
          <a:prstGeom prst="rect">
            <a:avLst/>
          </a:prstGeom>
          <a:solidFill>
            <a:schemeClr val="accent6">
              <a:lumMod val="20000"/>
              <a:lumOff val="80000"/>
            </a:schemeClr>
          </a:solidFill>
          <a:ln w="190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effectLst/>
                <a:uLnTx/>
                <a:uFillTx/>
                <a:latin typeface="+mn-lt"/>
                <a:ea typeface="Arial Unicode MS" pitchFamily="34" charset="-128"/>
                <a:cs typeface="Arial Unicode MS" pitchFamily="34" charset="-128"/>
              </a:rPr>
              <a:t>OEM</a:t>
            </a:r>
            <a:endParaRPr kumimoji="0" lang="en-DE" sz="10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Tree>
    <p:custDataLst>
      <p:custData r:id="rId1"/>
      <p:custData r:id="rId2"/>
    </p:custDataLst>
    <p:extLst>
      <p:ext uri="{BB962C8B-B14F-4D97-AF65-F5344CB8AC3E}">
        <p14:creationId xmlns:p14="http://schemas.microsoft.com/office/powerpoint/2010/main" val="3602749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919DDE2E-9581-C80D-B416-6C77D19A6AAF}"/>
              </a:ext>
            </a:extLst>
          </p:cNvPr>
          <p:cNvGrpSpPr/>
          <p:nvPr/>
        </p:nvGrpSpPr>
        <p:grpSpPr>
          <a:xfrm>
            <a:off x="504000" y="4356000"/>
            <a:ext cx="11088000" cy="936000"/>
            <a:chOff x="504000" y="3492000"/>
            <a:chExt cx="11088000" cy="936000"/>
          </a:xfrm>
          <a:solidFill>
            <a:schemeClr val="accent6">
              <a:lumMod val="20000"/>
              <a:lumOff val="80000"/>
            </a:schemeClr>
          </a:solidFill>
        </p:grpSpPr>
        <p:sp>
          <p:nvSpPr>
            <p:cNvPr id="34" name="Rectangle 33">
              <a:extLst>
                <a:ext uri="{FF2B5EF4-FFF2-40B4-BE49-F238E27FC236}">
                  <a16:creationId xmlns:a16="http://schemas.microsoft.com/office/drawing/2014/main" id="{C130DB6A-EF86-9678-50D0-A1CE13C0964D}"/>
                </a:ext>
              </a:extLst>
            </p:cNvPr>
            <p:cNvSpPr/>
            <p:nvPr/>
          </p:nvSpPr>
          <p:spPr bwMode="gray">
            <a:xfrm>
              <a:off x="504000" y="3492000"/>
              <a:ext cx="11088000" cy="936000"/>
            </a:xfrm>
            <a:prstGeom prst="rect">
              <a:avLst/>
            </a:prstGeom>
            <a:grp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5" name="Rectangle 34">
              <a:extLst>
                <a:ext uri="{FF2B5EF4-FFF2-40B4-BE49-F238E27FC236}">
                  <a16:creationId xmlns:a16="http://schemas.microsoft.com/office/drawing/2014/main" id="{DFB82F2C-D513-A4D8-389D-230519F441C7}"/>
                </a:ext>
              </a:extLst>
            </p:cNvPr>
            <p:cNvSpPr/>
            <p:nvPr/>
          </p:nvSpPr>
          <p:spPr bwMode="gray">
            <a:xfrm>
              <a:off x="504000" y="3492000"/>
              <a:ext cx="360000" cy="936000"/>
            </a:xfrm>
            <a:prstGeom prst="rect">
              <a:avLst/>
            </a:prstGeom>
            <a:grp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BNAC Manufacturer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6" name="Rectangle: Rounded Corners 35">
              <a:extLst>
                <a:ext uri="{FF2B5EF4-FFF2-40B4-BE49-F238E27FC236}">
                  <a16:creationId xmlns:a16="http://schemas.microsoft.com/office/drawing/2014/main" id="{02F57BE4-286D-DD26-0AFA-14C51F560518}"/>
                </a:ext>
              </a:extLst>
            </p:cNvPr>
            <p:cNvSpPr/>
            <p:nvPr/>
          </p:nvSpPr>
          <p:spPr bwMode="gray">
            <a:xfrm>
              <a:off x="5256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 request from Operator</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7" name="Rectangle: Rounded Corners 36">
              <a:extLst>
                <a:ext uri="{FF2B5EF4-FFF2-40B4-BE49-F238E27FC236}">
                  <a16:creationId xmlns:a16="http://schemas.microsoft.com/office/drawing/2014/main" id="{4F922A9C-2C39-B0EE-B0B9-3CB137FAB470}"/>
                </a:ext>
              </a:extLst>
            </p:cNvPr>
            <p:cNvSpPr/>
            <p:nvPr/>
          </p:nvSpPr>
          <p:spPr bwMode="gray">
            <a:xfrm>
              <a:off x="6408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Improve technical objects and dependent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8" name="Straight Arrow Connector 37">
              <a:extLst>
                <a:ext uri="{FF2B5EF4-FFF2-40B4-BE49-F238E27FC236}">
                  <a16:creationId xmlns:a16="http://schemas.microsoft.com/office/drawing/2014/main" id="{2D01EDF9-1F69-F757-0DDF-4355BE0D0A77}"/>
                </a:ext>
              </a:extLst>
            </p:cNvPr>
            <p:cNvCxnSpPr>
              <a:cxnSpLocks/>
              <a:stCxn id="36" idx="3"/>
              <a:endCxn id="37" idx="1"/>
            </p:cNvCxnSpPr>
            <p:nvPr/>
          </p:nvCxnSpPr>
          <p:spPr>
            <a:xfrm>
              <a:off x="6120000" y="3960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7F7A6A14-F490-0335-CEA5-A569798EECBB}"/>
                </a:ext>
              </a:extLst>
            </p:cNvPr>
            <p:cNvSpPr/>
            <p:nvPr/>
          </p:nvSpPr>
          <p:spPr bwMode="gray">
            <a:xfrm>
              <a:off x="7560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Share improvements to Operator</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45" name="Straight Arrow Connector 44">
              <a:extLst>
                <a:ext uri="{FF2B5EF4-FFF2-40B4-BE49-F238E27FC236}">
                  <a16:creationId xmlns:a16="http://schemas.microsoft.com/office/drawing/2014/main" id="{FECC114E-11D0-7D52-8DD3-E1540E6F4788}"/>
                </a:ext>
              </a:extLst>
            </p:cNvPr>
            <p:cNvCxnSpPr>
              <a:stCxn id="37" idx="3"/>
              <a:endCxn id="41" idx="1"/>
            </p:cNvCxnSpPr>
            <p:nvPr/>
          </p:nvCxnSpPr>
          <p:spPr>
            <a:xfrm>
              <a:off x="7272000" y="3960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5" name="Rectangle 4">
            <a:extLst>
              <a:ext uri="{FF2B5EF4-FFF2-40B4-BE49-F238E27FC236}">
                <a16:creationId xmlns:a16="http://schemas.microsoft.com/office/drawing/2014/main" id="{72C849BA-F112-F36E-77AE-23AA1D5AF284}"/>
              </a:ext>
            </a:extLst>
          </p:cNvPr>
          <p:cNvSpPr/>
          <p:nvPr/>
        </p:nvSpPr>
        <p:spPr bwMode="gray">
          <a:xfrm>
            <a:off x="504000" y="1440000"/>
            <a:ext cx="11088000" cy="1116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4" name="Title"/>
          <p:cNvSpPr>
            <a:spLocks noGrp="1"/>
          </p:cNvSpPr>
          <p:nvPr>
            <p:ph type="title"/>
          </p:nvPr>
        </p:nvSpPr>
        <p:spPr bwMode="gray">
          <a:xfrm>
            <a:off x="504001" y="504000"/>
            <a:ext cx="11186476" cy="677108"/>
          </a:xfrm>
          <a:noFill/>
        </p:spPr>
        <p:txBody>
          <a:bodyPr/>
          <a:lstStyle/>
          <a:p>
            <a:r>
              <a:rPr lang="en-US" dirty="0"/>
              <a:t>SAP BNAC – </a:t>
            </a:r>
            <a:r>
              <a:rPr lang="en-US" dirty="0" err="1"/>
              <a:t>PiLog</a:t>
            </a:r>
            <a:r>
              <a:rPr lang="en-US" dirty="0"/>
              <a:t> ICF Integration</a:t>
            </a:r>
            <a:br>
              <a:rPr lang="en-US" dirty="0"/>
            </a:br>
            <a:r>
              <a:rPr lang="en-US" sz="2000" dirty="0">
                <a:solidFill>
                  <a:schemeClr val="tx2"/>
                </a:solidFill>
              </a:rPr>
              <a:t>High-level flow</a:t>
            </a:r>
            <a:endParaRPr lang="en-US" dirty="0">
              <a:solidFill>
                <a:schemeClr val="tx2"/>
              </a:solidFill>
            </a:endParaRPr>
          </a:p>
        </p:txBody>
      </p:sp>
      <p:sp>
        <p:nvSpPr>
          <p:cNvPr id="6" name="Rectangle 5">
            <a:extLst>
              <a:ext uri="{FF2B5EF4-FFF2-40B4-BE49-F238E27FC236}">
                <a16:creationId xmlns:a16="http://schemas.microsoft.com/office/drawing/2014/main" id="{45269A02-4787-5B77-C319-9A62284EE096}"/>
              </a:ext>
            </a:extLst>
          </p:cNvPr>
          <p:cNvSpPr/>
          <p:nvPr/>
        </p:nvSpPr>
        <p:spPr bwMode="gray">
          <a:xfrm>
            <a:off x="504000" y="2555999"/>
            <a:ext cx="11088000" cy="1800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CB8C16A7-47AE-4617-3375-CA7DFB5B3DA6}"/>
              </a:ext>
            </a:extLst>
          </p:cNvPr>
          <p:cNvSpPr/>
          <p:nvPr/>
        </p:nvSpPr>
        <p:spPr bwMode="gray">
          <a:xfrm>
            <a:off x="504000" y="5290466"/>
            <a:ext cx="11088000" cy="936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 name="Rectangle 7">
            <a:extLst>
              <a:ext uri="{FF2B5EF4-FFF2-40B4-BE49-F238E27FC236}">
                <a16:creationId xmlns:a16="http://schemas.microsoft.com/office/drawing/2014/main" id="{AB64F391-AE9E-77B4-39F6-A82F33B42E78}"/>
              </a:ext>
            </a:extLst>
          </p:cNvPr>
          <p:cNvSpPr/>
          <p:nvPr/>
        </p:nvSpPr>
        <p:spPr bwMode="gray">
          <a:xfrm>
            <a:off x="504000" y="1440000"/>
            <a:ext cx="360000" cy="1116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ERP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0" name="Rectangle 9">
            <a:extLst>
              <a:ext uri="{FF2B5EF4-FFF2-40B4-BE49-F238E27FC236}">
                <a16:creationId xmlns:a16="http://schemas.microsoft.com/office/drawing/2014/main" id="{68E72CC6-FA44-E498-58B4-3F2A54AAF70E}"/>
              </a:ext>
            </a:extLst>
          </p:cNvPr>
          <p:cNvSpPr/>
          <p:nvPr/>
        </p:nvSpPr>
        <p:spPr bwMode="gray">
          <a:xfrm>
            <a:off x="504000" y="2555999"/>
            <a:ext cx="360000" cy="1800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BNAC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1" name="Rectangle 10">
            <a:extLst>
              <a:ext uri="{FF2B5EF4-FFF2-40B4-BE49-F238E27FC236}">
                <a16:creationId xmlns:a16="http://schemas.microsoft.com/office/drawing/2014/main" id="{4AC7DF2A-84E0-613A-2ABB-A3DEBE847524}"/>
              </a:ext>
            </a:extLst>
          </p:cNvPr>
          <p:cNvSpPr/>
          <p:nvPr/>
        </p:nvSpPr>
        <p:spPr bwMode="gray">
          <a:xfrm>
            <a:off x="504000" y="5292000"/>
            <a:ext cx="360000" cy="936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 ICF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grpSp>
        <p:nvGrpSpPr>
          <p:cNvPr id="32" name="Group 31">
            <a:extLst>
              <a:ext uri="{FF2B5EF4-FFF2-40B4-BE49-F238E27FC236}">
                <a16:creationId xmlns:a16="http://schemas.microsoft.com/office/drawing/2014/main" id="{66AD0DA5-4548-08B8-8E52-FA7C1DD849B9}"/>
              </a:ext>
            </a:extLst>
          </p:cNvPr>
          <p:cNvGrpSpPr/>
          <p:nvPr/>
        </p:nvGrpSpPr>
        <p:grpSpPr>
          <a:xfrm>
            <a:off x="1080000" y="1800000"/>
            <a:ext cx="3888000" cy="576000"/>
            <a:chOff x="1080000" y="1908000"/>
            <a:chExt cx="3888000" cy="576000"/>
          </a:xfrm>
          <a:solidFill>
            <a:schemeClr val="bg1"/>
          </a:solidFill>
        </p:grpSpPr>
        <p:sp>
          <p:nvSpPr>
            <p:cNvPr id="12" name="Rectangle: Rounded Corners 11">
              <a:extLst>
                <a:ext uri="{FF2B5EF4-FFF2-40B4-BE49-F238E27FC236}">
                  <a16:creationId xmlns:a16="http://schemas.microsoft.com/office/drawing/2014/main" id="{D3D3FCD2-31B2-8C92-FAC3-D5D5DCAE4B42}"/>
                </a:ext>
              </a:extLst>
            </p:cNvPr>
            <p:cNvSpPr/>
            <p:nvPr/>
          </p:nvSpPr>
          <p:spPr bwMode="gray">
            <a:xfrm>
              <a:off x="1800000" y="1908000"/>
              <a:ext cx="864000" cy="576000"/>
            </a:xfrm>
            <a:prstGeom prst="roundRect">
              <a:avLst/>
            </a:prstGeom>
            <a:grpFill/>
            <a:ln w="254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Check technical objects and dependent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3" name="Oval 12">
              <a:extLst>
                <a:ext uri="{FF2B5EF4-FFF2-40B4-BE49-F238E27FC236}">
                  <a16:creationId xmlns:a16="http://schemas.microsoft.com/office/drawing/2014/main" id="{7FE09339-111B-7113-89B7-D865A7ABFE4B}"/>
                </a:ext>
              </a:extLst>
            </p:cNvPr>
            <p:cNvSpPr/>
            <p:nvPr/>
          </p:nvSpPr>
          <p:spPr bwMode="gray">
            <a:xfrm>
              <a:off x="1080000" y="1980001"/>
              <a:ext cx="432000" cy="432000"/>
            </a:xfrm>
            <a:prstGeom prst="ellipse">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Start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5" name="Straight Arrow Connector 14">
              <a:extLst>
                <a:ext uri="{FF2B5EF4-FFF2-40B4-BE49-F238E27FC236}">
                  <a16:creationId xmlns:a16="http://schemas.microsoft.com/office/drawing/2014/main" id="{3629BCEA-5999-5F21-C6A7-F517224EA9BC}"/>
                </a:ext>
              </a:extLst>
            </p:cNvPr>
            <p:cNvCxnSpPr>
              <a:stCxn id="13" idx="6"/>
              <a:endCxn id="12" idx="1"/>
            </p:cNvCxnSpPr>
            <p:nvPr/>
          </p:nvCxnSpPr>
          <p:spPr>
            <a:xfrm flipV="1">
              <a:off x="1512000" y="2196000"/>
              <a:ext cx="288000" cy="1"/>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Flowchart: Decision 15">
              <a:extLst>
                <a:ext uri="{FF2B5EF4-FFF2-40B4-BE49-F238E27FC236}">
                  <a16:creationId xmlns:a16="http://schemas.microsoft.com/office/drawing/2014/main" id="{6284742F-6CA0-1CA1-EE57-8064528AFD59}"/>
                </a:ext>
              </a:extLst>
            </p:cNvPr>
            <p:cNvSpPr>
              <a:spLocks/>
            </p:cNvSpPr>
            <p:nvPr/>
          </p:nvSpPr>
          <p:spPr bwMode="gray">
            <a:xfrm>
              <a:off x="2952000" y="1908000"/>
              <a:ext cx="864000" cy="576000"/>
            </a:xfrm>
            <a:prstGeom prst="flowChartDecision">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Issues with data quality?</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7" name="Straight Arrow Connector 16">
              <a:extLst>
                <a:ext uri="{FF2B5EF4-FFF2-40B4-BE49-F238E27FC236}">
                  <a16:creationId xmlns:a16="http://schemas.microsoft.com/office/drawing/2014/main" id="{8546BF96-EA1E-BB2A-8935-1BDC23AAD16F}"/>
                </a:ext>
              </a:extLst>
            </p:cNvPr>
            <p:cNvCxnSpPr>
              <a:cxnSpLocks/>
              <a:stCxn id="12" idx="3"/>
              <a:endCxn id="16" idx="1"/>
            </p:cNvCxnSpPr>
            <p:nvPr/>
          </p:nvCxnSpPr>
          <p:spPr>
            <a:xfrm>
              <a:off x="2664000" y="219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2A1C897-252F-51C1-C74D-162F6CD167A8}"/>
                </a:ext>
              </a:extLst>
            </p:cNvPr>
            <p:cNvSpPr/>
            <p:nvPr/>
          </p:nvSpPr>
          <p:spPr bwMode="gray">
            <a:xfrm>
              <a:off x="4104000" y="1908000"/>
              <a:ext cx="864000" cy="576000"/>
            </a:xfrm>
            <a:prstGeom prst="roundRect">
              <a:avLst/>
            </a:prstGeom>
            <a:grp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Replicate technical </a:t>
              </a:r>
              <a:r>
                <a:rPr lang="en-US" sz="800" kern="0" dirty="0">
                  <a:latin typeface="+mn-lt"/>
                  <a:ea typeface="Arial Unicode MS" pitchFamily="34" charset="-128"/>
                  <a:cs typeface="Arial Unicode MS" pitchFamily="34" charset="-128"/>
                </a:rPr>
                <a:t>data objects to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2" name="Straight Arrow Connector 21">
              <a:extLst>
                <a:ext uri="{FF2B5EF4-FFF2-40B4-BE49-F238E27FC236}">
                  <a16:creationId xmlns:a16="http://schemas.microsoft.com/office/drawing/2014/main" id="{37E7ED3B-8D51-A382-0D6C-09C968077671}"/>
                </a:ext>
              </a:extLst>
            </p:cNvPr>
            <p:cNvCxnSpPr>
              <a:stCxn id="16" idx="3"/>
              <a:endCxn id="20" idx="1"/>
            </p:cNvCxnSpPr>
            <p:nvPr/>
          </p:nvCxnSpPr>
          <p:spPr>
            <a:xfrm>
              <a:off x="3816000" y="219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27" name="Straight Arrow Connector 26">
            <a:extLst>
              <a:ext uri="{FF2B5EF4-FFF2-40B4-BE49-F238E27FC236}">
                <a16:creationId xmlns:a16="http://schemas.microsoft.com/office/drawing/2014/main" id="{53481B41-D53E-0D74-E3B5-C875CB09D736}"/>
              </a:ext>
            </a:extLst>
          </p:cNvPr>
          <p:cNvCxnSpPr>
            <a:stCxn id="20" idx="2"/>
            <a:endCxn id="25" idx="0"/>
          </p:cNvCxnSpPr>
          <p:nvPr/>
        </p:nvCxnSpPr>
        <p:spPr>
          <a:xfrm>
            <a:off x="4536000" y="2376000"/>
            <a:ext cx="0" cy="3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F025BC76-A74E-3846-ABB2-EEB863039877}"/>
              </a:ext>
            </a:extLst>
          </p:cNvPr>
          <p:cNvGrpSpPr/>
          <p:nvPr/>
        </p:nvGrpSpPr>
        <p:grpSpPr>
          <a:xfrm>
            <a:off x="4104000" y="2736000"/>
            <a:ext cx="2016000" cy="576000"/>
            <a:chOff x="4104000" y="3348000"/>
            <a:chExt cx="2016000" cy="576000"/>
          </a:xfrm>
          <a:solidFill>
            <a:schemeClr val="bg1"/>
          </a:solidFill>
        </p:grpSpPr>
        <p:sp>
          <p:nvSpPr>
            <p:cNvPr id="23" name="Rectangle: Rounded Corners 22">
              <a:extLst>
                <a:ext uri="{FF2B5EF4-FFF2-40B4-BE49-F238E27FC236}">
                  <a16:creationId xmlns:a16="http://schemas.microsoft.com/office/drawing/2014/main" id="{29C82537-6136-C62C-7891-40281803ECED}"/>
                </a:ext>
              </a:extLst>
            </p:cNvPr>
            <p:cNvSpPr/>
            <p:nvPr/>
          </p:nvSpPr>
          <p:spPr bwMode="gray">
            <a:xfrm>
              <a:off x="5256000" y="3348000"/>
              <a:ext cx="864000" cy="576000"/>
            </a:xfrm>
            <a:prstGeom prst="roundRect">
              <a:avLst/>
            </a:prstGeom>
            <a:grp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Send improvement request to OEM</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5" name="Flowchart: Decision 24">
              <a:extLst>
                <a:ext uri="{FF2B5EF4-FFF2-40B4-BE49-F238E27FC236}">
                  <a16:creationId xmlns:a16="http://schemas.microsoft.com/office/drawing/2014/main" id="{DA8F1FDC-0E2B-3CE0-34CF-A41E30D5EACF}"/>
                </a:ext>
              </a:extLst>
            </p:cNvPr>
            <p:cNvSpPr>
              <a:spLocks/>
            </p:cNvSpPr>
            <p:nvPr/>
          </p:nvSpPr>
          <p:spPr bwMode="gray">
            <a:xfrm>
              <a:off x="4104000" y="3348000"/>
              <a:ext cx="864000" cy="576000"/>
            </a:xfrm>
            <a:prstGeom prst="flowChartDecision">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 OEM in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8" name="Straight Arrow Connector 27">
              <a:extLst>
                <a:ext uri="{FF2B5EF4-FFF2-40B4-BE49-F238E27FC236}">
                  <a16:creationId xmlns:a16="http://schemas.microsoft.com/office/drawing/2014/main" id="{A061FDF0-2D41-DED1-2826-947062AE372C}"/>
                </a:ext>
              </a:extLst>
            </p:cNvPr>
            <p:cNvCxnSpPr>
              <a:cxnSpLocks/>
              <a:stCxn id="25" idx="3"/>
              <a:endCxn id="23" idx="1"/>
            </p:cNvCxnSpPr>
            <p:nvPr/>
          </p:nvCxnSpPr>
          <p:spPr>
            <a:xfrm>
              <a:off x="4968000" y="363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43" name="Straight Arrow Connector 42">
            <a:extLst>
              <a:ext uri="{FF2B5EF4-FFF2-40B4-BE49-F238E27FC236}">
                <a16:creationId xmlns:a16="http://schemas.microsoft.com/office/drawing/2014/main" id="{50F7FF99-860C-74D2-CB45-E78575664418}"/>
              </a:ext>
            </a:extLst>
          </p:cNvPr>
          <p:cNvCxnSpPr>
            <a:stCxn id="23" idx="2"/>
            <a:endCxn id="36" idx="0"/>
          </p:cNvCxnSpPr>
          <p:nvPr/>
        </p:nvCxnSpPr>
        <p:spPr>
          <a:xfrm>
            <a:off x="5688000" y="3312000"/>
            <a:ext cx="0" cy="1224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Rectangle: Rounded Corners 45">
            <a:extLst>
              <a:ext uri="{FF2B5EF4-FFF2-40B4-BE49-F238E27FC236}">
                <a16:creationId xmlns:a16="http://schemas.microsoft.com/office/drawing/2014/main" id="{39F5DFB1-4CDE-D867-F68D-3046A3B3B807}"/>
              </a:ext>
            </a:extLst>
          </p:cNvPr>
          <p:cNvSpPr/>
          <p:nvPr/>
        </p:nvSpPr>
        <p:spPr bwMode="gray">
          <a:xfrm>
            <a:off x="7560000" y="2737534"/>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improvements from OEM</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7" name="Flowchart: Decision 46">
            <a:extLst>
              <a:ext uri="{FF2B5EF4-FFF2-40B4-BE49-F238E27FC236}">
                <a16:creationId xmlns:a16="http://schemas.microsoft.com/office/drawing/2014/main" id="{9D06724D-E6F0-07DC-FEB1-2B30E0AFEE65}"/>
              </a:ext>
            </a:extLst>
          </p:cNvPr>
          <p:cNvSpPr>
            <a:spLocks/>
          </p:cNvSpPr>
          <p:nvPr/>
        </p:nvSpPr>
        <p:spPr bwMode="gray">
          <a:xfrm>
            <a:off x="9961228" y="2736000"/>
            <a:ext cx="864000" cy="576000"/>
          </a:xfrm>
          <a:prstGeom prst="flowChartDecision">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MDG needed?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9" name="Rectangle: Rounded Corners 48">
            <a:extLst>
              <a:ext uri="{FF2B5EF4-FFF2-40B4-BE49-F238E27FC236}">
                <a16:creationId xmlns:a16="http://schemas.microsoft.com/office/drawing/2014/main" id="{67744F4D-899B-9004-17AB-7DD6E49BF31E}"/>
              </a:ext>
            </a:extLst>
          </p:cNvPr>
          <p:cNvSpPr/>
          <p:nvPr/>
        </p:nvSpPr>
        <p:spPr bwMode="gray">
          <a:xfrm>
            <a:off x="11113867" y="1800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Technical objects with good quality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0" name="Oval 49">
            <a:extLst>
              <a:ext uri="{FF2B5EF4-FFF2-40B4-BE49-F238E27FC236}">
                <a16:creationId xmlns:a16="http://schemas.microsoft.com/office/drawing/2014/main" id="{AEFDC506-2253-C220-736A-AA3607ED4B29}"/>
              </a:ext>
            </a:extLst>
          </p:cNvPr>
          <p:cNvSpPr/>
          <p:nvPr/>
        </p:nvSpPr>
        <p:spPr bwMode="gray">
          <a:xfrm>
            <a:off x="12265867" y="1872832"/>
            <a:ext cx="432000" cy="432000"/>
          </a:xfrm>
          <a:prstGeom prst="ellipse">
            <a:avLst/>
          </a:prstGeom>
          <a:solidFill>
            <a:schemeClr val="bg1"/>
          </a:solidFill>
          <a:ln w="41275" cmpd="tri"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End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52" name="Straight Arrow Connector 51">
            <a:extLst>
              <a:ext uri="{FF2B5EF4-FFF2-40B4-BE49-F238E27FC236}">
                <a16:creationId xmlns:a16="http://schemas.microsoft.com/office/drawing/2014/main" id="{F0C54442-E41C-7A9A-2FB0-D7E51559E7A1}"/>
              </a:ext>
            </a:extLst>
          </p:cNvPr>
          <p:cNvCxnSpPr>
            <a:cxnSpLocks/>
            <a:endCxn id="50" idx="2"/>
          </p:cNvCxnSpPr>
          <p:nvPr/>
        </p:nvCxnSpPr>
        <p:spPr>
          <a:xfrm>
            <a:off x="11977867" y="2088000"/>
            <a:ext cx="288000" cy="832"/>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AB54774-DA78-D7B7-127C-00FECCB38E7F}"/>
              </a:ext>
            </a:extLst>
          </p:cNvPr>
          <p:cNvCxnSpPr>
            <a:stCxn id="41" idx="0"/>
            <a:endCxn id="46" idx="2"/>
          </p:cNvCxnSpPr>
          <p:nvPr/>
        </p:nvCxnSpPr>
        <p:spPr>
          <a:xfrm flipV="1">
            <a:off x="7992000" y="3313534"/>
            <a:ext cx="0" cy="1222466"/>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0BD7418-D8D2-BFC2-F6DF-91DBE9764C33}"/>
              </a:ext>
            </a:extLst>
          </p:cNvPr>
          <p:cNvCxnSpPr>
            <a:stCxn id="46" idx="3"/>
            <a:endCxn id="47" idx="1"/>
          </p:cNvCxnSpPr>
          <p:nvPr/>
        </p:nvCxnSpPr>
        <p:spPr>
          <a:xfrm flipV="1">
            <a:off x="8424000" y="3024000"/>
            <a:ext cx="1537228" cy="1534"/>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CB6ABFB-FC6A-7770-9DFD-F752391BF2DB}"/>
              </a:ext>
            </a:extLst>
          </p:cNvPr>
          <p:cNvCxnSpPr>
            <a:stCxn id="47" idx="3"/>
            <a:endCxn id="48" idx="1"/>
          </p:cNvCxnSpPr>
          <p:nvPr/>
        </p:nvCxnSpPr>
        <p:spPr>
          <a:xfrm>
            <a:off x="10825228" y="3024000"/>
            <a:ext cx="288639"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0" name="Rectangle: Rounded Corners 59">
            <a:extLst>
              <a:ext uri="{FF2B5EF4-FFF2-40B4-BE49-F238E27FC236}">
                <a16:creationId xmlns:a16="http://schemas.microsoft.com/office/drawing/2014/main" id="{7FCCE1A3-97E5-194C-5E08-98547513CACD}"/>
              </a:ext>
            </a:extLst>
          </p:cNvPr>
          <p:cNvSpPr/>
          <p:nvPr/>
        </p:nvSpPr>
        <p:spPr bwMode="gray">
          <a:xfrm>
            <a:off x="4104000" y="3600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Check for data in </a:t>
            </a:r>
            <a:r>
              <a:rPr kumimoji="0" lang="en-US" sz="8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lang="en-US" sz="800" kern="0" dirty="0">
                <a:latin typeface="+mn-lt"/>
                <a:ea typeface="Arial Unicode MS" pitchFamily="34" charset="-128"/>
                <a:cs typeface="Arial Unicode MS" pitchFamily="34" charset="-128"/>
              </a:rPr>
              <a:t> ICF</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2" name="Straight Arrow Connector 61">
            <a:extLst>
              <a:ext uri="{FF2B5EF4-FFF2-40B4-BE49-F238E27FC236}">
                <a16:creationId xmlns:a16="http://schemas.microsoft.com/office/drawing/2014/main" id="{9169D0F3-2BFE-3693-43B4-59ED9FF4D37A}"/>
              </a:ext>
            </a:extLst>
          </p:cNvPr>
          <p:cNvCxnSpPr>
            <a:stCxn id="25" idx="2"/>
            <a:endCxn id="60" idx="0"/>
          </p:cNvCxnSpPr>
          <p:nvPr/>
        </p:nvCxnSpPr>
        <p:spPr>
          <a:xfrm>
            <a:off x="4536000" y="3312000"/>
            <a:ext cx="0" cy="288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2DAC5B00-77C6-4107-6991-863F22ACD9FA}"/>
              </a:ext>
            </a:extLst>
          </p:cNvPr>
          <p:cNvSpPr/>
          <p:nvPr/>
        </p:nvSpPr>
        <p:spPr bwMode="gray">
          <a:xfrm>
            <a:off x="4104000"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Find OEM content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5" name="Straight Arrow Connector 64">
            <a:extLst>
              <a:ext uri="{FF2B5EF4-FFF2-40B4-BE49-F238E27FC236}">
                <a16:creationId xmlns:a16="http://schemas.microsoft.com/office/drawing/2014/main" id="{A2EEED2E-41D8-B86D-792B-CF5371139B47}"/>
              </a:ext>
            </a:extLst>
          </p:cNvPr>
          <p:cNvCxnSpPr>
            <a:stCxn id="60" idx="2"/>
            <a:endCxn id="63" idx="0"/>
          </p:cNvCxnSpPr>
          <p:nvPr/>
        </p:nvCxnSpPr>
        <p:spPr>
          <a:xfrm>
            <a:off x="4536000" y="4176000"/>
            <a:ext cx="0" cy="1296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9C5CC83-A18D-8356-DEBD-23D9DBFB618C}"/>
              </a:ext>
            </a:extLst>
          </p:cNvPr>
          <p:cNvCxnSpPr>
            <a:stCxn id="48" idx="0"/>
            <a:endCxn id="49" idx="2"/>
          </p:cNvCxnSpPr>
          <p:nvPr/>
        </p:nvCxnSpPr>
        <p:spPr>
          <a:xfrm flipV="1">
            <a:off x="11545867" y="2376000"/>
            <a:ext cx="0" cy="3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AC3EBF8E-80FA-7BFE-29FD-D118899B706C}"/>
              </a:ext>
            </a:extLst>
          </p:cNvPr>
          <p:cNvSpPr/>
          <p:nvPr/>
        </p:nvSpPr>
        <p:spPr bwMode="gray">
          <a:xfrm>
            <a:off x="1080000" y="4608000"/>
            <a:ext cx="432000" cy="432000"/>
          </a:xfrm>
          <a:prstGeom prst="ellipse">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Start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9" name="Straight Arrow Connector 68">
            <a:extLst>
              <a:ext uri="{FF2B5EF4-FFF2-40B4-BE49-F238E27FC236}">
                <a16:creationId xmlns:a16="http://schemas.microsoft.com/office/drawing/2014/main" id="{3E20587D-02B0-1E53-C6DD-C994635A125F}"/>
              </a:ext>
            </a:extLst>
          </p:cNvPr>
          <p:cNvCxnSpPr>
            <a:cxnSpLocks/>
            <a:stCxn id="68" idx="6"/>
            <a:endCxn id="36" idx="1"/>
          </p:cNvCxnSpPr>
          <p:nvPr/>
        </p:nvCxnSpPr>
        <p:spPr>
          <a:xfrm>
            <a:off x="1512000" y="4824000"/>
            <a:ext cx="3744000"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4F19B4F2-A0AA-B15C-8DD6-A7BB83C0C3C8}"/>
              </a:ext>
            </a:extLst>
          </p:cNvPr>
          <p:cNvSpPr/>
          <p:nvPr/>
        </p:nvSpPr>
        <p:spPr bwMode="gray">
          <a:xfrm>
            <a:off x="12265867" y="4608000"/>
            <a:ext cx="432000" cy="432000"/>
          </a:xfrm>
          <a:prstGeom prst="ellipse">
            <a:avLst/>
          </a:prstGeom>
          <a:solidFill>
            <a:schemeClr val="bg1"/>
          </a:solidFill>
          <a:ln w="41275" cmpd="tri"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End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4" name="Straight Arrow Connector 73">
            <a:extLst>
              <a:ext uri="{FF2B5EF4-FFF2-40B4-BE49-F238E27FC236}">
                <a16:creationId xmlns:a16="http://schemas.microsoft.com/office/drawing/2014/main" id="{24B58ECE-EBFA-77FC-E56B-46A36AD2D98D}"/>
              </a:ext>
            </a:extLst>
          </p:cNvPr>
          <p:cNvCxnSpPr>
            <a:stCxn id="41" idx="3"/>
            <a:endCxn id="71" idx="2"/>
          </p:cNvCxnSpPr>
          <p:nvPr/>
        </p:nvCxnSpPr>
        <p:spPr>
          <a:xfrm>
            <a:off x="8424000" y="4824000"/>
            <a:ext cx="3841867"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5" name="Rectangle: Rounded Corners 74">
            <a:extLst>
              <a:ext uri="{FF2B5EF4-FFF2-40B4-BE49-F238E27FC236}">
                <a16:creationId xmlns:a16="http://schemas.microsoft.com/office/drawing/2014/main" id="{EA46F371-08ED-01E1-CFCA-0915C8CCC67F}"/>
              </a:ext>
            </a:extLst>
          </p:cNvPr>
          <p:cNvSpPr/>
          <p:nvPr/>
        </p:nvSpPr>
        <p:spPr bwMode="gray">
          <a:xfrm>
            <a:off x="9961228"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Review, governance, check, validation</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7" name="Straight Arrow Connector 76">
            <a:extLst>
              <a:ext uri="{FF2B5EF4-FFF2-40B4-BE49-F238E27FC236}">
                <a16:creationId xmlns:a16="http://schemas.microsoft.com/office/drawing/2014/main" id="{FEDE36DC-5BB9-50F5-ED57-06E2394E6178}"/>
              </a:ext>
            </a:extLst>
          </p:cNvPr>
          <p:cNvCxnSpPr>
            <a:stCxn id="47" idx="2"/>
            <a:endCxn id="75" idx="0"/>
          </p:cNvCxnSpPr>
          <p:nvPr/>
        </p:nvCxnSpPr>
        <p:spPr>
          <a:xfrm>
            <a:off x="10393228" y="3312000"/>
            <a:ext cx="0" cy="21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7E6B2CB0-362D-C994-1503-96EB274FDA11}"/>
              </a:ext>
            </a:extLst>
          </p:cNvPr>
          <p:cNvCxnSpPr>
            <a:stCxn id="75" idx="3"/>
            <a:endCxn id="49" idx="1"/>
          </p:cNvCxnSpPr>
          <p:nvPr/>
        </p:nvCxnSpPr>
        <p:spPr>
          <a:xfrm flipV="1">
            <a:off x="10825228" y="2088000"/>
            <a:ext cx="288639" cy="3672000"/>
          </a:xfrm>
          <a:prstGeom prst="bentConnector3">
            <a:avLst/>
          </a:prstGeom>
          <a:ln w="25400">
            <a:solidFill>
              <a:schemeClr val="accent5"/>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6FFE665-E34C-E7A5-A14E-73C1D8D8A40A}"/>
              </a:ext>
            </a:extLst>
          </p:cNvPr>
          <p:cNvCxnSpPr>
            <a:stCxn id="63" idx="3"/>
            <a:endCxn id="75" idx="1"/>
          </p:cNvCxnSpPr>
          <p:nvPr/>
        </p:nvCxnSpPr>
        <p:spPr>
          <a:xfrm>
            <a:off x="4968000" y="5760000"/>
            <a:ext cx="4993228"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00566158-C96E-B7E6-BB4F-45CCD98BBC12}"/>
              </a:ext>
            </a:extLst>
          </p:cNvPr>
          <p:cNvSpPr/>
          <p:nvPr/>
        </p:nvSpPr>
        <p:spPr bwMode="gray">
          <a:xfrm>
            <a:off x="3815681" y="1908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85" name="Connector: Elbow 84">
            <a:extLst>
              <a:ext uri="{FF2B5EF4-FFF2-40B4-BE49-F238E27FC236}">
                <a16:creationId xmlns:a16="http://schemas.microsoft.com/office/drawing/2014/main" id="{B18226BB-CC58-3A8A-E4B0-DF359DF37557}"/>
              </a:ext>
            </a:extLst>
          </p:cNvPr>
          <p:cNvCxnSpPr>
            <a:stCxn id="16" idx="0"/>
            <a:endCxn id="50" idx="0"/>
          </p:cNvCxnSpPr>
          <p:nvPr/>
        </p:nvCxnSpPr>
        <p:spPr>
          <a:xfrm rot="16200000" flipH="1">
            <a:off x="7896517" y="-2712517"/>
            <a:ext cx="72832" cy="9097867"/>
          </a:xfrm>
          <a:prstGeom prst="bentConnector3">
            <a:avLst>
              <a:gd name="adj1" fmla="val -31387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14A55AA7-AC24-CED7-8387-7069F7736209}"/>
              </a:ext>
            </a:extLst>
          </p:cNvPr>
          <p:cNvSpPr/>
          <p:nvPr/>
        </p:nvSpPr>
        <p:spPr bwMode="gray">
          <a:xfrm>
            <a:off x="3096000" y="1619168"/>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7" name="Rectangle 86">
            <a:extLst>
              <a:ext uri="{FF2B5EF4-FFF2-40B4-BE49-F238E27FC236}">
                <a16:creationId xmlns:a16="http://schemas.microsoft.com/office/drawing/2014/main" id="{6C655EEF-4D96-FE26-7237-00477DE3A28B}"/>
              </a:ext>
            </a:extLst>
          </p:cNvPr>
          <p:cNvSpPr/>
          <p:nvPr/>
        </p:nvSpPr>
        <p:spPr bwMode="gray">
          <a:xfrm>
            <a:off x="4967361" y="2844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8" name="Rectangle 87">
            <a:extLst>
              <a:ext uri="{FF2B5EF4-FFF2-40B4-BE49-F238E27FC236}">
                <a16:creationId xmlns:a16="http://schemas.microsoft.com/office/drawing/2014/main" id="{EE6F152A-8D53-2ED9-8482-9956CF8A499C}"/>
              </a:ext>
            </a:extLst>
          </p:cNvPr>
          <p:cNvSpPr/>
          <p:nvPr/>
        </p:nvSpPr>
        <p:spPr bwMode="gray">
          <a:xfrm>
            <a:off x="4248000" y="3384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9" name="Rectangle 88">
            <a:extLst>
              <a:ext uri="{FF2B5EF4-FFF2-40B4-BE49-F238E27FC236}">
                <a16:creationId xmlns:a16="http://schemas.microsoft.com/office/drawing/2014/main" id="{31DD1C70-E71D-4ACC-788B-2C4338FB9642}"/>
              </a:ext>
            </a:extLst>
          </p:cNvPr>
          <p:cNvSpPr/>
          <p:nvPr/>
        </p:nvSpPr>
        <p:spPr bwMode="gray">
          <a:xfrm>
            <a:off x="10105227" y="3383999"/>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0" name="Rectangle 89">
            <a:extLst>
              <a:ext uri="{FF2B5EF4-FFF2-40B4-BE49-F238E27FC236}">
                <a16:creationId xmlns:a16="http://schemas.microsoft.com/office/drawing/2014/main" id="{ACD4EA90-D135-493D-3370-B9DE5C8379E1}"/>
              </a:ext>
            </a:extLst>
          </p:cNvPr>
          <p:cNvSpPr/>
          <p:nvPr/>
        </p:nvSpPr>
        <p:spPr bwMode="gray">
          <a:xfrm>
            <a:off x="10824589" y="2843999"/>
            <a:ext cx="288000" cy="144000"/>
          </a:xfrm>
          <a:prstGeom prst="rect">
            <a:avLst/>
          </a:prstGeom>
          <a:solidFill>
            <a:schemeClr val="bg2">
              <a:lumMod val="40000"/>
              <a:lumOff val="60000"/>
            </a:schemeClr>
          </a:solid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8" name="Rectangle: Rounded Corners 47">
            <a:extLst>
              <a:ext uri="{FF2B5EF4-FFF2-40B4-BE49-F238E27FC236}">
                <a16:creationId xmlns:a16="http://schemas.microsoft.com/office/drawing/2014/main" id="{62874052-FABB-EA6F-71CE-1E747492EE5F}"/>
              </a:ext>
            </a:extLst>
          </p:cNvPr>
          <p:cNvSpPr/>
          <p:nvPr/>
        </p:nvSpPr>
        <p:spPr bwMode="gray">
          <a:xfrm>
            <a:off x="11113867" y="2736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Replicate improvements to SAP ERP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2" name="Rectangle 91">
            <a:extLst>
              <a:ext uri="{FF2B5EF4-FFF2-40B4-BE49-F238E27FC236}">
                <a16:creationId xmlns:a16="http://schemas.microsoft.com/office/drawing/2014/main" id="{FAC9D437-28AB-015C-E22B-25D473C0EBBA}"/>
              </a:ext>
            </a:extLst>
          </p:cNvPr>
          <p:cNvSpPr/>
          <p:nvPr/>
        </p:nvSpPr>
        <p:spPr bwMode="gray">
          <a:xfrm>
            <a:off x="504000" y="6354000"/>
            <a:ext cx="3096000" cy="287999"/>
          </a:xfrm>
          <a:prstGeom prst="rect">
            <a:avLst/>
          </a:prstGeom>
          <a:noFill/>
          <a:ln w="25400" algn="ctr">
            <a:solidFill>
              <a:schemeClr val="tx1"/>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Legend: </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3" name="Rectangle 92">
            <a:extLst>
              <a:ext uri="{FF2B5EF4-FFF2-40B4-BE49-F238E27FC236}">
                <a16:creationId xmlns:a16="http://schemas.microsoft.com/office/drawing/2014/main" id="{A70B341B-CC29-F9C9-8304-FA1A39E7A25B}"/>
              </a:ext>
            </a:extLst>
          </p:cNvPr>
          <p:cNvSpPr/>
          <p:nvPr/>
        </p:nvSpPr>
        <p:spPr bwMode="gray">
          <a:xfrm>
            <a:off x="1228200" y="6389999"/>
            <a:ext cx="1080000" cy="216000"/>
          </a:xfrm>
          <a:prstGeom prst="rect">
            <a:avLst/>
          </a:prstGeom>
          <a:solidFill>
            <a:schemeClr val="tx2">
              <a:lumMod val="20000"/>
              <a:lumOff val="80000"/>
            </a:schemeClr>
          </a:solidFill>
          <a:ln w="190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dirty="0">
                <a:ln>
                  <a:noFill/>
                </a:ln>
                <a:effectLst/>
                <a:uLnTx/>
                <a:uFillTx/>
                <a:latin typeface="+mn-lt"/>
                <a:ea typeface="Arial Unicode MS" pitchFamily="34" charset="-128"/>
                <a:cs typeface="Arial Unicode MS" pitchFamily="34" charset="-128"/>
              </a:rPr>
              <a:t>Operator</a:t>
            </a:r>
            <a:endParaRPr kumimoji="0" lang="en-DE" sz="10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4" name="Rectangle 93">
            <a:extLst>
              <a:ext uri="{FF2B5EF4-FFF2-40B4-BE49-F238E27FC236}">
                <a16:creationId xmlns:a16="http://schemas.microsoft.com/office/drawing/2014/main" id="{C8370D19-B04E-4A26-4F33-557FC69E3E15}"/>
              </a:ext>
            </a:extLst>
          </p:cNvPr>
          <p:cNvSpPr/>
          <p:nvPr/>
        </p:nvSpPr>
        <p:spPr bwMode="gray">
          <a:xfrm>
            <a:off x="2412000" y="6389999"/>
            <a:ext cx="1080000" cy="216000"/>
          </a:xfrm>
          <a:prstGeom prst="rect">
            <a:avLst/>
          </a:prstGeom>
          <a:solidFill>
            <a:schemeClr val="accent6">
              <a:lumMod val="20000"/>
              <a:lumOff val="80000"/>
            </a:schemeClr>
          </a:solidFill>
          <a:ln w="190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effectLst/>
                <a:uLnTx/>
                <a:uFillTx/>
                <a:latin typeface="+mn-lt"/>
                <a:ea typeface="Arial Unicode MS" pitchFamily="34" charset="-128"/>
                <a:cs typeface="Arial Unicode MS" pitchFamily="34" charset="-128"/>
              </a:rPr>
              <a:t>OEM</a:t>
            </a:r>
            <a:endParaRPr kumimoji="0" lang="en-DE" sz="10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 name="Rectangle: Rounded Corners 1">
            <a:extLst>
              <a:ext uri="{FF2B5EF4-FFF2-40B4-BE49-F238E27FC236}">
                <a16:creationId xmlns:a16="http://schemas.microsoft.com/office/drawing/2014/main" id="{55D02013-AC93-10A6-AAF0-CFB9C6E0FF5D}"/>
              </a:ext>
            </a:extLst>
          </p:cNvPr>
          <p:cNvSpPr/>
          <p:nvPr/>
        </p:nvSpPr>
        <p:spPr bwMode="gray">
          <a:xfrm>
            <a:off x="1800000"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 classification</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4" name="Straight Arrow Connector 3">
            <a:extLst>
              <a:ext uri="{FF2B5EF4-FFF2-40B4-BE49-F238E27FC236}">
                <a16:creationId xmlns:a16="http://schemas.microsoft.com/office/drawing/2014/main" id="{98703098-6F5A-EA56-5BEB-9A6FE9ADABB1}"/>
              </a:ext>
            </a:extLst>
          </p:cNvPr>
          <p:cNvCxnSpPr>
            <a:stCxn id="2" idx="0"/>
          </p:cNvCxnSpPr>
          <p:nvPr/>
        </p:nvCxnSpPr>
        <p:spPr>
          <a:xfrm flipV="1">
            <a:off x="2232000" y="3312000"/>
            <a:ext cx="0" cy="21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61D37CB2-EC96-DFA7-3857-1726FE962EAB}"/>
              </a:ext>
            </a:extLst>
          </p:cNvPr>
          <p:cNvCxnSpPr>
            <a:stCxn id="2" idx="0"/>
          </p:cNvCxnSpPr>
          <p:nvPr/>
        </p:nvCxnSpPr>
        <p:spPr>
          <a:xfrm rot="5400000" flipH="1" flipV="1">
            <a:off x="1033456" y="3502546"/>
            <a:ext cx="3167999" cy="770911"/>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F951D5FB-E3FC-E528-9081-6A3B934E9930}"/>
              </a:ext>
            </a:extLst>
          </p:cNvPr>
          <p:cNvSpPr>
            <a:spLocks/>
          </p:cNvSpPr>
          <p:nvPr/>
        </p:nvSpPr>
        <p:spPr bwMode="gray">
          <a:xfrm>
            <a:off x="8791887" y="2736000"/>
            <a:ext cx="864000" cy="576000"/>
          </a:xfrm>
          <a:prstGeom prst="flowChartDecision">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If ECLASS or other than ISO 14224 2006</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0" name="Rectangle: Rounded Corners 29">
            <a:extLst>
              <a:ext uri="{FF2B5EF4-FFF2-40B4-BE49-F238E27FC236}">
                <a16:creationId xmlns:a16="http://schemas.microsoft.com/office/drawing/2014/main" id="{23C700E0-02A3-EC59-ECEC-896E3179DC13}"/>
              </a:ext>
            </a:extLst>
          </p:cNvPr>
          <p:cNvSpPr/>
          <p:nvPr/>
        </p:nvSpPr>
        <p:spPr bwMode="gray">
          <a:xfrm>
            <a:off x="8808589"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Classification mapping</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9" name="Straight Arrow Connector 38">
            <a:extLst>
              <a:ext uri="{FF2B5EF4-FFF2-40B4-BE49-F238E27FC236}">
                <a16:creationId xmlns:a16="http://schemas.microsoft.com/office/drawing/2014/main" id="{D0E29966-46D6-9950-7891-DEF2B33A1832}"/>
              </a:ext>
            </a:extLst>
          </p:cNvPr>
          <p:cNvCxnSpPr>
            <a:stCxn id="29" idx="2"/>
            <a:endCxn id="30" idx="0"/>
          </p:cNvCxnSpPr>
          <p:nvPr/>
        </p:nvCxnSpPr>
        <p:spPr>
          <a:xfrm>
            <a:off x="9223887" y="3312000"/>
            <a:ext cx="16702" cy="21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custDataLst>
      <p:custData r:id="rId1"/>
      <p:custData r:id="rId2"/>
    </p:custDataLst>
    <p:extLst>
      <p:ext uri="{BB962C8B-B14F-4D97-AF65-F5344CB8AC3E}">
        <p14:creationId xmlns:p14="http://schemas.microsoft.com/office/powerpoint/2010/main" val="3438327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919DDE2E-9581-C80D-B416-6C77D19A6AAF}"/>
              </a:ext>
            </a:extLst>
          </p:cNvPr>
          <p:cNvGrpSpPr/>
          <p:nvPr/>
        </p:nvGrpSpPr>
        <p:grpSpPr>
          <a:xfrm>
            <a:off x="504000" y="4356000"/>
            <a:ext cx="11088000" cy="936000"/>
            <a:chOff x="504000" y="3492000"/>
            <a:chExt cx="11088000" cy="936000"/>
          </a:xfrm>
          <a:solidFill>
            <a:schemeClr val="accent6">
              <a:lumMod val="20000"/>
              <a:lumOff val="80000"/>
            </a:schemeClr>
          </a:solidFill>
        </p:grpSpPr>
        <p:sp>
          <p:nvSpPr>
            <p:cNvPr id="34" name="Rectangle 33">
              <a:extLst>
                <a:ext uri="{FF2B5EF4-FFF2-40B4-BE49-F238E27FC236}">
                  <a16:creationId xmlns:a16="http://schemas.microsoft.com/office/drawing/2014/main" id="{C130DB6A-EF86-9678-50D0-A1CE13C0964D}"/>
                </a:ext>
              </a:extLst>
            </p:cNvPr>
            <p:cNvSpPr/>
            <p:nvPr/>
          </p:nvSpPr>
          <p:spPr bwMode="gray">
            <a:xfrm>
              <a:off x="504000" y="3492000"/>
              <a:ext cx="11088000" cy="936000"/>
            </a:xfrm>
            <a:prstGeom prst="rect">
              <a:avLst/>
            </a:prstGeom>
            <a:grp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5" name="Rectangle 34">
              <a:extLst>
                <a:ext uri="{FF2B5EF4-FFF2-40B4-BE49-F238E27FC236}">
                  <a16:creationId xmlns:a16="http://schemas.microsoft.com/office/drawing/2014/main" id="{DFB82F2C-D513-A4D8-389D-230519F441C7}"/>
                </a:ext>
              </a:extLst>
            </p:cNvPr>
            <p:cNvSpPr/>
            <p:nvPr/>
          </p:nvSpPr>
          <p:spPr bwMode="gray">
            <a:xfrm>
              <a:off x="504000" y="3492000"/>
              <a:ext cx="360000" cy="936000"/>
            </a:xfrm>
            <a:prstGeom prst="rect">
              <a:avLst/>
            </a:prstGeom>
            <a:grp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BNAC Manufacturer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6" name="Rectangle: Rounded Corners 35">
              <a:extLst>
                <a:ext uri="{FF2B5EF4-FFF2-40B4-BE49-F238E27FC236}">
                  <a16:creationId xmlns:a16="http://schemas.microsoft.com/office/drawing/2014/main" id="{02F57BE4-286D-DD26-0AFA-14C51F560518}"/>
                </a:ext>
              </a:extLst>
            </p:cNvPr>
            <p:cNvSpPr/>
            <p:nvPr/>
          </p:nvSpPr>
          <p:spPr bwMode="gray">
            <a:xfrm>
              <a:off x="5256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 request from Operator</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7" name="Rectangle: Rounded Corners 36">
              <a:extLst>
                <a:ext uri="{FF2B5EF4-FFF2-40B4-BE49-F238E27FC236}">
                  <a16:creationId xmlns:a16="http://schemas.microsoft.com/office/drawing/2014/main" id="{4F922A9C-2C39-B0EE-B0B9-3CB137FAB470}"/>
                </a:ext>
              </a:extLst>
            </p:cNvPr>
            <p:cNvSpPr/>
            <p:nvPr/>
          </p:nvSpPr>
          <p:spPr bwMode="gray">
            <a:xfrm>
              <a:off x="6408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Improve technical objects and dependent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8" name="Straight Arrow Connector 37">
              <a:extLst>
                <a:ext uri="{FF2B5EF4-FFF2-40B4-BE49-F238E27FC236}">
                  <a16:creationId xmlns:a16="http://schemas.microsoft.com/office/drawing/2014/main" id="{2D01EDF9-1F69-F757-0DDF-4355BE0D0A77}"/>
                </a:ext>
              </a:extLst>
            </p:cNvPr>
            <p:cNvCxnSpPr>
              <a:cxnSpLocks/>
              <a:stCxn id="36" idx="3"/>
              <a:endCxn id="37" idx="1"/>
            </p:cNvCxnSpPr>
            <p:nvPr/>
          </p:nvCxnSpPr>
          <p:spPr>
            <a:xfrm>
              <a:off x="6120000" y="3960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7F7A6A14-F490-0335-CEA5-A569798EECBB}"/>
                </a:ext>
              </a:extLst>
            </p:cNvPr>
            <p:cNvSpPr/>
            <p:nvPr/>
          </p:nvSpPr>
          <p:spPr bwMode="gray">
            <a:xfrm>
              <a:off x="7560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Share improvements to Operator</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45" name="Straight Arrow Connector 44">
              <a:extLst>
                <a:ext uri="{FF2B5EF4-FFF2-40B4-BE49-F238E27FC236}">
                  <a16:creationId xmlns:a16="http://schemas.microsoft.com/office/drawing/2014/main" id="{FECC114E-11D0-7D52-8DD3-E1540E6F4788}"/>
                </a:ext>
              </a:extLst>
            </p:cNvPr>
            <p:cNvCxnSpPr>
              <a:stCxn id="37" idx="3"/>
              <a:endCxn id="41" idx="1"/>
            </p:cNvCxnSpPr>
            <p:nvPr/>
          </p:nvCxnSpPr>
          <p:spPr>
            <a:xfrm>
              <a:off x="7272000" y="3960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5" name="Rectangle 4">
            <a:extLst>
              <a:ext uri="{FF2B5EF4-FFF2-40B4-BE49-F238E27FC236}">
                <a16:creationId xmlns:a16="http://schemas.microsoft.com/office/drawing/2014/main" id="{72C849BA-F112-F36E-77AE-23AA1D5AF284}"/>
              </a:ext>
            </a:extLst>
          </p:cNvPr>
          <p:cNvSpPr/>
          <p:nvPr/>
        </p:nvSpPr>
        <p:spPr bwMode="gray">
          <a:xfrm>
            <a:off x="504000" y="1440000"/>
            <a:ext cx="11088000" cy="1116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4" name="Title"/>
          <p:cNvSpPr>
            <a:spLocks noGrp="1"/>
          </p:cNvSpPr>
          <p:nvPr>
            <p:ph type="title"/>
          </p:nvPr>
        </p:nvSpPr>
        <p:spPr bwMode="gray">
          <a:xfrm>
            <a:off x="504001" y="504000"/>
            <a:ext cx="11186476" cy="677108"/>
          </a:xfrm>
          <a:noFill/>
        </p:spPr>
        <p:txBody>
          <a:bodyPr/>
          <a:lstStyle/>
          <a:p>
            <a:r>
              <a:rPr lang="en-US" dirty="0"/>
              <a:t>SAP BNAC – </a:t>
            </a:r>
            <a:r>
              <a:rPr lang="en-US" dirty="0" err="1"/>
              <a:t>PiLog</a:t>
            </a:r>
            <a:r>
              <a:rPr lang="en-US" dirty="0"/>
              <a:t> ICF Integration</a:t>
            </a:r>
            <a:br>
              <a:rPr lang="en-US" dirty="0"/>
            </a:br>
            <a:r>
              <a:rPr lang="en-US" sz="2000" dirty="0">
                <a:solidFill>
                  <a:schemeClr val="tx2"/>
                </a:solidFill>
              </a:rPr>
              <a:t>High-level flow</a:t>
            </a:r>
            <a:endParaRPr lang="en-US" dirty="0">
              <a:solidFill>
                <a:schemeClr val="tx2"/>
              </a:solidFill>
            </a:endParaRPr>
          </a:p>
        </p:txBody>
      </p:sp>
      <p:sp>
        <p:nvSpPr>
          <p:cNvPr id="6" name="Rectangle 5">
            <a:extLst>
              <a:ext uri="{FF2B5EF4-FFF2-40B4-BE49-F238E27FC236}">
                <a16:creationId xmlns:a16="http://schemas.microsoft.com/office/drawing/2014/main" id="{45269A02-4787-5B77-C319-9A62284EE096}"/>
              </a:ext>
            </a:extLst>
          </p:cNvPr>
          <p:cNvSpPr/>
          <p:nvPr/>
        </p:nvSpPr>
        <p:spPr bwMode="gray">
          <a:xfrm>
            <a:off x="504000" y="2555999"/>
            <a:ext cx="11088000" cy="1800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CB8C16A7-47AE-4617-3375-CA7DFB5B3DA6}"/>
              </a:ext>
            </a:extLst>
          </p:cNvPr>
          <p:cNvSpPr/>
          <p:nvPr/>
        </p:nvSpPr>
        <p:spPr bwMode="gray">
          <a:xfrm>
            <a:off x="504000" y="5290466"/>
            <a:ext cx="11088000" cy="936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 name="Rectangle 7">
            <a:extLst>
              <a:ext uri="{FF2B5EF4-FFF2-40B4-BE49-F238E27FC236}">
                <a16:creationId xmlns:a16="http://schemas.microsoft.com/office/drawing/2014/main" id="{AB64F391-AE9E-77B4-39F6-A82F33B42E78}"/>
              </a:ext>
            </a:extLst>
          </p:cNvPr>
          <p:cNvSpPr/>
          <p:nvPr/>
        </p:nvSpPr>
        <p:spPr bwMode="gray">
          <a:xfrm>
            <a:off x="504000" y="1440000"/>
            <a:ext cx="360000" cy="1116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ERP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0" name="Rectangle 9">
            <a:extLst>
              <a:ext uri="{FF2B5EF4-FFF2-40B4-BE49-F238E27FC236}">
                <a16:creationId xmlns:a16="http://schemas.microsoft.com/office/drawing/2014/main" id="{68E72CC6-FA44-E498-58B4-3F2A54AAF70E}"/>
              </a:ext>
            </a:extLst>
          </p:cNvPr>
          <p:cNvSpPr/>
          <p:nvPr/>
        </p:nvSpPr>
        <p:spPr bwMode="gray">
          <a:xfrm>
            <a:off x="504000" y="2555999"/>
            <a:ext cx="360000" cy="1800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BNAC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1" name="Rectangle 10">
            <a:extLst>
              <a:ext uri="{FF2B5EF4-FFF2-40B4-BE49-F238E27FC236}">
                <a16:creationId xmlns:a16="http://schemas.microsoft.com/office/drawing/2014/main" id="{4AC7DF2A-84E0-613A-2ABB-A3DEBE847524}"/>
              </a:ext>
            </a:extLst>
          </p:cNvPr>
          <p:cNvSpPr/>
          <p:nvPr/>
        </p:nvSpPr>
        <p:spPr bwMode="gray">
          <a:xfrm>
            <a:off x="504000" y="5292000"/>
            <a:ext cx="360000" cy="936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 ICF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grpSp>
        <p:nvGrpSpPr>
          <p:cNvPr id="32" name="Group 31">
            <a:extLst>
              <a:ext uri="{FF2B5EF4-FFF2-40B4-BE49-F238E27FC236}">
                <a16:creationId xmlns:a16="http://schemas.microsoft.com/office/drawing/2014/main" id="{66AD0DA5-4548-08B8-8E52-FA7C1DD849B9}"/>
              </a:ext>
            </a:extLst>
          </p:cNvPr>
          <p:cNvGrpSpPr/>
          <p:nvPr/>
        </p:nvGrpSpPr>
        <p:grpSpPr>
          <a:xfrm>
            <a:off x="1080000" y="1800000"/>
            <a:ext cx="3888000" cy="576000"/>
            <a:chOff x="1080000" y="1908000"/>
            <a:chExt cx="3888000" cy="576000"/>
          </a:xfrm>
          <a:solidFill>
            <a:schemeClr val="bg1"/>
          </a:solidFill>
        </p:grpSpPr>
        <p:sp>
          <p:nvSpPr>
            <p:cNvPr id="12" name="Rectangle: Rounded Corners 11">
              <a:extLst>
                <a:ext uri="{FF2B5EF4-FFF2-40B4-BE49-F238E27FC236}">
                  <a16:creationId xmlns:a16="http://schemas.microsoft.com/office/drawing/2014/main" id="{D3D3FCD2-31B2-8C92-FAC3-D5D5DCAE4B42}"/>
                </a:ext>
              </a:extLst>
            </p:cNvPr>
            <p:cNvSpPr/>
            <p:nvPr/>
          </p:nvSpPr>
          <p:spPr bwMode="gray">
            <a:xfrm>
              <a:off x="1800000" y="1908000"/>
              <a:ext cx="864000" cy="576000"/>
            </a:xfrm>
            <a:prstGeom prst="roundRect">
              <a:avLst/>
            </a:prstGeom>
            <a:grpFill/>
            <a:ln w="254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Check technical objects and dependent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3" name="Oval 12">
              <a:extLst>
                <a:ext uri="{FF2B5EF4-FFF2-40B4-BE49-F238E27FC236}">
                  <a16:creationId xmlns:a16="http://schemas.microsoft.com/office/drawing/2014/main" id="{7FE09339-111B-7113-89B7-D865A7ABFE4B}"/>
                </a:ext>
              </a:extLst>
            </p:cNvPr>
            <p:cNvSpPr/>
            <p:nvPr/>
          </p:nvSpPr>
          <p:spPr bwMode="gray">
            <a:xfrm>
              <a:off x="1080000" y="1980001"/>
              <a:ext cx="432000" cy="432000"/>
            </a:xfrm>
            <a:prstGeom prst="ellipse">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Start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5" name="Straight Arrow Connector 14">
              <a:extLst>
                <a:ext uri="{FF2B5EF4-FFF2-40B4-BE49-F238E27FC236}">
                  <a16:creationId xmlns:a16="http://schemas.microsoft.com/office/drawing/2014/main" id="{3629BCEA-5999-5F21-C6A7-F517224EA9BC}"/>
                </a:ext>
              </a:extLst>
            </p:cNvPr>
            <p:cNvCxnSpPr>
              <a:stCxn id="13" idx="6"/>
              <a:endCxn id="12" idx="1"/>
            </p:cNvCxnSpPr>
            <p:nvPr/>
          </p:nvCxnSpPr>
          <p:spPr>
            <a:xfrm flipV="1">
              <a:off x="1512000" y="2196000"/>
              <a:ext cx="288000" cy="1"/>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Flowchart: Decision 15">
              <a:extLst>
                <a:ext uri="{FF2B5EF4-FFF2-40B4-BE49-F238E27FC236}">
                  <a16:creationId xmlns:a16="http://schemas.microsoft.com/office/drawing/2014/main" id="{6284742F-6CA0-1CA1-EE57-8064528AFD59}"/>
                </a:ext>
              </a:extLst>
            </p:cNvPr>
            <p:cNvSpPr>
              <a:spLocks/>
            </p:cNvSpPr>
            <p:nvPr/>
          </p:nvSpPr>
          <p:spPr bwMode="gray">
            <a:xfrm>
              <a:off x="2952000" y="1908000"/>
              <a:ext cx="864000" cy="576000"/>
            </a:xfrm>
            <a:prstGeom prst="flowChartDecision">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Issues with data quality?</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7" name="Straight Arrow Connector 16">
              <a:extLst>
                <a:ext uri="{FF2B5EF4-FFF2-40B4-BE49-F238E27FC236}">
                  <a16:creationId xmlns:a16="http://schemas.microsoft.com/office/drawing/2014/main" id="{8546BF96-EA1E-BB2A-8935-1BDC23AAD16F}"/>
                </a:ext>
              </a:extLst>
            </p:cNvPr>
            <p:cNvCxnSpPr>
              <a:cxnSpLocks/>
              <a:stCxn id="12" idx="3"/>
              <a:endCxn id="16" idx="1"/>
            </p:cNvCxnSpPr>
            <p:nvPr/>
          </p:nvCxnSpPr>
          <p:spPr>
            <a:xfrm>
              <a:off x="2664000" y="219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2A1C897-252F-51C1-C74D-162F6CD167A8}"/>
                </a:ext>
              </a:extLst>
            </p:cNvPr>
            <p:cNvSpPr/>
            <p:nvPr/>
          </p:nvSpPr>
          <p:spPr bwMode="gray">
            <a:xfrm>
              <a:off x="4104000" y="1908000"/>
              <a:ext cx="864000" cy="576000"/>
            </a:xfrm>
            <a:prstGeom prst="roundRect">
              <a:avLst/>
            </a:prstGeom>
            <a:grp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Replicate technical </a:t>
              </a:r>
              <a:r>
                <a:rPr lang="en-US" sz="800" kern="0" dirty="0">
                  <a:latin typeface="+mn-lt"/>
                  <a:ea typeface="Arial Unicode MS" pitchFamily="34" charset="-128"/>
                  <a:cs typeface="Arial Unicode MS" pitchFamily="34" charset="-128"/>
                </a:rPr>
                <a:t>data objects to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2" name="Straight Arrow Connector 21">
              <a:extLst>
                <a:ext uri="{FF2B5EF4-FFF2-40B4-BE49-F238E27FC236}">
                  <a16:creationId xmlns:a16="http://schemas.microsoft.com/office/drawing/2014/main" id="{37E7ED3B-8D51-A382-0D6C-09C968077671}"/>
                </a:ext>
              </a:extLst>
            </p:cNvPr>
            <p:cNvCxnSpPr>
              <a:stCxn id="16" idx="3"/>
              <a:endCxn id="20" idx="1"/>
            </p:cNvCxnSpPr>
            <p:nvPr/>
          </p:nvCxnSpPr>
          <p:spPr>
            <a:xfrm>
              <a:off x="3816000" y="219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27" name="Straight Arrow Connector 26">
            <a:extLst>
              <a:ext uri="{FF2B5EF4-FFF2-40B4-BE49-F238E27FC236}">
                <a16:creationId xmlns:a16="http://schemas.microsoft.com/office/drawing/2014/main" id="{53481B41-D53E-0D74-E3B5-C875CB09D736}"/>
              </a:ext>
            </a:extLst>
          </p:cNvPr>
          <p:cNvCxnSpPr>
            <a:stCxn id="20" idx="2"/>
            <a:endCxn id="25" idx="0"/>
          </p:cNvCxnSpPr>
          <p:nvPr/>
        </p:nvCxnSpPr>
        <p:spPr>
          <a:xfrm>
            <a:off x="4536000" y="2376000"/>
            <a:ext cx="0" cy="3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F025BC76-A74E-3846-ABB2-EEB863039877}"/>
              </a:ext>
            </a:extLst>
          </p:cNvPr>
          <p:cNvGrpSpPr/>
          <p:nvPr/>
        </p:nvGrpSpPr>
        <p:grpSpPr>
          <a:xfrm>
            <a:off x="4104000" y="2736000"/>
            <a:ext cx="2016000" cy="576000"/>
            <a:chOff x="4104000" y="3348000"/>
            <a:chExt cx="2016000" cy="576000"/>
          </a:xfrm>
          <a:solidFill>
            <a:schemeClr val="bg1"/>
          </a:solidFill>
        </p:grpSpPr>
        <p:sp>
          <p:nvSpPr>
            <p:cNvPr id="23" name="Rectangle: Rounded Corners 22">
              <a:extLst>
                <a:ext uri="{FF2B5EF4-FFF2-40B4-BE49-F238E27FC236}">
                  <a16:creationId xmlns:a16="http://schemas.microsoft.com/office/drawing/2014/main" id="{29C82537-6136-C62C-7891-40281803ECED}"/>
                </a:ext>
              </a:extLst>
            </p:cNvPr>
            <p:cNvSpPr/>
            <p:nvPr/>
          </p:nvSpPr>
          <p:spPr bwMode="gray">
            <a:xfrm>
              <a:off x="5256000" y="3348000"/>
              <a:ext cx="864000" cy="576000"/>
            </a:xfrm>
            <a:prstGeom prst="roundRect">
              <a:avLst/>
            </a:prstGeom>
            <a:grp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Send improvement request to OEM</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5" name="Flowchart: Decision 24">
              <a:extLst>
                <a:ext uri="{FF2B5EF4-FFF2-40B4-BE49-F238E27FC236}">
                  <a16:creationId xmlns:a16="http://schemas.microsoft.com/office/drawing/2014/main" id="{DA8F1FDC-0E2B-3CE0-34CF-A41E30D5EACF}"/>
                </a:ext>
              </a:extLst>
            </p:cNvPr>
            <p:cNvSpPr>
              <a:spLocks/>
            </p:cNvSpPr>
            <p:nvPr/>
          </p:nvSpPr>
          <p:spPr bwMode="gray">
            <a:xfrm>
              <a:off x="4104000" y="3348000"/>
              <a:ext cx="864000" cy="576000"/>
            </a:xfrm>
            <a:prstGeom prst="flowChartDecision">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 OEM in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8" name="Straight Arrow Connector 27">
              <a:extLst>
                <a:ext uri="{FF2B5EF4-FFF2-40B4-BE49-F238E27FC236}">
                  <a16:creationId xmlns:a16="http://schemas.microsoft.com/office/drawing/2014/main" id="{A061FDF0-2D41-DED1-2826-947062AE372C}"/>
                </a:ext>
              </a:extLst>
            </p:cNvPr>
            <p:cNvCxnSpPr>
              <a:cxnSpLocks/>
              <a:stCxn id="25" idx="3"/>
              <a:endCxn id="23" idx="1"/>
            </p:cNvCxnSpPr>
            <p:nvPr/>
          </p:nvCxnSpPr>
          <p:spPr>
            <a:xfrm>
              <a:off x="4968000" y="363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43" name="Straight Arrow Connector 42">
            <a:extLst>
              <a:ext uri="{FF2B5EF4-FFF2-40B4-BE49-F238E27FC236}">
                <a16:creationId xmlns:a16="http://schemas.microsoft.com/office/drawing/2014/main" id="{50F7FF99-860C-74D2-CB45-E78575664418}"/>
              </a:ext>
            </a:extLst>
          </p:cNvPr>
          <p:cNvCxnSpPr>
            <a:stCxn id="23" idx="2"/>
            <a:endCxn id="36" idx="0"/>
          </p:cNvCxnSpPr>
          <p:nvPr/>
        </p:nvCxnSpPr>
        <p:spPr>
          <a:xfrm>
            <a:off x="5688000" y="3312000"/>
            <a:ext cx="0" cy="1224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Rectangle: Rounded Corners 45">
            <a:extLst>
              <a:ext uri="{FF2B5EF4-FFF2-40B4-BE49-F238E27FC236}">
                <a16:creationId xmlns:a16="http://schemas.microsoft.com/office/drawing/2014/main" id="{39F5DFB1-4CDE-D867-F68D-3046A3B3B807}"/>
              </a:ext>
            </a:extLst>
          </p:cNvPr>
          <p:cNvSpPr/>
          <p:nvPr/>
        </p:nvSpPr>
        <p:spPr bwMode="gray">
          <a:xfrm>
            <a:off x="7560000" y="2737534"/>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improvements from OEM</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7" name="Flowchart: Decision 46">
            <a:extLst>
              <a:ext uri="{FF2B5EF4-FFF2-40B4-BE49-F238E27FC236}">
                <a16:creationId xmlns:a16="http://schemas.microsoft.com/office/drawing/2014/main" id="{9D06724D-E6F0-07DC-FEB1-2B30E0AFEE65}"/>
              </a:ext>
            </a:extLst>
          </p:cNvPr>
          <p:cNvSpPr>
            <a:spLocks/>
          </p:cNvSpPr>
          <p:nvPr/>
        </p:nvSpPr>
        <p:spPr bwMode="gray">
          <a:xfrm>
            <a:off x="9961228" y="2736000"/>
            <a:ext cx="864000" cy="576000"/>
          </a:xfrm>
          <a:prstGeom prst="flowChartDecision">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MDG needed?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9" name="Rectangle: Rounded Corners 48">
            <a:extLst>
              <a:ext uri="{FF2B5EF4-FFF2-40B4-BE49-F238E27FC236}">
                <a16:creationId xmlns:a16="http://schemas.microsoft.com/office/drawing/2014/main" id="{67744F4D-899B-9004-17AB-7DD6E49BF31E}"/>
              </a:ext>
            </a:extLst>
          </p:cNvPr>
          <p:cNvSpPr/>
          <p:nvPr/>
        </p:nvSpPr>
        <p:spPr bwMode="gray">
          <a:xfrm>
            <a:off x="11113867" y="1800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Technical objects with good quality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0" name="Oval 49">
            <a:extLst>
              <a:ext uri="{FF2B5EF4-FFF2-40B4-BE49-F238E27FC236}">
                <a16:creationId xmlns:a16="http://schemas.microsoft.com/office/drawing/2014/main" id="{AEFDC506-2253-C220-736A-AA3607ED4B29}"/>
              </a:ext>
            </a:extLst>
          </p:cNvPr>
          <p:cNvSpPr/>
          <p:nvPr/>
        </p:nvSpPr>
        <p:spPr bwMode="gray">
          <a:xfrm>
            <a:off x="12265867" y="1872832"/>
            <a:ext cx="432000" cy="432000"/>
          </a:xfrm>
          <a:prstGeom prst="ellipse">
            <a:avLst/>
          </a:prstGeom>
          <a:solidFill>
            <a:schemeClr val="bg1"/>
          </a:solidFill>
          <a:ln w="41275" cmpd="tri"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End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52" name="Straight Arrow Connector 51">
            <a:extLst>
              <a:ext uri="{FF2B5EF4-FFF2-40B4-BE49-F238E27FC236}">
                <a16:creationId xmlns:a16="http://schemas.microsoft.com/office/drawing/2014/main" id="{F0C54442-E41C-7A9A-2FB0-D7E51559E7A1}"/>
              </a:ext>
            </a:extLst>
          </p:cNvPr>
          <p:cNvCxnSpPr>
            <a:cxnSpLocks/>
            <a:endCxn id="50" idx="2"/>
          </p:cNvCxnSpPr>
          <p:nvPr/>
        </p:nvCxnSpPr>
        <p:spPr>
          <a:xfrm>
            <a:off x="11977867" y="2088000"/>
            <a:ext cx="288000" cy="832"/>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AB54774-DA78-D7B7-127C-00FECCB38E7F}"/>
              </a:ext>
            </a:extLst>
          </p:cNvPr>
          <p:cNvCxnSpPr>
            <a:stCxn id="41" idx="0"/>
            <a:endCxn id="46" idx="2"/>
          </p:cNvCxnSpPr>
          <p:nvPr/>
        </p:nvCxnSpPr>
        <p:spPr>
          <a:xfrm flipV="1">
            <a:off x="7992000" y="3313534"/>
            <a:ext cx="0" cy="1222466"/>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0BD7418-D8D2-BFC2-F6DF-91DBE9764C33}"/>
              </a:ext>
            </a:extLst>
          </p:cNvPr>
          <p:cNvCxnSpPr>
            <a:stCxn id="46" idx="3"/>
            <a:endCxn id="47" idx="1"/>
          </p:cNvCxnSpPr>
          <p:nvPr/>
        </p:nvCxnSpPr>
        <p:spPr>
          <a:xfrm flipV="1">
            <a:off x="8424000" y="3024000"/>
            <a:ext cx="1537228" cy="1534"/>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CB6ABFB-FC6A-7770-9DFD-F752391BF2DB}"/>
              </a:ext>
            </a:extLst>
          </p:cNvPr>
          <p:cNvCxnSpPr>
            <a:stCxn id="47" idx="3"/>
            <a:endCxn id="48" idx="1"/>
          </p:cNvCxnSpPr>
          <p:nvPr/>
        </p:nvCxnSpPr>
        <p:spPr>
          <a:xfrm>
            <a:off x="10825228" y="3024000"/>
            <a:ext cx="288639"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0" name="Rectangle: Rounded Corners 59">
            <a:extLst>
              <a:ext uri="{FF2B5EF4-FFF2-40B4-BE49-F238E27FC236}">
                <a16:creationId xmlns:a16="http://schemas.microsoft.com/office/drawing/2014/main" id="{7FCCE1A3-97E5-194C-5E08-98547513CACD}"/>
              </a:ext>
            </a:extLst>
          </p:cNvPr>
          <p:cNvSpPr/>
          <p:nvPr/>
        </p:nvSpPr>
        <p:spPr bwMode="gray">
          <a:xfrm>
            <a:off x="4104000" y="3600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Check for data in </a:t>
            </a:r>
            <a:r>
              <a:rPr kumimoji="0" lang="en-US" sz="8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lang="en-US" sz="800" kern="0" dirty="0">
                <a:latin typeface="+mn-lt"/>
                <a:ea typeface="Arial Unicode MS" pitchFamily="34" charset="-128"/>
                <a:cs typeface="Arial Unicode MS" pitchFamily="34" charset="-128"/>
              </a:rPr>
              <a:t> ICF</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2" name="Straight Arrow Connector 61">
            <a:extLst>
              <a:ext uri="{FF2B5EF4-FFF2-40B4-BE49-F238E27FC236}">
                <a16:creationId xmlns:a16="http://schemas.microsoft.com/office/drawing/2014/main" id="{9169D0F3-2BFE-3693-43B4-59ED9FF4D37A}"/>
              </a:ext>
            </a:extLst>
          </p:cNvPr>
          <p:cNvCxnSpPr>
            <a:stCxn id="25" idx="2"/>
            <a:endCxn id="60" idx="0"/>
          </p:cNvCxnSpPr>
          <p:nvPr/>
        </p:nvCxnSpPr>
        <p:spPr>
          <a:xfrm>
            <a:off x="4536000" y="3312000"/>
            <a:ext cx="0" cy="288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2DAC5B00-77C6-4107-6991-863F22ACD9FA}"/>
              </a:ext>
            </a:extLst>
          </p:cNvPr>
          <p:cNvSpPr/>
          <p:nvPr/>
        </p:nvSpPr>
        <p:spPr bwMode="gray">
          <a:xfrm>
            <a:off x="4104000"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Find OEM content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5" name="Straight Arrow Connector 64">
            <a:extLst>
              <a:ext uri="{FF2B5EF4-FFF2-40B4-BE49-F238E27FC236}">
                <a16:creationId xmlns:a16="http://schemas.microsoft.com/office/drawing/2014/main" id="{A2EEED2E-41D8-B86D-792B-CF5371139B47}"/>
              </a:ext>
            </a:extLst>
          </p:cNvPr>
          <p:cNvCxnSpPr>
            <a:stCxn id="60" idx="2"/>
            <a:endCxn id="63" idx="0"/>
          </p:cNvCxnSpPr>
          <p:nvPr/>
        </p:nvCxnSpPr>
        <p:spPr>
          <a:xfrm>
            <a:off x="4536000" y="4176000"/>
            <a:ext cx="0" cy="1296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9C5CC83-A18D-8356-DEBD-23D9DBFB618C}"/>
              </a:ext>
            </a:extLst>
          </p:cNvPr>
          <p:cNvCxnSpPr>
            <a:stCxn id="48" idx="0"/>
            <a:endCxn id="49" idx="2"/>
          </p:cNvCxnSpPr>
          <p:nvPr/>
        </p:nvCxnSpPr>
        <p:spPr>
          <a:xfrm flipV="1">
            <a:off x="11545867" y="2376000"/>
            <a:ext cx="0" cy="3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AC3EBF8E-80FA-7BFE-29FD-D118899B706C}"/>
              </a:ext>
            </a:extLst>
          </p:cNvPr>
          <p:cNvSpPr/>
          <p:nvPr/>
        </p:nvSpPr>
        <p:spPr bwMode="gray">
          <a:xfrm>
            <a:off x="1080000" y="4608000"/>
            <a:ext cx="432000" cy="432000"/>
          </a:xfrm>
          <a:prstGeom prst="ellipse">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Start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9" name="Straight Arrow Connector 68">
            <a:extLst>
              <a:ext uri="{FF2B5EF4-FFF2-40B4-BE49-F238E27FC236}">
                <a16:creationId xmlns:a16="http://schemas.microsoft.com/office/drawing/2014/main" id="{3E20587D-02B0-1E53-C6DD-C994635A125F}"/>
              </a:ext>
            </a:extLst>
          </p:cNvPr>
          <p:cNvCxnSpPr>
            <a:cxnSpLocks/>
            <a:stCxn id="68" idx="6"/>
            <a:endCxn id="36" idx="1"/>
          </p:cNvCxnSpPr>
          <p:nvPr/>
        </p:nvCxnSpPr>
        <p:spPr>
          <a:xfrm>
            <a:off x="1512000" y="4824000"/>
            <a:ext cx="3744000"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4F19B4F2-A0AA-B15C-8DD6-A7BB83C0C3C8}"/>
              </a:ext>
            </a:extLst>
          </p:cNvPr>
          <p:cNvSpPr/>
          <p:nvPr/>
        </p:nvSpPr>
        <p:spPr bwMode="gray">
          <a:xfrm>
            <a:off x="12265867" y="4608000"/>
            <a:ext cx="432000" cy="432000"/>
          </a:xfrm>
          <a:prstGeom prst="ellipse">
            <a:avLst/>
          </a:prstGeom>
          <a:solidFill>
            <a:schemeClr val="bg1"/>
          </a:solidFill>
          <a:ln w="41275" cmpd="tri"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End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4" name="Straight Arrow Connector 73">
            <a:extLst>
              <a:ext uri="{FF2B5EF4-FFF2-40B4-BE49-F238E27FC236}">
                <a16:creationId xmlns:a16="http://schemas.microsoft.com/office/drawing/2014/main" id="{24B58ECE-EBFA-77FC-E56B-46A36AD2D98D}"/>
              </a:ext>
            </a:extLst>
          </p:cNvPr>
          <p:cNvCxnSpPr>
            <a:stCxn id="41" idx="3"/>
            <a:endCxn id="71" idx="2"/>
          </p:cNvCxnSpPr>
          <p:nvPr/>
        </p:nvCxnSpPr>
        <p:spPr>
          <a:xfrm>
            <a:off x="8424000" y="4824000"/>
            <a:ext cx="3841867"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5" name="Rectangle: Rounded Corners 74">
            <a:extLst>
              <a:ext uri="{FF2B5EF4-FFF2-40B4-BE49-F238E27FC236}">
                <a16:creationId xmlns:a16="http://schemas.microsoft.com/office/drawing/2014/main" id="{EA46F371-08ED-01E1-CFCA-0915C8CCC67F}"/>
              </a:ext>
            </a:extLst>
          </p:cNvPr>
          <p:cNvSpPr/>
          <p:nvPr/>
        </p:nvSpPr>
        <p:spPr bwMode="gray">
          <a:xfrm>
            <a:off x="9961228"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Review, governance, check, validation (Fiori App?!)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7" name="Straight Arrow Connector 76">
            <a:extLst>
              <a:ext uri="{FF2B5EF4-FFF2-40B4-BE49-F238E27FC236}">
                <a16:creationId xmlns:a16="http://schemas.microsoft.com/office/drawing/2014/main" id="{FEDE36DC-5BB9-50F5-ED57-06E2394E6178}"/>
              </a:ext>
            </a:extLst>
          </p:cNvPr>
          <p:cNvCxnSpPr>
            <a:stCxn id="47" idx="2"/>
            <a:endCxn id="75" idx="0"/>
          </p:cNvCxnSpPr>
          <p:nvPr/>
        </p:nvCxnSpPr>
        <p:spPr>
          <a:xfrm>
            <a:off x="10393228" y="3312000"/>
            <a:ext cx="0" cy="2160000"/>
          </a:xfrm>
          <a:prstGeom prst="straightConnector1">
            <a:avLst/>
          </a:prstGeom>
          <a:ln w="25400">
            <a:solidFill>
              <a:schemeClr val="accent5"/>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7E6B2CB0-362D-C994-1503-96EB274FDA11}"/>
              </a:ext>
            </a:extLst>
          </p:cNvPr>
          <p:cNvCxnSpPr>
            <a:stCxn id="75" idx="3"/>
            <a:endCxn id="49" idx="1"/>
          </p:cNvCxnSpPr>
          <p:nvPr/>
        </p:nvCxnSpPr>
        <p:spPr>
          <a:xfrm flipV="1">
            <a:off x="10825228" y="2088000"/>
            <a:ext cx="288639" cy="3672000"/>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6FFE665-E34C-E7A5-A14E-73C1D8D8A40A}"/>
              </a:ext>
            </a:extLst>
          </p:cNvPr>
          <p:cNvCxnSpPr>
            <a:stCxn id="63" idx="3"/>
            <a:endCxn id="75" idx="1"/>
          </p:cNvCxnSpPr>
          <p:nvPr/>
        </p:nvCxnSpPr>
        <p:spPr>
          <a:xfrm>
            <a:off x="4968000" y="5760000"/>
            <a:ext cx="4993228"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00566158-C96E-B7E6-BB4F-45CCD98BBC12}"/>
              </a:ext>
            </a:extLst>
          </p:cNvPr>
          <p:cNvSpPr/>
          <p:nvPr/>
        </p:nvSpPr>
        <p:spPr bwMode="gray">
          <a:xfrm>
            <a:off x="3815681" y="1908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85" name="Connector: Elbow 84">
            <a:extLst>
              <a:ext uri="{FF2B5EF4-FFF2-40B4-BE49-F238E27FC236}">
                <a16:creationId xmlns:a16="http://schemas.microsoft.com/office/drawing/2014/main" id="{B18226BB-CC58-3A8A-E4B0-DF359DF37557}"/>
              </a:ext>
            </a:extLst>
          </p:cNvPr>
          <p:cNvCxnSpPr>
            <a:stCxn id="16" idx="0"/>
            <a:endCxn id="50" idx="0"/>
          </p:cNvCxnSpPr>
          <p:nvPr/>
        </p:nvCxnSpPr>
        <p:spPr>
          <a:xfrm rot="16200000" flipH="1">
            <a:off x="7896517" y="-2712517"/>
            <a:ext cx="72832" cy="9097867"/>
          </a:xfrm>
          <a:prstGeom prst="bentConnector3">
            <a:avLst>
              <a:gd name="adj1" fmla="val -31387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14A55AA7-AC24-CED7-8387-7069F7736209}"/>
              </a:ext>
            </a:extLst>
          </p:cNvPr>
          <p:cNvSpPr/>
          <p:nvPr/>
        </p:nvSpPr>
        <p:spPr bwMode="gray">
          <a:xfrm>
            <a:off x="3096000" y="1619168"/>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7" name="Rectangle 86">
            <a:extLst>
              <a:ext uri="{FF2B5EF4-FFF2-40B4-BE49-F238E27FC236}">
                <a16:creationId xmlns:a16="http://schemas.microsoft.com/office/drawing/2014/main" id="{6C655EEF-4D96-FE26-7237-00477DE3A28B}"/>
              </a:ext>
            </a:extLst>
          </p:cNvPr>
          <p:cNvSpPr/>
          <p:nvPr/>
        </p:nvSpPr>
        <p:spPr bwMode="gray">
          <a:xfrm>
            <a:off x="4967361" y="2844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8" name="Rectangle 87">
            <a:extLst>
              <a:ext uri="{FF2B5EF4-FFF2-40B4-BE49-F238E27FC236}">
                <a16:creationId xmlns:a16="http://schemas.microsoft.com/office/drawing/2014/main" id="{EE6F152A-8D53-2ED9-8482-9956CF8A499C}"/>
              </a:ext>
            </a:extLst>
          </p:cNvPr>
          <p:cNvSpPr/>
          <p:nvPr/>
        </p:nvSpPr>
        <p:spPr bwMode="gray">
          <a:xfrm>
            <a:off x="4248000" y="3384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9" name="Rectangle 88">
            <a:extLst>
              <a:ext uri="{FF2B5EF4-FFF2-40B4-BE49-F238E27FC236}">
                <a16:creationId xmlns:a16="http://schemas.microsoft.com/office/drawing/2014/main" id="{31DD1C70-E71D-4ACC-788B-2C4338FB9642}"/>
              </a:ext>
            </a:extLst>
          </p:cNvPr>
          <p:cNvSpPr/>
          <p:nvPr/>
        </p:nvSpPr>
        <p:spPr bwMode="gray">
          <a:xfrm>
            <a:off x="10105227" y="3383999"/>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0" name="Rectangle 89">
            <a:extLst>
              <a:ext uri="{FF2B5EF4-FFF2-40B4-BE49-F238E27FC236}">
                <a16:creationId xmlns:a16="http://schemas.microsoft.com/office/drawing/2014/main" id="{ACD4EA90-D135-493D-3370-B9DE5C8379E1}"/>
              </a:ext>
            </a:extLst>
          </p:cNvPr>
          <p:cNvSpPr/>
          <p:nvPr/>
        </p:nvSpPr>
        <p:spPr bwMode="gray">
          <a:xfrm>
            <a:off x="10824589" y="2843999"/>
            <a:ext cx="288000" cy="144000"/>
          </a:xfrm>
          <a:prstGeom prst="rect">
            <a:avLst/>
          </a:prstGeom>
          <a:solidFill>
            <a:schemeClr val="bg2">
              <a:lumMod val="40000"/>
              <a:lumOff val="60000"/>
            </a:schemeClr>
          </a:solid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8" name="Rectangle: Rounded Corners 47">
            <a:extLst>
              <a:ext uri="{FF2B5EF4-FFF2-40B4-BE49-F238E27FC236}">
                <a16:creationId xmlns:a16="http://schemas.microsoft.com/office/drawing/2014/main" id="{62874052-FABB-EA6F-71CE-1E747492EE5F}"/>
              </a:ext>
            </a:extLst>
          </p:cNvPr>
          <p:cNvSpPr/>
          <p:nvPr/>
        </p:nvSpPr>
        <p:spPr bwMode="gray">
          <a:xfrm>
            <a:off x="11113867" y="2736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Replicate improvements to SAP ERP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2" name="Rectangle 91">
            <a:extLst>
              <a:ext uri="{FF2B5EF4-FFF2-40B4-BE49-F238E27FC236}">
                <a16:creationId xmlns:a16="http://schemas.microsoft.com/office/drawing/2014/main" id="{FAC9D437-28AB-015C-E22B-25D473C0EBBA}"/>
              </a:ext>
            </a:extLst>
          </p:cNvPr>
          <p:cNvSpPr/>
          <p:nvPr/>
        </p:nvSpPr>
        <p:spPr bwMode="gray">
          <a:xfrm>
            <a:off x="504000" y="6354000"/>
            <a:ext cx="3096000" cy="287999"/>
          </a:xfrm>
          <a:prstGeom prst="rect">
            <a:avLst/>
          </a:prstGeom>
          <a:noFill/>
          <a:ln w="25400" algn="ctr">
            <a:solidFill>
              <a:schemeClr val="tx1"/>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Legend: </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3" name="Rectangle 92">
            <a:extLst>
              <a:ext uri="{FF2B5EF4-FFF2-40B4-BE49-F238E27FC236}">
                <a16:creationId xmlns:a16="http://schemas.microsoft.com/office/drawing/2014/main" id="{A70B341B-CC29-F9C9-8304-FA1A39E7A25B}"/>
              </a:ext>
            </a:extLst>
          </p:cNvPr>
          <p:cNvSpPr/>
          <p:nvPr/>
        </p:nvSpPr>
        <p:spPr bwMode="gray">
          <a:xfrm>
            <a:off x="1228200" y="6389999"/>
            <a:ext cx="1080000" cy="216000"/>
          </a:xfrm>
          <a:prstGeom prst="rect">
            <a:avLst/>
          </a:prstGeom>
          <a:solidFill>
            <a:schemeClr val="tx2">
              <a:lumMod val="20000"/>
              <a:lumOff val="80000"/>
            </a:schemeClr>
          </a:solidFill>
          <a:ln w="190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dirty="0">
                <a:ln>
                  <a:noFill/>
                </a:ln>
                <a:effectLst/>
                <a:uLnTx/>
                <a:uFillTx/>
                <a:latin typeface="+mn-lt"/>
                <a:ea typeface="Arial Unicode MS" pitchFamily="34" charset="-128"/>
                <a:cs typeface="Arial Unicode MS" pitchFamily="34" charset="-128"/>
              </a:rPr>
              <a:t>Operator</a:t>
            </a:r>
            <a:endParaRPr kumimoji="0" lang="en-DE" sz="10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4" name="Rectangle 93">
            <a:extLst>
              <a:ext uri="{FF2B5EF4-FFF2-40B4-BE49-F238E27FC236}">
                <a16:creationId xmlns:a16="http://schemas.microsoft.com/office/drawing/2014/main" id="{C8370D19-B04E-4A26-4F33-557FC69E3E15}"/>
              </a:ext>
            </a:extLst>
          </p:cNvPr>
          <p:cNvSpPr/>
          <p:nvPr/>
        </p:nvSpPr>
        <p:spPr bwMode="gray">
          <a:xfrm>
            <a:off x="2412000" y="6389999"/>
            <a:ext cx="1080000" cy="216000"/>
          </a:xfrm>
          <a:prstGeom prst="rect">
            <a:avLst/>
          </a:prstGeom>
          <a:solidFill>
            <a:schemeClr val="accent6">
              <a:lumMod val="20000"/>
              <a:lumOff val="80000"/>
            </a:schemeClr>
          </a:solidFill>
          <a:ln w="190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effectLst/>
                <a:uLnTx/>
                <a:uFillTx/>
                <a:latin typeface="+mn-lt"/>
                <a:ea typeface="Arial Unicode MS" pitchFamily="34" charset="-128"/>
                <a:cs typeface="Arial Unicode MS" pitchFamily="34" charset="-128"/>
              </a:rPr>
              <a:t>OEM</a:t>
            </a:r>
            <a:endParaRPr kumimoji="0" lang="en-DE" sz="10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 name="Rectangle: Rounded Corners 1">
            <a:extLst>
              <a:ext uri="{FF2B5EF4-FFF2-40B4-BE49-F238E27FC236}">
                <a16:creationId xmlns:a16="http://schemas.microsoft.com/office/drawing/2014/main" id="{55D02013-AC93-10A6-AAF0-CFB9C6E0FF5D}"/>
              </a:ext>
            </a:extLst>
          </p:cNvPr>
          <p:cNvSpPr/>
          <p:nvPr/>
        </p:nvSpPr>
        <p:spPr bwMode="gray">
          <a:xfrm>
            <a:off x="1800000"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 classification</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4" name="Straight Arrow Connector 3">
            <a:extLst>
              <a:ext uri="{FF2B5EF4-FFF2-40B4-BE49-F238E27FC236}">
                <a16:creationId xmlns:a16="http://schemas.microsoft.com/office/drawing/2014/main" id="{98703098-6F5A-EA56-5BEB-9A6FE9ADABB1}"/>
              </a:ext>
            </a:extLst>
          </p:cNvPr>
          <p:cNvCxnSpPr>
            <a:cxnSpLocks/>
            <a:stCxn id="2" idx="0"/>
            <a:endCxn id="40" idx="2"/>
          </p:cNvCxnSpPr>
          <p:nvPr/>
        </p:nvCxnSpPr>
        <p:spPr>
          <a:xfrm flipH="1" flipV="1">
            <a:off x="2230721" y="3371856"/>
            <a:ext cx="1279" cy="2100144"/>
          </a:xfrm>
          <a:prstGeom prst="straightConnector1">
            <a:avLst/>
          </a:prstGeom>
          <a:ln w="25400">
            <a:solidFill>
              <a:schemeClr val="accent5"/>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61D37CB2-EC96-DFA7-3857-1726FE962EAB}"/>
              </a:ext>
            </a:extLst>
          </p:cNvPr>
          <p:cNvCxnSpPr>
            <a:cxnSpLocks/>
            <a:stCxn id="2" idx="0"/>
            <a:endCxn id="42" idx="2"/>
          </p:cNvCxnSpPr>
          <p:nvPr/>
        </p:nvCxnSpPr>
        <p:spPr>
          <a:xfrm rot="5400000" flipH="1" flipV="1">
            <a:off x="828086" y="3301954"/>
            <a:ext cx="3573960" cy="766133"/>
          </a:xfrm>
          <a:prstGeom prst="bentConnector3">
            <a:avLst>
              <a:gd name="adj1" fmla="val 41976"/>
            </a:avLst>
          </a:prstGeom>
          <a:ln w="25400">
            <a:solidFill>
              <a:schemeClr val="accent3"/>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F951D5FB-E3FC-E528-9081-6A3B934E9930}"/>
              </a:ext>
            </a:extLst>
          </p:cNvPr>
          <p:cNvSpPr>
            <a:spLocks/>
          </p:cNvSpPr>
          <p:nvPr/>
        </p:nvSpPr>
        <p:spPr bwMode="gray">
          <a:xfrm>
            <a:off x="8791887" y="2736000"/>
            <a:ext cx="864000" cy="576000"/>
          </a:xfrm>
          <a:prstGeom prst="flowChartDecision">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If ECLASS or other than ISO 14224 2006</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0" name="Rectangle: Rounded Corners 29">
            <a:extLst>
              <a:ext uri="{FF2B5EF4-FFF2-40B4-BE49-F238E27FC236}">
                <a16:creationId xmlns:a16="http://schemas.microsoft.com/office/drawing/2014/main" id="{23C700E0-02A3-EC59-ECEC-896E3179DC13}"/>
              </a:ext>
            </a:extLst>
          </p:cNvPr>
          <p:cNvSpPr/>
          <p:nvPr/>
        </p:nvSpPr>
        <p:spPr bwMode="gray">
          <a:xfrm>
            <a:off x="8808589"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Classification mapping (Fiori App?!)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9" name="Straight Arrow Connector 38">
            <a:extLst>
              <a:ext uri="{FF2B5EF4-FFF2-40B4-BE49-F238E27FC236}">
                <a16:creationId xmlns:a16="http://schemas.microsoft.com/office/drawing/2014/main" id="{D0E29966-46D6-9950-7891-DEF2B33A1832}"/>
              </a:ext>
            </a:extLst>
          </p:cNvPr>
          <p:cNvCxnSpPr>
            <a:stCxn id="29" idx="2"/>
            <a:endCxn id="30" idx="0"/>
          </p:cNvCxnSpPr>
          <p:nvPr/>
        </p:nvCxnSpPr>
        <p:spPr>
          <a:xfrm>
            <a:off x="9223887" y="3312000"/>
            <a:ext cx="16702" cy="2160000"/>
          </a:xfrm>
          <a:prstGeom prst="straightConnector1">
            <a:avLst/>
          </a:prstGeom>
          <a:ln w="25400">
            <a:solidFill>
              <a:schemeClr val="accent5"/>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8A3310D-8976-CB0F-80F9-9697D5FFBF69}"/>
              </a:ext>
            </a:extLst>
          </p:cNvPr>
          <p:cNvSpPr/>
          <p:nvPr/>
        </p:nvSpPr>
        <p:spPr bwMode="gray">
          <a:xfrm>
            <a:off x="3841747" y="6226465"/>
            <a:ext cx="7750254" cy="440401"/>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800" b="0" i="0" u="none" strike="noStrike" kern="0" cap="none" spc="0" normalizeH="0" baseline="0" noProof="0" dirty="0">
                <a:ln>
                  <a:noFill/>
                </a:ln>
                <a:effectLst/>
                <a:uLnTx/>
                <a:uFillTx/>
                <a:latin typeface="+mn-lt"/>
                <a:ea typeface="Arial Unicode MS" pitchFamily="34" charset="-128"/>
                <a:cs typeface="Arial Unicode MS" pitchFamily="34" charset="-128"/>
              </a:rPr>
              <a:t> OEM</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 name="Rectangle: Rounded Corners 8">
            <a:extLst>
              <a:ext uri="{FF2B5EF4-FFF2-40B4-BE49-F238E27FC236}">
                <a16:creationId xmlns:a16="http://schemas.microsoft.com/office/drawing/2014/main" id="{050E2E40-1C77-2AA0-C23C-0103222CF7AC}"/>
              </a:ext>
            </a:extLst>
          </p:cNvPr>
          <p:cNvSpPr/>
          <p:nvPr/>
        </p:nvSpPr>
        <p:spPr bwMode="gray">
          <a:xfrm>
            <a:off x="6431879" y="6297698"/>
            <a:ext cx="864000" cy="324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Content creation via AI (Fiori App?!)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9" name="Straight Arrow Connector 18">
            <a:extLst>
              <a:ext uri="{FF2B5EF4-FFF2-40B4-BE49-F238E27FC236}">
                <a16:creationId xmlns:a16="http://schemas.microsoft.com/office/drawing/2014/main" id="{E98B4FE5-15B0-DF0A-F747-E3A981AB8337}"/>
              </a:ext>
            </a:extLst>
          </p:cNvPr>
          <p:cNvCxnSpPr>
            <a:cxnSpLocks/>
            <a:stCxn id="9" idx="0"/>
            <a:endCxn id="37" idx="2"/>
          </p:cNvCxnSpPr>
          <p:nvPr/>
        </p:nvCxnSpPr>
        <p:spPr>
          <a:xfrm flipH="1" flipV="1">
            <a:off x="6840000" y="5112000"/>
            <a:ext cx="23879" cy="1185698"/>
          </a:xfrm>
          <a:prstGeom prst="straightConnector1">
            <a:avLst/>
          </a:prstGeom>
          <a:ln w="254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C2CE97E7-77A9-3549-CC6E-17C05ED10F5C}"/>
              </a:ext>
            </a:extLst>
          </p:cNvPr>
          <p:cNvSpPr/>
          <p:nvPr/>
        </p:nvSpPr>
        <p:spPr bwMode="gray">
          <a:xfrm>
            <a:off x="1798721" y="2905390"/>
            <a:ext cx="863999" cy="466466"/>
          </a:xfrm>
          <a:prstGeom prst="round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BNAC classes</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2" name="Rectangle: Rounded Corners 41">
            <a:extLst>
              <a:ext uri="{FF2B5EF4-FFF2-40B4-BE49-F238E27FC236}">
                <a16:creationId xmlns:a16="http://schemas.microsoft.com/office/drawing/2014/main" id="{0E0F8262-E639-8BCA-1A00-F67725C7A703}"/>
              </a:ext>
            </a:extLst>
          </p:cNvPr>
          <p:cNvSpPr/>
          <p:nvPr/>
        </p:nvSpPr>
        <p:spPr bwMode="gray">
          <a:xfrm>
            <a:off x="2566133" y="1431574"/>
            <a:ext cx="863999" cy="466466"/>
          </a:xfrm>
          <a:prstGeom prst="round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ERP classes</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5" name="Oval 54">
            <a:extLst>
              <a:ext uri="{FF2B5EF4-FFF2-40B4-BE49-F238E27FC236}">
                <a16:creationId xmlns:a16="http://schemas.microsoft.com/office/drawing/2014/main" id="{FF3B5CA9-59DD-43E8-8334-3C3C1581532E}"/>
              </a:ext>
            </a:extLst>
          </p:cNvPr>
          <p:cNvSpPr/>
          <p:nvPr/>
        </p:nvSpPr>
        <p:spPr bwMode="gray">
          <a:xfrm>
            <a:off x="1844854" y="3415008"/>
            <a:ext cx="327129" cy="354096"/>
          </a:xfrm>
          <a:prstGeom prst="ellipse">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latin typeface="+mn-lt"/>
                <a:ea typeface="Arial Unicode MS" pitchFamily="34" charset="-128"/>
                <a:cs typeface="Arial Unicode MS" pitchFamily="34" charset="-128"/>
              </a:rPr>
              <a:t>1</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7" name="Oval 56">
            <a:extLst>
              <a:ext uri="{FF2B5EF4-FFF2-40B4-BE49-F238E27FC236}">
                <a16:creationId xmlns:a16="http://schemas.microsoft.com/office/drawing/2014/main" id="{1D45CCF7-8A45-DD26-F434-5A1ADE0FA2FF}"/>
              </a:ext>
            </a:extLst>
          </p:cNvPr>
          <p:cNvSpPr/>
          <p:nvPr/>
        </p:nvSpPr>
        <p:spPr bwMode="gray">
          <a:xfrm>
            <a:off x="8838020" y="3513718"/>
            <a:ext cx="327129" cy="354096"/>
          </a:xfrm>
          <a:prstGeom prst="ellipse">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latin typeface="+mn-lt"/>
                <a:ea typeface="Arial Unicode MS" pitchFamily="34" charset="-128"/>
                <a:cs typeface="Arial Unicode MS" pitchFamily="34" charset="-128"/>
              </a:rPr>
              <a:t>3</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61" name="Oval 60">
            <a:extLst>
              <a:ext uri="{FF2B5EF4-FFF2-40B4-BE49-F238E27FC236}">
                <a16:creationId xmlns:a16="http://schemas.microsoft.com/office/drawing/2014/main" id="{C3EF3EA0-92A5-B23C-0B3B-286186F283F6}"/>
              </a:ext>
            </a:extLst>
          </p:cNvPr>
          <p:cNvSpPr/>
          <p:nvPr/>
        </p:nvSpPr>
        <p:spPr bwMode="gray">
          <a:xfrm>
            <a:off x="10013256" y="3743999"/>
            <a:ext cx="327129" cy="354096"/>
          </a:xfrm>
          <a:prstGeom prst="ellipse">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latin typeface="+mn-lt"/>
                <a:ea typeface="Arial Unicode MS" pitchFamily="34" charset="-128"/>
                <a:cs typeface="Arial Unicode MS" pitchFamily="34" charset="-128"/>
              </a:rPr>
              <a:t>2</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Tree>
    <p:custDataLst>
      <p:custData r:id="rId1"/>
      <p:custData r:id="rId2"/>
    </p:custDataLst>
    <p:extLst>
      <p:ext uri="{BB962C8B-B14F-4D97-AF65-F5344CB8AC3E}">
        <p14:creationId xmlns:p14="http://schemas.microsoft.com/office/powerpoint/2010/main" val="2496845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919DDE2E-9581-C80D-B416-6C77D19A6AAF}"/>
              </a:ext>
            </a:extLst>
          </p:cNvPr>
          <p:cNvGrpSpPr/>
          <p:nvPr/>
        </p:nvGrpSpPr>
        <p:grpSpPr>
          <a:xfrm>
            <a:off x="504000" y="4356000"/>
            <a:ext cx="11088000" cy="936000"/>
            <a:chOff x="504000" y="3492000"/>
            <a:chExt cx="11088000" cy="936000"/>
          </a:xfrm>
          <a:solidFill>
            <a:schemeClr val="accent6">
              <a:lumMod val="20000"/>
              <a:lumOff val="80000"/>
            </a:schemeClr>
          </a:solidFill>
        </p:grpSpPr>
        <p:sp>
          <p:nvSpPr>
            <p:cNvPr id="34" name="Rectangle 33">
              <a:extLst>
                <a:ext uri="{FF2B5EF4-FFF2-40B4-BE49-F238E27FC236}">
                  <a16:creationId xmlns:a16="http://schemas.microsoft.com/office/drawing/2014/main" id="{C130DB6A-EF86-9678-50D0-A1CE13C0964D}"/>
                </a:ext>
              </a:extLst>
            </p:cNvPr>
            <p:cNvSpPr/>
            <p:nvPr/>
          </p:nvSpPr>
          <p:spPr bwMode="gray">
            <a:xfrm>
              <a:off x="504000" y="3492000"/>
              <a:ext cx="11088000" cy="936000"/>
            </a:xfrm>
            <a:prstGeom prst="rect">
              <a:avLst/>
            </a:prstGeom>
            <a:grp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5" name="Rectangle 34">
              <a:extLst>
                <a:ext uri="{FF2B5EF4-FFF2-40B4-BE49-F238E27FC236}">
                  <a16:creationId xmlns:a16="http://schemas.microsoft.com/office/drawing/2014/main" id="{DFB82F2C-D513-A4D8-389D-230519F441C7}"/>
                </a:ext>
              </a:extLst>
            </p:cNvPr>
            <p:cNvSpPr/>
            <p:nvPr/>
          </p:nvSpPr>
          <p:spPr bwMode="gray">
            <a:xfrm>
              <a:off x="504000" y="3492000"/>
              <a:ext cx="360000" cy="936000"/>
            </a:xfrm>
            <a:prstGeom prst="rect">
              <a:avLst/>
            </a:prstGeom>
            <a:grp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BNAC Manufacturer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6" name="Rectangle: Rounded Corners 35">
              <a:extLst>
                <a:ext uri="{FF2B5EF4-FFF2-40B4-BE49-F238E27FC236}">
                  <a16:creationId xmlns:a16="http://schemas.microsoft.com/office/drawing/2014/main" id="{02F57BE4-286D-DD26-0AFA-14C51F560518}"/>
                </a:ext>
              </a:extLst>
            </p:cNvPr>
            <p:cNvSpPr/>
            <p:nvPr/>
          </p:nvSpPr>
          <p:spPr bwMode="gray">
            <a:xfrm>
              <a:off x="5256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 request from Operator</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7" name="Rectangle: Rounded Corners 36">
              <a:extLst>
                <a:ext uri="{FF2B5EF4-FFF2-40B4-BE49-F238E27FC236}">
                  <a16:creationId xmlns:a16="http://schemas.microsoft.com/office/drawing/2014/main" id="{4F922A9C-2C39-B0EE-B0B9-3CB137FAB470}"/>
                </a:ext>
              </a:extLst>
            </p:cNvPr>
            <p:cNvSpPr/>
            <p:nvPr/>
          </p:nvSpPr>
          <p:spPr bwMode="gray">
            <a:xfrm>
              <a:off x="6408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Improve technical objects and dependent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8" name="Straight Arrow Connector 37">
              <a:extLst>
                <a:ext uri="{FF2B5EF4-FFF2-40B4-BE49-F238E27FC236}">
                  <a16:creationId xmlns:a16="http://schemas.microsoft.com/office/drawing/2014/main" id="{2D01EDF9-1F69-F757-0DDF-4355BE0D0A77}"/>
                </a:ext>
              </a:extLst>
            </p:cNvPr>
            <p:cNvCxnSpPr>
              <a:cxnSpLocks/>
              <a:stCxn id="36" idx="3"/>
              <a:endCxn id="37" idx="1"/>
            </p:cNvCxnSpPr>
            <p:nvPr/>
          </p:nvCxnSpPr>
          <p:spPr>
            <a:xfrm>
              <a:off x="6120000" y="3960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7F7A6A14-F490-0335-CEA5-A569798EECBB}"/>
                </a:ext>
              </a:extLst>
            </p:cNvPr>
            <p:cNvSpPr/>
            <p:nvPr/>
          </p:nvSpPr>
          <p:spPr bwMode="gray">
            <a:xfrm>
              <a:off x="7560000" y="36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Share improvements to Operator</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45" name="Straight Arrow Connector 44">
              <a:extLst>
                <a:ext uri="{FF2B5EF4-FFF2-40B4-BE49-F238E27FC236}">
                  <a16:creationId xmlns:a16="http://schemas.microsoft.com/office/drawing/2014/main" id="{FECC114E-11D0-7D52-8DD3-E1540E6F4788}"/>
                </a:ext>
              </a:extLst>
            </p:cNvPr>
            <p:cNvCxnSpPr>
              <a:stCxn id="37" idx="3"/>
              <a:endCxn id="41" idx="1"/>
            </p:cNvCxnSpPr>
            <p:nvPr/>
          </p:nvCxnSpPr>
          <p:spPr>
            <a:xfrm>
              <a:off x="7272000" y="3960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5" name="Rectangle 4">
            <a:extLst>
              <a:ext uri="{FF2B5EF4-FFF2-40B4-BE49-F238E27FC236}">
                <a16:creationId xmlns:a16="http://schemas.microsoft.com/office/drawing/2014/main" id="{72C849BA-F112-F36E-77AE-23AA1D5AF284}"/>
              </a:ext>
            </a:extLst>
          </p:cNvPr>
          <p:cNvSpPr/>
          <p:nvPr/>
        </p:nvSpPr>
        <p:spPr bwMode="gray">
          <a:xfrm>
            <a:off x="504000" y="1440000"/>
            <a:ext cx="11088000" cy="1116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4" name="Title"/>
          <p:cNvSpPr>
            <a:spLocks noGrp="1"/>
          </p:cNvSpPr>
          <p:nvPr>
            <p:ph type="title"/>
          </p:nvPr>
        </p:nvSpPr>
        <p:spPr bwMode="gray">
          <a:xfrm>
            <a:off x="504001" y="504000"/>
            <a:ext cx="11186476" cy="677108"/>
          </a:xfrm>
          <a:noFill/>
        </p:spPr>
        <p:txBody>
          <a:bodyPr/>
          <a:lstStyle/>
          <a:p>
            <a:r>
              <a:rPr lang="en-US" dirty="0"/>
              <a:t>SAP BNAC – </a:t>
            </a:r>
            <a:r>
              <a:rPr lang="en-US" dirty="0" err="1"/>
              <a:t>PiLog</a:t>
            </a:r>
            <a:r>
              <a:rPr lang="en-US" dirty="0"/>
              <a:t> ICF Integration</a:t>
            </a:r>
            <a:br>
              <a:rPr lang="en-US" dirty="0"/>
            </a:br>
            <a:r>
              <a:rPr lang="en-US" sz="2000" dirty="0">
                <a:solidFill>
                  <a:schemeClr val="tx2"/>
                </a:solidFill>
              </a:rPr>
              <a:t>High-level flow</a:t>
            </a:r>
            <a:endParaRPr lang="en-US" dirty="0">
              <a:solidFill>
                <a:schemeClr val="tx2"/>
              </a:solidFill>
            </a:endParaRPr>
          </a:p>
        </p:txBody>
      </p:sp>
      <p:sp>
        <p:nvSpPr>
          <p:cNvPr id="6" name="Rectangle 5">
            <a:extLst>
              <a:ext uri="{FF2B5EF4-FFF2-40B4-BE49-F238E27FC236}">
                <a16:creationId xmlns:a16="http://schemas.microsoft.com/office/drawing/2014/main" id="{45269A02-4787-5B77-C319-9A62284EE096}"/>
              </a:ext>
            </a:extLst>
          </p:cNvPr>
          <p:cNvSpPr/>
          <p:nvPr/>
        </p:nvSpPr>
        <p:spPr bwMode="gray">
          <a:xfrm>
            <a:off x="504000" y="2555999"/>
            <a:ext cx="11088000" cy="1800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CB8C16A7-47AE-4617-3375-CA7DFB5B3DA6}"/>
              </a:ext>
            </a:extLst>
          </p:cNvPr>
          <p:cNvSpPr/>
          <p:nvPr/>
        </p:nvSpPr>
        <p:spPr bwMode="gray">
          <a:xfrm>
            <a:off x="504000" y="5290466"/>
            <a:ext cx="11088000" cy="936000"/>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 name="Rectangle 7">
            <a:extLst>
              <a:ext uri="{FF2B5EF4-FFF2-40B4-BE49-F238E27FC236}">
                <a16:creationId xmlns:a16="http://schemas.microsoft.com/office/drawing/2014/main" id="{AB64F391-AE9E-77B4-39F6-A82F33B42E78}"/>
              </a:ext>
            </a:extLst>
          </p:cNvPr>
          <p:cNvSpPr/>
          <p:nvPr/>
        </p:nvSpPr>
        <p:spPr bwMode="gray">
          <a:xfrm>
            <a:off x="504000" y="1440000"/>
            <a:ext cx="360000" cy="1116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ERP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0" name="Rectangle 9">
            <a:extLst>
              <a:ext uri="{FF2B5EF4-FFF2-40B4-BE49-F238E27FC236}">
                <a16:creationId xmlns:a16="http://schemas.microsoft.com/office/drawing/2014/main" id="{68E72CC6-FA44-E498-58B4-3F2A54AAF70E}"/>
              </a:ext>
            </a:extLst>
          </p:cNvPr>
          <p:cNvSpPr/>
          <p:nvPr/>
        </p:nvSpPr>
        <p:spPr bwMode="gray">
          <a:xfrm>
            <a:off x="504000" y="2555999"/>
            <a:ext cx="360000" cy="1800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SAP BNAC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1" name="Rectangle 10">
            <a:extLst>
              <a:ext uri="{FF2B5EF4-FFF2-40B4-BE49-F238E27FC236}">
                <a16:creationId xmlns:a16="http://schemas.microsoft.com/office/drawing/2014/main" id="{4AC7DF2A-84E0-613A-2ABB-A3DEBE847524}"/>
              </a:ext>
            </a:extLst>
          </p:cNvPr>
          <p:cNvSpPr/>
          <p:nvPr/>
        </p:nvSpPr>
        <p:spPr bwMode="gray">
          <a:xfrm>
            <a:off x="504000" y="5292000"/>
            <a:ext cx="360000" cy="936000"/>
          </a:xfrm>
          <a:prstGeom prst="rect">
            <a:avLst/>
          </a:prstGeom>
          <a:solidFill>
            <a:schemeClr val="tx2">
              <a:lumMod val="20000"/>
              <a:lumOff val="80000"/>
            </a:schemeClr>
          </a:solidFill>
          <a:ln w="2540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050" b="0" i="0" u="none" strike="noStrike" kern="0" cap="none" spc="0" normalizeH="0" baseline="0" noProof="0" dirty="0">
                <a:ln>
                  <a:noFill/>
                </a:ln>
                <a:effectLst/>
                <a:uLnTx/>
                <a:uFillTx/>
                <a:latin typeface="+mn-lt"/>
                <a:ea typeface="Arial Unicode MS" pitchFamily="34" charset="-128"/>
                <a:cs typeface="Arial Unicode MS" pitchFamily="34" charset="-128"/>
              </a:rPr>
              <a:t> ICF Operator</a:t>
            </a:r>
            <a:endParaRPr kumimoji="0" lang="en-DE" sz="105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grpSp>
        <p:nvGrpSpPr>
          <p:cNvPr id="32" name="Group 31">
            <a:extLst>
              <a:ext uri="{FF2B5EF4-FFF2-40B4-BE49-F238E27FC236}">
                <a16:creationId xmlns:a16="http://schemas.microsoft.com/office/drawing/2014/main" id="{66AD0DA5-4548-08B8-8E52-FA7C1DD849B9}"/>
              </a:ext>
            </a:extLst>
          </p:cNvPr>
          <p:cNvGrpSpPr/>
          <p:nvPr/>
        </p:nvGrpSpPr>
        <p:grpSpPr>
          <a:xfrm>
            <a:off x="1080000" y="1800000"/>
            <a:ext cx="3888000" cy="576000"/>
            <a:chOff x="1080000" y="1908000"/>
            <a:chExt cx="3888000" cy="576000"/>
          </a:xfrm>
          <a:solidFill>
            <a:schemeClr val="bg1"/>
          </a:solidFill>
        </p:grpSpPr>
        <p:sp>
          <p:nvSpPr>
            <p:cNvPr id="12" name="Rectangle: Rounded Corners 11">
              <a:extLst>
                <a:ext uri="{FF2B5EF4-FFF2-40B4-BE49-F238E27FC236}">
                  <a16:creationId xmlns:a16="http://schemas.microsoft.com/office/drawing/2014/main" id="{D3D3FCD2-31B2-8C92-FAC3-D5D5DCAE4B42}"/>
                </a:ext>
              </a:extLst>
            </p:cNvPr>
            <p:cNvSpPr/>
            <p:nvPr/>
          </p:nvSpPr>
          <p:spPr bwMode="gray">
            <a:xfrm>
              <a:off x="1800000" y="1908000"/>
              <a:ext cx="864000" cy="576000"/>
            </a:xfrm>
            <a:prstGeom prst="roundRect">
              <a:avLst/>
            </a:prstGeom>
            <a:grpFill/>
            <a:ln w="25400" algn="ctr">
              <a:solidFill>
                <a:schemeClr val="tx1"/>
              </a:solidFill>
              <a:miter lim="800000"/>
              <a:headEnd/>
              <a:tailEnd/>
            </a:ln>
          </p:spPr>
          <p:txBody>
            <a:bodyPr lIns="0" tIns="0" rIns="0" bIns="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Check technical objects and dependent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13" name="Oval 12">
              <a:extLst>
                <a:ext uri="{FF2B5EF4-FFF2-40B4-BE49-F238E27FC236}">
                  <a16:creationId xmlns:a16="http://schemas.microsoft.com/office/drawing/2014/main" id="{7FE09339-111B-7113-89B7-D865A7ABFE4B}"/>
                </a:ext>
              </a:extLst>
            </p:cNvPr>
            <p:cNvSpPr/>
            <p:nvPr/>
          </p:nvSpPr>
          <p:spPr bwMode="gray">
            <a:xfrm>
              <a:off x="1080000" y="1980001"/>
              <a:ext cx="432000" cy="432000"/>
            </a:xfrm>
            <a:prstGeom prst="ellipse">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Start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5" name="Straight Arrow Connector 14">
              <a:extLst>
                <a:ext uri="{FF2B5EF4-FFF2-40B4-BE49-F238E27FC236}">
                  <a16:creationId xmlns:a16="http://schemas.microsoft.com/office/drawing/2014/main" id="{3629BCEA-5999-5F21-C6A7-F517224EA9BC}"/>
                </a:ext>
              </a:extLst>
            </p:cNvPr>
            <p:cNvCxnSpPr>
              <a:stCxn id="13" idx="6"/>
              <a:endCxn id="12" idx="1"/>
            </p:cNvCxnSpPr>
            <p:nvPr/>
          </p:nvCxnSpPr>
          <p:spPr>
            <a:xfrm flipV="1">
              <a:off x="1512000" y="2196000"/>
              <a:ext cx="288000" cy="1"/>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6" name="Flowchart: Decision 15">
              <a:extLst>
                <a:ext uri="{FF2B5EF4-FFF2-40B4-BE49-F238E27FC236}">
                  <a16:creationId xmlns:a16="http://schemas.microsoft.com/office/drawing/2014/main" id="{6284742F-6CA0-1CA1-EE57-8064528AFD59}"/>
                </a:ext>
              </a:extLst>
            </p:cNvPr>
            <p:cNvSpPr>
              <a:spLocks/>
            </p:cNvSpPr>
            <p:nvPr/>
          </p:nvSpPr>
          <p:spPr bwMode="gray">
            <a:xfrm>
              <a:off x="2952000" y="1908000"/>
              <a:ext cx="864000" cy="576000"/>
            </a:xfrm>
            <a:prstGeom prst="flowChartDecision">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Issues with data quality?</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7" name="Straight Arrow Connector 16">
              <a:extLst>
                <a:ext uri="{FF2B5EF4-FFF2-40B4-BE49-F238E27FC236}">
                  <a16:creationId xmlns:a16="http://schemas.microsoft.com/office/drawing/2014/main" id="{8546BF96-EA1E-BB2A-8935-1BDC23AAD16F}"/>
                </a:ext>
              </a:extLst>
            </p:cNvPr>
            <p:cNvCxnSpPr>
              <a:cxnSpLocks/>
              <a:stCxn id="12" idx="3"/>
              <a:endCxn id="16" idx="1"/>
            </p:cNvCxnSpPr>
            <p:nvPr/>
          </p:nvCxnSpPr>
          <p:spPr>
            <a:xfrm>
              <a:off x="2664000" y="219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22A1C897-252F-51C1-C74D-162F6CD167A8}"/>
                </a:ext>
              </a:extLst>
            </p:cNvPr>
            <p:cNvSpPr/>
            <p:nvPr/>
          </p:nvSpPr>
          <p:spPr bwMode="gray">
            <a:xfrm>
              <a:off x="4104000" y="1908000"/>
              <a:ext cx="864000" cy="576000"/>
            </a:xfrm>
            <a:prstGeom prst="roundRect">
              <a:avLst/>
            </a:prstGeom>
            <a:grp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Replicate technical </a:t>
              </a:r>
              <a:r>
                <a:rPr lang="en-US" sz="800" kern="0" dirty="0">
                  <a:latin typeface="+mn-lt"/>
                  <a:ea typeface="Arial Unicode MS" pitchFamily="34" charset="-128"/>
                  <a:cs typeface="Arial Unicode MS" pitchFamily="34" charset="-128"/>
                </a:rPr>
                <a:t>data objects to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2" name="Straight Arrow Connector 21">
              <a:extLst>
                <a:ext uri="{FF2B5EF4-FFF2-40B4-BE49-F238E27FC236}">
                  <a16:creationId xmlns:a16="http://schemas.microsoft.com/office/drawing/2014/main" id="{37E7ED3B-8D51-A382-0D6C-09C968077671}"/>
                </a:ext>
              </a:extLst>
            </p:cNvPr>
            <p:cNvCxnSpPr>
              <a:stCxn id="16" idx="3"/>
              <a:endCxn id="20" idx="1"/>
            </p:cNvCxnSpPr>
            <p:nvPr/>
          </p:nvCxnSpPr>
          <p:spPr>
            <a:xfrm>
              <a:off x="3816000" y="219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27" name="Straight Arrow Connector 26">
            <a:extLst>
              <a:ext uri="{FF2B5EF4-FFF2-40B4-BE49-F238E27FC236}">
                <a16:creationId xmlns:a16="http://schemas.microsoft.com/office/drawing/2014/main" id="{53481B41-D53E-0D74-E3B5-C875CB09D736}"/>
              </a:ext>
            </a:extLst>
          </p:cNvPr>
          <p:cNvCxnSpPr>
            <a:stCxn id="20" idx="2"/>
            <a:endCxn id="25" idx="0"/>
          </p:cNvCxnSpPr>
          <p:nvPr/>
        </p:nvCxnSpPr>
        <p:spPr>
          <a:xfrm>
            <a:off x="4536000" y="2376000"/>
            <a:ext cx="0" cy="3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F025BC76-A74E-3846-ABB2-EEB863039877}"/>
              </a:ext>
            </a:extLst>
          </p:cNvPr>
          <p:cNvGrpSpPr/>
          <p:nvPr/>
        </p:nvGrpSpPr>
        <p:grpSpPr>
          <a:xfrm>
            <a:off x="4104000" y="2736000"/>
            <a:ext cx="2016000" cy="576000"/>
            <a:chOff x="4104000" y="3348000"/>
            <a:chExt cx="2016000" cy="576000"/>
          </a:xfrm>
          <a:solidFill>
            <a:schemeClr val="bg1"/>
          </a:solidFill>
        </p:grpSpPr>
        <p:sp>
          <p:nvSpPr>
            <p:cNvPr id="23" name="Rectangle: Rounded Corners 22">
              <a:extLst>
                <a:ext uri="{FF2B5EF4-FFF2-40B4-BE49-F238E27FC236}">
                  <a16:creationId xmlns:a16="http://schemas.microsoft.com/office/drawing/2014/main" id="{29C82537-6136-C62C-7891-40281803ECED}"/>
                </a:ext>
              </a:extLst>
            </p:cNvPr>
            <p:cNvSpPr/>
            <p:nvPr/>
          </p:nvSpPr>
          <p:spPr bwMode="gray">
            <a:xfrm>
              <a:off x="5256000" y="3348000"/>
              <a:ext cx="864000" cy="576000"/>
            </a:xfrm>
            <a:prstGeom prst="roundRect">
              <a:avLst/>
            </a:prstGeom>
            <a:grp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Send improvement request to OEM</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5" name="Flowchart: Decision 24">
              <a:extLst>
                <a:ext uri="{FF2B5EF4-FFF2-40B4-BE49-F238E27FC236}">
                  <a16:creationId xmlns:a16="http://schemas.microsoft.com/office/drawing/2014/main" id="{DA8F1FDC-0E2B-3CE0-34CF-A41E30D5EACF}"/>
                </a:ext>
              </a:extLst>
            </p:cNvPr>
            <p:cNvSpPr>
              <a:spLocks/>
            </p:cNvSpPr>
            <p:nvPr/>
          </p:nvSpPr>
          <p:spPr bwMode="gray">
            <a:xfrm>
              <a:off x="4104000" y="3348000"/>
              <a:ext cx="864000" cy="576000"/>
            </a:xfrm>
            <a:prstGeom prst="flowChartDecision">
              <a:avLst/>
            </a:prstGeom>
            <a:grp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Is OEM in BNAC?</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28" name="Straight Arrow Connector 27">
              <a:extLst>
                <a:ext uri="{FF2B5EF4-FFF2-40B4-BE49-F238E27FC236}">
                  <a16:creationId xmlns:a16="http://schemas.microsoft.com/office/drawing/2014/main" id="{A061FDF0-2D41-DED1-2826-947062AE372C}"/>
                </a:ext>
              </a:extLst>
            </p:cNvPr>
            <p:cNvCxnSpPr>
              <a:cxnSpLocks/>
              <a:stCxn id="25" idx="3"/>
              <a:endCxn id="23" idx="1"/>
            </p:cNvCxnSpPr>
            <p:nvPr/>
          </p:nvCxnSpPr>
          <p:spPr>
            <a:xfrm>
              <a:off x="4968000" y="3636000"/>
              <a:ext cx="288000" cy="0"/>
            </a:xfrm>
            <a:prstGeom prst="straightConnector1">
              <a:avLst/>
            </a:prstGeom>
            <a:grpFill/>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43" name="Straight Arrow Connector 42">
            <a:extLst>
              <a:ext uri="{FF2B5EF4-FFF2-40B4-BE49-F238E27FC236}">
                <a16:creationId xmlns:a16="http://schemas.microsoft.com/office/drawing/2014/main" id="{50F7FF99-860C-74D2-CB45-E78575664418}"/>
              </a:ext>
            </a:extLst>
          </p:cNvPr>
          <p:cNvCxnSpPr>
            <a:stCxn id="23" idx="2"/>
            <a:endCxn id="36" idx="0"/>
          </p:cNvCxnSpPr>
          <p:nvPr/>
        </p:nvCxnSpPr>
        <p:spPr>
          <a:xfrm>
            <a:off x="5688000" y="3312000"/>
            <a:ext cx="0" cy="1224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Rectangle: Rounded Corners 45">
            <a:extLst>
              <a:ext uri="{FF2B5EF4-FFF2-40B4-BE49-F238E27FC236}">
                <a16:creationId xmlns:a16="http://schemas.microsoft.com/office/drawing/2014/main" id="{39F5DFB1-4CDE-D867-F68D-3046A3B3B807}"/>
              </a:ext>
            </a:extLst>
          </p:cNvPr>
          <p:cNvSpPr/>
          <p:nvPr/>
        </p:nvSpPr>
        <p:spPr bwMode="gray">
          <a:xfrm>
            <a:off x="7560000" y="2737534"/>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Receive improvements from OEM</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7" name="Flowchart: Decision 46">
            <a:extLst>
              <a:ext uri="{FF2B5EF4-FFF2-40B4-BE49-F238E27FC236}">
                <a16:creationId xmlns:a16="http://schemas.microsoft.com/office/drawing/2014/main" id="{9D06724D-E6F0-07DC-FEB1-2B30E0AFEE65}"/>
              </a:ext>
            </a:extLst>
          </p:cNvPr>
          <p:cNvSpPr>
            <a:spLocks/>
          </p:cNvSpPr>
          <p:nvPr/>
        </p:nvSpPr>
        <p:spPr bwMode="gray">
          <a:xfrm>
            <a:off x="9961228" y="2736000"/>
            <a:ext cx="864000" cy="576000"/>
          </a:xfrm>
          <a:prstGeom prst="flowChartDecision">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MDG needed?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9" name="Rectangle: Rounded Corners 48">
            <a:extLst>
              <a:ext uri="{FF2B5EF4-FFF2-40B4-BE49-F238E27FC236}">
                <a16:creationId xmlns:a16="http://schemas.microsoft.com/office/drawing/2014/main" id="{67744F4D-899B-9004-17AB-7DD6E49BF31E}"/>
              </a:ext>
            </a:extLst>
          </p:cNvPr>
          <p:cNvSpPr/>
          <p:nvPr/>
        </p:nvSpPr>
        <p:spPr bwMode="gray">
          <a:xfrm>
            <a:off x="11113867" y="1800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Technical objects with good quality data</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0" name="Oval 49">
            <a:extLst>
              <a:ext uri="{FF2B5EF4-FFF2-40B4-BE49-F238E27FC236}">
                <a16:creationId xmlns:a16="http://schemas.microsoft.com/office/drawing/2014/main" id="{AEFDC506-2253-C220-736A-AA3607ED4B29}"/>
              </a:ext>
            </a:extLst>
          </p:cNvPr>
          <p:cNvSpPr/>
          <p:nvPr/>
        </p:nvSpPr>
        <p:spPr bwMode="gray">
          <a:xfrm>
            <a:off x="12265867" y="1872832"/>
            <a:ext cx="432000" cy="432000"/>
          </a:xfrm>
          <a:prstGeom prst="ellipse">
            <a:avLst/>
          </a:prstGeom>
          <a:solidFill>
            <a:schemeClr val="bg1"/>
          </a:solidFill>
          <a:ln w="41275" cmpd="tri"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End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52" name="Straight Arrow Connector 51">
            <a:extLst>
              <a:ext uri="{FF2B5EF4-FFF2-40B4-BE49-F238E27FC236}">
                <a16:creationId xmlns:a16="http://schemas.microsoft.com/office/drawing/2014/main" id="{F0C54442-E41C-7A9A-2FB0-D7E51559E7A1}"/>
              </a:ext>
            </a:extLst>
          </p:cNvPr>
          <p:cNvCxnSpPr>
            <a:cxnSpLocks/>
            <a:endCxn id="50" idx="2"/>
          </p:cNvCxnSpPr>
          <p:nvPr/>
        </p:nvCxnSpPr>
        <p:spPr>
          <a:xfrm>
            <a:off x="11977867" y="2088000"/>
            <a:ext cx="288000" cy="832"/>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AB54774-DA78-D7B7-127C-00FECCB38E7F}"/>
              </a:ext>
            </a:extLst>
          </p:cNvPr>
          <p:cNvCxnSpPr>
            <a:stCxn id="41" idx="0"/>
            <a:endCxn id="46" idx="2"/>
          </p:cNvCxnSpPr>
          <p:nvPr/>
        </p:nvCxnSpPr>
        <p:spPr>
          <a:xfrm flipV="1">
            <a:off x="7992000" y="3313534"/>
            <a:ext cx="0" cy="1222466"/>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0BD7418-D8D2-BFC2-F6DF-91DBE9764C33}"/>
              </a:ext>
            </a:extLst>
          </p:cNvPr>
          <p:cNvCxnSpPr>
            <a:stCxn id="46" idx="3"/>
            <a:endCxn id="47" idx="1"/>
          </p:cNvCxnSpPr>
          <p:nvPr/>
        </p:nvCxnSpPr>
        <p:spPr>
          <a:xfrm flipV="1">
            <a:off x="8424000" y="3024000"/>
            <a:ext cx="1537228" cy="1534"/>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CB6ABFB-FC6A-7770-9DFD-F752391BF2DB}"/>
              </a:ext>
            </a:extLst>
          </p:cNvPr>
          <p:cNvCxnSpPr>
            <a:stCxn id="47" idx="3"/>
            <a:endCxn id="48" idx="1"/>
          </p:cNvCxnSpPr>
          <p:nvPr/>
        </p:nvCxnSpPr>
        <p:spPr>
          <a:xfrm>
            <a:off x="10825228" y="3024000"/>
            <a:ext cx="288639"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0" name="Rectangle: Rounded Corners 59">
            <a:extLst>
              <a:ext uri="{FF2B5EF4-FFF2-40B4-BE49-F238E27FC236}">
                <a16:creationId xmlns:a16="http://schemas.microsoft.com/office/drawing/2014/main" id="{7FCCE1A3-97E5-194C-5E08-98547513CACD}"/>
              </a:ext>
            </a:extLst>
          </p:cNvPr>
          <p:cNvSpPr/>
          <p:nvPr/>
        </p:nvSpPr>
        <p:spPr bwMode="gray">
          <a:xfrm>
            <a:off x="4104000" y="3600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Check for data in </a:t>
            </a:r>
            <a:r>
              <a:rPr kumimoji="0" lang="en-US" sz="8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lang="en-US" sz="800" kern="0" dirty="0">
                <a:latin typeface="+mn-lt"/>
                <a:ea typeface="Arial Unicode MS" pitchFamily="34" charset="-128"/>
                <a:cs typeface="Arial Unicode MS" pitchFamily="34" charset="-128"/>
              </a:rPr>
              <a:t> ICF</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2" name="Straight Arrow Connector 61">
            <a:extLst>
              <a:ext uri="{FF2B5EF4-FFF2-40B4-BE49-F238E27FC236}">
                <a16:creationId xmlns:a16="http://schemas.microsoft.com/office/drawing/2014/main" id="{9169D0F3-2BFE-3693-43B4-59ED9FF4D37A}"/>
              </a:ext>
            </a:extLst>
          </p:cNvPr>
          <p:cNvCxnSpPr>
            <a:stCxn id="25" idx="2"/>
            <a:endCxn id="60" idx="0"/>
          </p:cNvCxnSpPr>
          <p:nvPr/>
        </p:nvCxnSpPr>
        <p:spPr>
          <a:xfrm>
            <a:off x="4536000" y="3312000"/>
            <a:ext cx="0" cy="288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2DAC5B00-77C6-4107-6991-863F22ACD9FA}"/>
              </a:ext>
            </a:extLst>
          </p:cNvPr>
          <p:cNvSpPr/>
          <p:nvPr/>
        </p:nvSpPr>
        <p:spPr bwMode="gray">
          <a:xfrm>
            <a:off x="4104000"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Find OEM content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5" name="Straight Arrow Connector 64">
            <a:extLst>
              <a:ext uri="{FF2B5EF4-FFF2-40B4-BE49-F238E27FC236}">
                <a16:creationId xmlns:a16="http://schemas.microsoft.com/office/drawing/2014/main" id="{A2EEED2E-41D8-B86D-792B-CF5371139B47}"/>
              </a:ext>
            </a:extLst>
          </p:cNvPr>
          <p:cNvCxnSpPr>
            <a:stCxn id="60" idx="2"/>
            <a:endCxn id="63" idx="0"/>
          </p:cNvCxnSpPr>
          <p:nvPr/>
        </p:nvCxnSpPr>
        <p:spPr>
          <a:xfrm>
            <a:off x="4536000" y="4176000"/>
            <a:ext cx="0" cy="1296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9C5CC83-A18D-8356-DEBD-23D9DBFB618C}"/>
              </a:ext>
            </a:extLst>
          </p:cNvPr>
          <p:cNvCxnSpPr>
            <a:stCxn id="48" idx="0"/>
            <a:endCxn id="49" idx="2"/>
          </p:cNvCxnSpPr>
          <p:nvPr/>
        </p:nvCxnSpPr>
        <p:spPr>
          <a:xfrm flipV="1">
            <a:off x="11545867" y="2376000"/>
            <a:ext cx="0" cy="36000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AC3EBF8E-80FA-7BFE-29FD-D118899B706C}"/>
              </a:ext>
            </a:extLst>
          </p:cNvPr>
          <p:cNvSpPr/>
          <p:nvPr/>
        </p:nvSpPr>
        <p:spPr bwMode="gray">
          <a:xfrm>
            <a:off x="1080000" y="4608000"/>
            <a:ext cx="432000" cy="432000"/>
          </a:xfrm>
          <a:prstGeom prst="ellipse">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Start</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69" name="Straight Arrow Connector 68">
            <a:extLst>
              <a:ext uri="{FF2B5EF4-FFF2-40B4-BE49-F238E27FC236}">
                <a16:creationId xmlns:a16="http://schemas.microsoft.com/office/drawing/2014/main" id="{3E20587D-02B0-1E53-C6DD-C994635A125F}"/>
              </a:ext>
            </a:extLst>
          </p:cNvPr>
          <p:cNvCxnSpPr>
            <a:cxnSpLocks/>
            <a:stCxn id="68" idx="6"/>
            <a:endCxn id="36" idx="1"/>
          </p:cNvCxnSpPr>
          <p:nvPr/>
        </p:nvCxnSpPr>
        <p:spPr>
          <a:xfrm>
            <a:off x="1512000" y="4824000"/>
            <a:ext cx="3744000"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4F19B4F2-A0AA-B15C-8DD6-A7BB83C0C3C8}"/>
              </a:ext>
            </a:extLst>
          </p:cNvPr>
          <p:cNvSpPr/>
          <p:nvPr/>
        </p:nvSpPr>
        <p:spPr bwMode="gray">
          <a:xfrm>
            <a:off x="12265867" y="4608000"/>
            <a:ext cx="432000" cy="432000"/>
          </a:xfrm>
          <a:prstGeom prst="ellipse">
            <a:avLst/>
          </a:prstGeom>
          <a:solidFill>
            <a:schemeClr val="bg1"/>
          </a:solidFill>
          <a:ln w="41275" cmpd="tri"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End</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4" name="Straight Arrow Connector 73">
            <a:extLst>
              <a:ext uri="{FF2B5EF4-FFF2-40B4-BE49-F238E27FC236}">
                <a16:creationId xmlns:a16="http://schemas.microsoft.com/office/drawing/2014/main" id="{24B58ECE-EBFA-77FC-E56B-46A36AD2D98D}"/>
              </a:ext>
            </a:extLst>
          </p:cNvPr>
          <p:cNvCxnSpPr>
            <a:stCxn id="41" idx="3"/>
            <a:endCxn id="71" idx="2"/>
          </p:cNvCxnSpPr>
          <p:nvPr/>
        </p:nvCxnSpPr>
        <p:spPr>
          <a:xfrm>
            <a:off x="8424000" y="4824000"/>
            <a:ext cx="3841867"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5" name="Rectangle: Rounded Corners 74">
            <a:extLst>
              <a:ext uri="{FF2B5EF4-FFF2-40B4-BE49-F238E27FC236}">
                <a16:creationId xmlns:a16="http://schemas.microsoft.com/office/drawing/2014/main" id="{EA46F371-08ED-01E1-CFCA-0915C8CCC67F}"/>
              </a:ext>
            </a:extLst>
          </p:cNvPr>
          <p:cNvSpPr/>
          <p:nvPr/>
        </p:nvSpPr>
        <p:spPr bwMode="gray">
          <a:xfrm>
            <a:off x="9961228"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Review, governance, check, validation (Fiori App?!)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77" name="Straight Arrow Connector 76">
            <a:extLst>
              <a:ext uri="{FF2B5EF4-FFF2-40B4-BE49-F238E27FC236}">
                <a16:creationId xmlns:a16="http://schemas.microsoft.com/office/drawing/2014/main" id="{FEDE36DC-5BB9-50F5-ED57-06E2394E6178}"/>
              </a:ext>
            </a:extLst>
          </p:cNvPr>
          <p:cNvCxnSpPr>
            <a:stCxn id="47" idx="2"/>
            <a:endCxn id="75" idx="0"/>
          </p:cNvCxnSpPr>
          <p:nvPr/>
        </p:nvCxnSpPr>
        <p:spPr>
          <a:xfrm>
            <a:off x="10393228" y="3312000"/>
            <a:ext cx="0" cy="2160000"/>
          </a:xfrm>
          <a:prstGeom prst="straightConnector1">
            <a:avLst/>
          </a:prstGeom>
          <a:ln w="25400">
            <a:solidFill>
              <a:schemeClr val="accent5"/>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7E6B2CB0-362D-C994-1503-96EB274FDA11}"/>
              </a:ext>
            </a:extLst>
          </p:cNvPr>
          <p:cNvCxnSpPr>
            <a:stCxn id="75" idx="3"/>
            <a:endCxn id="49" idx="1"/>
          </p:cNvCxnSpPr>
          <p:nvPr/>
        </p:nvCxnSpPr>
        <p:spPr>
          <a:xfrm flipV="1">
            <a:off x="10825228" y="2088000"/>
            <a:ext cx="288639" cy="3672000"/>
          </a:xfrm>
          <a:prstGeom prst="bentConnector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6FFE665-E34C-E7A5-A14E-73C1D8D8A40A}"/>
              </a:ext>
            </a:extLst>
          </p:cNvPr>
          <p:cNvCxnSpPr>
            <a:stCxn id="63" idx="3"/>
            <a:endCxn id="75" idx="1"/>
          </p:cNvCxnSpPr>
          <p:nvPr/>
        </p:nvCxnSpPr>
        <p:spPr>
          <a:xfrm>
            <a:off x="4968000" y="5760000"/>
            <a:ext cx="4993228" cy="0"/>
          </a:xfrm>
          <a:prstGeom prst="straightConnector1">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00566158-C96E-B7E6-BB4F-45CCD98BBC12}"/>
              </a:ext>
            </a:extLst>
          </p:cNvPr>
          <p:cNvSpPr/>
          <p:nvPr/>
        </p:nvSpPr>
        <p:spPr bwMode="gray">
          <a:xfrm>
            <a:off x="3815681" y="1908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85" name="Connector: Elbow 84">
            <a:extLst>
              <a:ext uri="{FF2B5EF4-FFF2-40B4-BE49-F238E27FC236}">
                <a16:creationId xmlns:a16="http://schemas.microsoft.com/office/drawing/2014/main" id="{B18226BB-CC58-3A8A-E4B0-DF359DF37557}"/>
              </a:ext>
            </a:extLst>
          </p:cNvPr>
          <p:cNvCxnSpPr>
            <a:stCxn id="16" idx="0"/>
            <a:endCxn id="50" idx="0"/>
          </p:cNvCxnSpPr>
          <p:nvPr/>
        </p:nvCxnSpPr>
        <p:spPr>
          <a:xfrm rot="16200000" flipH="1">
            <a:off x="7896517" y="-2712517"/>
            <a:ext cx="72832" cy="9097867"/>
          </a:xfrm>
          <a:prstGeom prst="bentConnector3">
            <a:avLst>
              <a:gd name="adj1" fmla="val -313873"/>
            </a:avLst>
          </a:prstGeom>
          <a:ln w="254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14A55AA7-AC24-CED7-8387-7069F7736209}"/>
              </a:ext>
            </a:extLst>
          </p:cNvPr>
          <p:cNvSpPr/>
          <p:nvPr/>
        </p:nvSpPr>
        <p:spPr bwMode="gray">
          <a:xfrm>
            <a:off x="3096000" y="1619168"/>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7" name="Rectangle 86">
            <a:extLst>
              <a:ext uri="{FF2B5EF4-FFF2-40B4-BE49-F238E27FC236}">
                <a16:creationId xmlns:a16="http://schemas.microsoft.com/office/drawing/2014/main" id="{6C655EEF-4D96-FE26-7237-00477DE3A28B}"/>
              </a:ext>
            </a:extLst>
          </p:cNvPr>
          <p:cNvSpPr/>
          <p:nvPr/>
        </p:nvSpPr>
        <p:spPr bwMode="gray">
          <a:xfrm>
            <a:off x="4967361" y="2844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8" name="Rectangle 87">
            <a:extLst>
              <a:ext uri="{FF2B5EF4-FFF2-40B4-BE49-F238E27FC236}">
                <a16:creationId xmlns:a16="http://schemas.microsoft.com/office/drawing/2014/main" id="{EE6F152A-8D53-2ED9-8482-9956CF8A499C}"/>
              </a:ext>
            </a:extLst>
          </p:cNvPr>
          <p:cNvSpPr/>
          <p:nvPr/>
        </p:nvSpPr>
        <p:spPr bwMode="gray">
          <a:xfrm>
            <a:off x="4248000" y="3384000"/>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89" name="Rectangle 88">
            <a:extLst>
              <a:ext uri="{FF2B5EF4-FFF2-40B4-BE49-F238E27FC236}">
                <a16:creationId xmlns:a16="http://schemas.microsoft.com/office/drawing/2014/main" id="{31DD1C70-E71D-4ACC-788B-2C4338FB9642}"/>
              </a:ext>
            </a:extLst>
          </p:cNvPr>
          <p:cNvSpPr/>
          <p:nvPr/>
        </p:nvSpPr>
        <p:spPr bwMode="gray">
          <a:xfrm>
            <a:off x="10105227" y="3383999"/>
            <a:ext cx="288000" cy="144000"/>
          </a:xfrm>
          <a:prstGeom prst="rect">
            <a:avLst/>
          </a:prstGeom>
          <a:no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yes</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0" name="Rectangle 89">
            <a:extLst>
              <a:ext uri="{FF2B5EF4-FFF2-40B4-BE49-F238E27FC236}">
                <a16:creationId xmlns:a16="http://schemas.microsoft.com/office/drawing/2014/main" id="{ACD4EA90-D135-493D-3370-B9DE5C8379E1}"/>
              </a:ext>
            </a:extLst>
          </p:cNvPr>
          <p:cNvSpPr/>
          <p:nvPr/>
        </p:nvSpPr>
        <p:spPr bwMode="gray">
          <a:xfrm>
            <a:off x="10824589" y="2843999"/>
            <a:ext cx="288000" cy="144000"/>
          </a:xfrm>
          <a:prstGeom prst="rect">
            <a:avLst/>
          </a:prstGeom>
          <a:solidFill>
            <a:schemeClr val="bg2">
              <a:lumMod val="40000"/>
              <a:lumOff val="60000"/>
            </a:schemeClr>
          </a:solidFill>
          <a:ln w="25400" algn="ctr">
            <a:no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no</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8" name="Rectangle: Rounded Corners 47">
            <a:extLst>
              <a:ext uri="{FF2B5EF4-FFF2-40B4-BE49-F238E27FC236}">
                <a16:creationId xmlns:a16="http://schemas.microsoft.com/office/drawing/2014/main" id="{62874052-FABB-EA6F-71CE-1E747492EE5F}"/>
              </a:ext>
            </a:extLst>
          </p:cNvPr>
          <p:cNvSpPr/>
          <p:nvPr/>
        </p:nvSpPr>
        <p:spPr bwMode="gray">
          <a:xfrm>
            <a:off x="11113867" y="2736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Replicate improvements to SAP ERP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2" name="Rectangle 91">
            <a:extLst>
              <a:ext uri="{FF2B5EF4-FFF2-40B4-BE49-F238E27FC236}">
                <a16:creationId xmlns:a16="http://schemas.microsoft.com/office/drawing/2014/main" id="{FAC9D437-28AB-015C-E22B-25D473C0EBBA}"/>
              </a:ext>
            </a:extLst>
          </p:cNvPr>
          <p:cNvSpPr/>
          <p:nvPr/>
        </p:nvSpPr>
        <p:spPr bwMode="gray">
          <a:xfrm>
            <a:off x="504000" y="6354000"/>
            <a:ext cx="3096000" cy="287999"/>
          </a:xfrm>
          <a:prstGeom prst="rect">
            <a:avLst/>
          </a:prstGeom>
          <a:noFill/>
          <a:ln w="25400" algn="ctr">
            <a:solidFill>
              <a:schemeClr val="tx1"/>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Legend: </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3" name="Rectangle 92">
            <a:extLst>
              <a:ext uri="{FF2B5EF4-FFF2-40B4-BE49-F238E27FC236}">
                <a16:creationId xmlns:a16="http://schemas.microsoft.com/office/drawing/2014/main" id="{A70B341B-CC29-F9C9-8304-FA1A39E7A25B}"/>
              </a:ext>
            </a:extLst>
          </p:cNvPr>
          <p:cNvSpPr/>
          <p:nvPr/>
        </p:nvSpPr>
        <p:spPr bwMode="gray">
          <a:xfrm>
            <a:off x="1228200" y="6389999"/>
            <a:ext cx="1080000" cy="216000"/>
          </a:xfrm>
          <a:prstGeom prst="rect">
            <a:avLst/>
          </a:prstGeom>
          <a:solidFill>
            <a:schemeClr val="tx2">
              <a:lumMod val="20000"/>
              <a:lumOff val="80000"/>
            </a:schemeClr>
          </a:solidFill>
          <a:ln w="190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dirty="0">
                <a:ln>
                  <a:noFill/>
                </a:ln>
                <a:effectLst/>
                <a:uLnTx/>
                <a:uFillTx/>
                <a:latin typeface="+mn-lt"/>
                <a:ea typeface="Arial Unicode MS" pitchFamily="34" charset="-128"/>
                <a:cs typeface="Arial Unicode MS" pitchFamily="34" charset="-128"/>
              </a:rPr>
              <a:t>Operator</a:t>
            </a:r>
            <a:endParaRPr kumimoji="0" lang="en-DE" sz="10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4" name="Rectangle 93">
            <a:extLst>
              <a:ext uri="{FF2B5EF4-FFF2-40B4-BE49-F238E27FC236}">
                <a16:creationId xmlns:a16="http://schemas.microsoft.com/office/drawing/2014/main" id="{C8370D19-B04E-4A26-4F33-557FC69E3E15}"/>
              </a:ext>
            </a:extLst>
          </p:cNvPr>
          <p:cNvSpPr/>
          <p:nvPr/>
        </p:nvSpPr>
        <p:spPr bwMode="gray">
          <a:xfrm>
            <a:off x="2412000" y="6389999"/>
            <a:ext cx="1080000" cy="216000"/>
          </a:xfrm>
          <a:prstGeom prst="rect">
            <a:avLst/>
          </a:prstGeom>
          <a:solidFill>
            <a:schemeClr val="accent6">
              <a:lumMod val="20000"/>
              <a:lumOff val="80000"/>
            </a:schemeClr>
          </a:solidFill>
          <a:ln w="190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effectLst/>
                <a:uLnTx/>
                <a:uFillTx/>
                <a:latin typeface="+mn-lt"/>
                <a:ea typeface="Arial Unicode MS" pitchFamily="34" charset="-128"/>
                <a:cs typeface="Arial Unicode MS" pitchFamily="34" charset="-128"/>
              </a:rPr>
              <a:t>OEM</a:t>
            </a:r>
            <a:endParaRPr kumimoji="0" lang="en-DE" sz="10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2" name="Rectangle: Rounded Corners 1">
            <a:extLst>
              <a:ext uri="{FF2B5EF4-FFF2-40B4-BE49-F238E27FC236}">
                <a16:creationId xmlns:a16="http://schemas.microsoft.com/office/drawing/2014/main" id="{55D02013-AC93-10A6-AAF0-CFB9C6E0FF5D}"/>
              </a:ext>
            </a:extLst>
          </p:cNvPr>
          <p:cNvSpPr/>
          <p:nvPr/>
        </p:nvSpPr>
        <p:spPr bwMode="gray">
          <a:xfrm>
            <a:off x="1800000"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 classification</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4" name="Straight Arrow Connector 3">
            <a:extLst>
              <a:ext uri="{FF2B5EF4-FFF2-40B4-BE49-F238E27FC236}">
                <a16:creationId xmlns:a16="http://schemas.microsoft.com/office/drawing/2014/main" id="{98703098-6F5A-EA56-5BEB-9A6FE9ADABB1}"/>
              </a:ext>
            </a:extLst>
          </p:cNvPr>
          <p:cNvCxnSpPr>
            <a:cxnSpLocks/>
            <a:stCxn id="2" idx="0"/>
            <a:endCxn id="40" idx="2"/>
          </p:cNvCxnSpPr>
          <p:nvPr/>
        </p:nvCxnSpPr>
        <p:spPr>
          <a:xfrm flipH="1" flipV="1">
            <a:off x="2230721" y="3371856"/>
            <a:ext cx="1279" cy="2100144"/>
          </a:xfrm>
          <a:prstGeom prst="straightConnector1">
            <a:avLst/>
          </a:prstGeom>
          <a:ln w="25400">
            <a:solidFill>
              <a:schemeClr val="accent5"/>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61D37CB2-EC96-DFA7-3857-1726FE962EAB}"/>
              </a:ext>
            </a:extLst>
          </p:cNvPr>
          <p:cNvCxnSpPr>
            <a:cxnSpLocks/>
            <a:stCxn id="2" idx="0"/>
            <a:endCxn id="42" idx="2"/>
          </p:cNvCxnSpPr>
          <p:nvPr/>
        </p:nvCxnSpPr>
        <p:spPr>
          <a:xfrm rot="5400000" flipH="1" flipV="1">
            <a:off x="828086" y="3301954"/>
            <a:ext cx="3573960" cy="766133"/>
          </a:xfrm>
          <a:prstGeom prst="bentConnector3">
            <a:avLst>
              <a:gd name="adj1" fmla="val 41976"/>
            </a:avLst>
          </a:prstGeom>
          <a:ln w="25400">
            <a:solidFill>
              <a:schemeClr val="accent3"/>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Flowchart: Decision 28">
            <a:extLst>
              <a:ext uri="{FF2B5EF4-FFF2-40B4-BE49-F238E27FC236}">
                <a16:creationId xmlns:a16="http://schemas.microsoft.com/office/drawing/2014/main" id="{F951D5FB-E3FC-E528-9081-6A3B934E9930}"/>
              </a:ext>
            </a:extLst>
          </p:cNvPr>
          <p:cNvSpPr>
            <a:spLocks/>
          </p:cNvSpPr>
          <p:nvPr/>
        </p:nvSpPr>
        <p:spPr bwMode="gray">
          <a:xfrm>
            <a:off x="8791887" y="2736000"/>
            <a:ext cx="864000" cy="576000"/>
          </a:xfrm>
          <a:prstGeom prst="flowChartDecision">
            <a:avLst/>
          </a:prstGeom>
          <a:solidFill>
            <a:schemeClr val="bg1"/>
          </a:solidFill>
          <a:ln w="25400" algn="ctr">
            <a:solidFill>
              <a:schemeClr val="tx1"/>
            </a:solidFill>
            <a:miter lim="800000"/>
            <a:headEnd/>
            <a:tailEnd/>
          </a:ln>
        </p:spPr>
        <p:txBody>
          <a:bodyPr lIns="0" tIns="72000" rIns="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If ECLASS or other than ISO 14224 2006</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30" name="Rectangle: Rounded Corners 29">
            <a:extLst>
              <a:ext uri="{FF2B5EF4-FFF2-40B4-BE49-F238E27FC236}">
                <a16:creationId xmlns:a16="http://schemas.microsoft.com/office/drawing/2014/main" id="{23C700E0-02A3-EC59-ECEC-896E3179DC13}"/>
              </a:ext>
            </a:extLst>
          </p:cNvPr>
          <p:cNvSpPr/>
          <p:nvPr/>
        </p:nvSpPr>
        <p:spPr bwMode="gray">
          <a:xfrm>
            <a:off x="8808589" y="5472000"/>
            <a:ext cx="864000" cy="576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Classification mapping (Fiori App?!)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39" name="Straight Arrow Connector 38">
            <a:extLst>
              <a:ext uri="{FF2B5EF4-FFF2-40B4-BE49-F238E27FC236}">
                <a16:creationId xmlns:a16="http://schemas.microsoft.com/office/drawing/2014/main" id="{D0E29966-46D6-9950-7891-DEF2B33A1832}"/>
              </a:ext>
            </a:extLst>
          </p:cNvPr>
          <p:cNvCxnSpPr>
            <a:stCxn id="29" idx="2"/>
            <a:endCxn id="30" idx="0"/>
          </p:cNvCxnSpPr>
          <p:nvPr/>
        </p:nvCxnSpPr>
        <p:spPr>
          <a:xfrm>
            <a:off x="9223887" y="3312000"/>
            <a:ext cx="16702" cy="2160000"/>
          </a:xfrm>
          <a:prstGeom prst="straightConnector1">
            <a:avLst/>
          </a:prstGeom>
          <a:ln w="25400">
            <a:solidFill>
              <a:schemeClr val="accent5"/>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8A3310D-8976-CB0F-80F9-9697D5FFBF69}"/>
              </a:ext>
            </a:extLst>
          </p:cNvPr>
          <p:cNvSpPr/>
          <p:nvPr/>
        </p:nvSpPr>
        <p:spPr bwMode="gray">
          <a:xfrm>
            <a:off x="3841747" y="6226465"/>
            <a:ext cx="7750254" cy="440401"/>
          </a:xfrm>
          <a:prstGeom prst="rect">
            <a:avLst/>
          </a:prstGeom>
          <a:solidFill>
            <a:schemeClr val="tx2">
              <a:lumMod val="20000"/>
              <a:lumOff val="80000"/>
            </a:schemeClr>
          </a:solidFill>
          <a:ln w="25400" algn="ctr">
            <a:solidFill>
              <a:schemeClr val="tx1"/>
            </a:solid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latin typeface="+mn-lt"/>
                <a:ea typeface="Arial Unicode MS" pitchFamily="34" charset="-128"/>
                <a:cs typeface="Arial Unicode MS" pitchFamily="34" charset="-128"/>
              </a:rPr>
              <a:t>PiLog</a:t>
            </a:r>
            <a:r>
              <a:rPr kumimoji="0" lang="en-US" sz="1800" b="0" i="0" u="none" strike="noStrike" kern="0" cap="none" spc="0" normalizeH="0" baseline="0" noProof="0" dirty="0">
                <a:ln>
                  <a:noFill/>
                </a:ln>
                <a:effectLst/>
                <a:uLnTx/>
                <a:uFillTx/>
                <a:latin typeface="+mn-lt"/>
                <a:ea typeface="Arial Unicode MS" pitchFamily="34" charset="-128"/>
                <a:cs typeface="Arial Unicode MS" pitchFamily="34" charset="-128"/>
              </a:rPr>
              <a:t> OEM</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9" name="Rectangle: Rounded Corners 8">
            <a:extLst>
              <a:ext uri="{FF2B5EF4-FFF2-40B4-BE49-F238E27FC236}">
                <a16:creationId xmlns:a16="http://schemas.microsoft.com/office/drawing/2014/main" id="{050E2E40-1C77-2AA0-C23C-0103222CF7AC}"/>
              </a:ext>
            </a:extLst>
          </p:cNvPr>
          <p:cNvSpPr/>
          <p:nvPr/>
        </p:nvSpPr>
        <p:spPr bwMode="gray">
          <a:xfrm>
            <a:off x="6431879" y="6297698"/>
            <a:ext cx="864000" cy="324000"/>
          </a:xfrm>
          <a:prstGeom prst="roundRect">
            <a:avLst/>
          </a:prstGeom>
          <a:solidFill>
            <a:schemeClr val="bg1"/>
          </a:solidFill>
          <a:ln w="25400" algn="ctr">
            <a:solidFill>
              <a:schemeClr val="tx1"/>
            </a:solidFill>
            <a:miter lim="800000"/>
            <a:headEnd/>
            <a:tailEnd/>
          </a:ln>
        </p:spPr>
        <p:txBody>
          <a:bodyPr lIns="0" tIns="0" rIns="0" bIns="0" rtlCol="0" anchor="ctr"/>
          <a:lstStyle/>
          <a:p>
            <a:pPr algn="ctr" defTabSz="914400" fontAlgn="base">
              <a:spcBef>
                <a:spcPct val="50000"/>
              </a:spcBef>
              <a:spcAft>
                <a:spcPct val="0"/>
              </a:spcAft>
              <a:buClr>
                <a:srgbClr val="F0AB00"/>
              </a:buClr>
              <a:buSzPct val="80000"/>
            </a:pPr>
            <a:r>
              <a:rPr kumimoji="0" lang="en-US" sz="800" b="0" i="0" u="none" strike="noStrike" kern="0" cap="none" spc="0" normalizeH="0" baseline="0" noProof="0" dirty="0">
                <a:ln>
                  <a:noFill/>
                </a:ln>
                <a:effectLst/>
                <a:uLnTx/>
                <a:uFillTx/>
                <a:latin typeface="+mn-lt"/>
                <a:ea typeface="Arial Unicode MS" pitchFamily="34" charset="-128"/>
                <a:cs typeface="Arial Unicode MS" pitchFamily="34" charset="-128"/>
              </a:rPr>
              <a:t>Content creation via AI (Fiori App?!)</a:t>
            </a:r>
            <a:endParaRPr kumimoji="0" lang="en-DE" sz="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cxnSp>
        <p:nvCxnSpPr>
          <p:cNvPr id="19" name="Straight Arrow Connector 18">
            <a:extLst>
              <a:ext uri="{FF2B5EF4-FFF2-40B4-BE49-F238E27FC236}">
                <a16:creationId xmlns:a16="http://schemas.microsoft.com/office/drawing/2014/main" id="{E98B4FE5-15B0-DF0A-F747-E3A981AB8337}"/>
              </a:ext>
            </a:extLst>
          </p:cNvPr>
          <p:cNvCxnSpPr>
            <a:cxnSpLocks/>
            <a:stCxn id="9" idx="0"/>
            <a:endCxn id="37" idx="2"/>
          </p:cNvCxnSpPr>
          <p:nvPr/>
        </p:nvCxnSpPr>
        <p:spPr>
          <a:xfrm flipH="1" flipV="1">
            <a:off x="6840000" y="5112000"/>
            <a:ext cx="23879" cy="1185698"/>
          </a:xfrm>
          <a:prstGeom prst="straightConnector1">
            <a:avLst/>
          </a:prstGeom>
          <a:ln w="2540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C2CE97E7-77A9-3549-CC6E-17C05ED10F5C}"/>
              </a:ext>
            </a:extLst>
          </p:cNvPr>
          <p:cNvSpPr/>
          <p:nvPr/>
        </p:nvSpPr>
        <p:spPr bwMode="gray">
          <a:xfrm>
            <a:off x="1798721" y="2905390"/>
            <a:ext cx="863999" cy="466466"/>
          </a:xfrm>
          <a:prstGeom prst="round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BNAC classes</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42" name="Rectangle: Rounded Corners 41">
            <a:extLst>
              <a:ext uri="{FF2B5EF4-FFF2-40B4-BE49-F238E27FC236}">
                <a16:creationId xmlns:a16="http://schemas.microsoft.com/office/drawing/2014/main" id="{0E0F8262-E639-8BCA-1A00-F67725C7A703}"/>
              </a:ext>
            </a:extLst>
          </p:cNvPr>
          <p:cNvSpPr/>
          <p:nvPr/>
        </p:nvSpPr>
        <p:spPr bwMode="gray">
          <a:xfrm>
            <a:off x="2566133" y="1431574"/>
            <a:ext cx="863999" cy="466466"/>
          </a:xfrm>
          <a:prstGeom prst="round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200" b="0" i="0" u="none" strike="noStrike" kern="0" cap="none" spc="0" normalizeH="0" baseline="0" noProof="0" dirty="0">
                <a:ln>
                  <a:noFill/>
                </a:ln>
                <a:effectLst/>
                <a:uLnTx/>
                <a:uFillTx/>
                <a:latin typeface="+mn-lt"/>
                <a:ea typeface="Arial Unicode MS" pitchFamily="34" charset="-128"/>
                <a:cs typeface="Arial Unicode MS" pitchFamily="34" charset="-128"/>
              </a:rPr>
              <a:t>ERP classes</a:t>
            </a:r>
            <a:endParaRPr kumimoji="0" lang="en-DE" sz="12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5" name="Oval 54">
            <a:extLst>
              <a:ext uri="{FF2B5EF4-FFF2-40B4-BE49-F238E27FC236}">
                <a16:creationId xmlns:a16="http://schemas.microsoft.com/office/drawing/2014/main" id="{FF3B5CA9-59DD-43E8-8334-3C3C1581532E}"/>
              </a:ext>
            </a:extLst>
          </p:cNvPr>
          <p:cNvSpPr/>
          <p:nvPr/>
        </p:nvSpPr>
        <p:spPr bwMode="gray">
          <a:xfrm>
            <a:off x="1844854" y="3415008"/>
            <a:ext cx="327129" cy="354096"/>
          </a:xfrm>
          <a:prstGeom prst="ellipse">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latin typeface="+mn-lt"/>
                <a:ea typeface="Arial Unicode MS" pitchFamily="34" charset="-128"/>
                <a:cs typeface="Arial Unicode MS" pitchFamily="34" charset="-128"/>
              </a:rPr>
              <a:t>1</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57" name="Oval 56">
            <a:extLst>
              <a:ext uri="{FF2B5EF4-FFF2-40B4-BE49-F238E27FC236}">
                <a16:creationId xmlns:a16="http://schemas.microsoft.com/office/drawing/2014/main" id="{1D45CCF7-8A45-DD26-F434-5A1ADE0FA2FF}"/>
              </a:ext>
            </a:extLst>
          </p:cNvPr>
          <p:cNvSpPr/>
          <p:nvPr/>
        </p:nvSpPr>
        <p:spPr bwMode="gray">
          <a:xfrm>
            <a:off x="8838020" y="3513718"/>
            <a:ext cx="327129" cy="354096"/>
          </a:xfrm>
          <a:prstGeom prst="ellipse">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latin typeface="+mn-lt"/>
                <a:ea typeface="Arial Unicode MS" pitchFamily="34" charset="-128"/>
                <a:cs typeface="Arial Unicode MS" pitchFamily="34" charset="-128"/>
              </a:rPr>
              <a:t>3</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
        <p:nvSpPr>
          <p:cNvPr id="61" name="Oval 60">
            <a:extLst>
              <a:ext uri="{FF2B5EF4-FFF2-40B4-BE49-F238E27FC236}">
                <a16:creationId xmlns:a16="http://schemas.microsoft.com/office/drawing/2014/main" id="{C3EF3EA0-92A5-B23C-0B3B-286186F283F6}"/>
              </a:ext>
            </a:extLst>
          </p:cNvPr>
          <p:cNvSpPr/>
          <p:nvPr/>
        </p:nvSpPr>
        <p:spPr bwMode="gray">
          <a:xfrm>
            <a:off x="10013256" y="3743999"/>
            <a:ext cx="327129" cy="354096"/>
          </a:xfrm>
          <a:prstGeom prst="ellipse">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latin typeface="+mn-lt"/>
                <a:ea typeface="Arial Unicode MS" pitchFamily="34" charset="-128"/>
                <a:cs typeface="Arial Unicode MS" pitchFamily="34" charset="-128"/>
              </a:rPr>
              <a:t>2</a:t>
            </a:r>
            <a:endParaRPr kumimoji="0" lang="en-DE" sz="1800" b="0" i="0" u="none" strike="noStrike" kern="0" cap="none" spc="0" normalizeH="0" baseline="0" noProof="0" dirty="0">
              <a:ln>
                <a:noFill/>
              </a:ln>
              <a:effectLst/>
              <a:uLnTx/>
              <a:uFillTx/>
              <a:latin typeface="+mn-lt"/>
              <a:ea typeface="Arial Unicode MS" pitchFamily="34" charset="-128"/>
              <a:cs typeface="Arial Unicode MS" pitchFamily="34" charset="-128"/>
            </a:endParaRPr>
          </a:p>
        </p:txBody>
      </p:sp>
    </p:spTree>
    <p:custDataLst>
      <p:custData r:id="rId1"/>
      <p:custData r:id="rId2"/>
    </p:custDataLst>
    <p:extLst>
      <p:ext uri="{BB962C8B-B14F-4D97-AF65-F5344CB8AC3E}">
        <p14:creationId xmlns:p14="http://schemas.microsoft.com/office/powerpoint/2010/main" val="40774575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heme/theme1.xml><?xml version="1.0" encoding="utf-8"?>
<a:theme xmlns:a="http://schemas.openxmlformats.org/drawingml/2006/main" name="SAP Template 2024">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smtClean="0">
            <a:ln>
              <a:noFill/>
            </a:ln>
            <a:effectLst/>
            <a:uLnTx/>
            <a:uFillTx/>
            <a:latin typeface="+mn-lt"/>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Arial Unicode MS" pitchFamily="34" charset="-128"/>
            <a:cs typeface="Arial Unicode MS"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esentation16" id="{6EE3CE7A-E618-354C-A911-C8B540FBF846}" vid="{D6A1CD9D-FAE1-404C-ADBB-39144CF68697}"/>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0FCFAFA-D3D3-1441-8101-DA629D03A5D9}">
  <we:reference id="b0692d11-e342-a550-cfba-e8c57e47b8f1" version="1.0.0.8"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5AE667-A5F5-0F47-8627-5174A8B7EA47}">
  <we:reference id="b8d7a30b-109c-4c41-a1df-a6cb639730b5"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item1.xml><?xml version="1.0" encoding="utf-8"?>
<TemplafySlideTemplateConfiguration><![CDATA[{"slideVersion":1,"isValidatorEnabled":false,"isLocked":false,"elementsMetadata":[],"slideId":"953956199819640832","enableDocumentContentUpdater":false,"version":"2.0"}]]></TemplafySlideTemplateConfiguration>
</file>

<file path=customXml/item2.xml><?xml version="1.0" encoding="utf-8"?>
<TemplafySlideTemplateConfiguration><![CDATA[{"slideVersion":1,"isValidatorEnabled":false,"isLocked":false,"elementsMetadata":[],"slideId":"953956199819640832","enableDocumentContentUpdater":false,"version":"2.0"}]]></TemplafySlideTemplateConfiguration>
</file>

<file path=customXml/item3.xml><?xml version="1.0" encoding="utf-8"?>
<TemplafyTemplateConfiguration><![CDATA[{"elementsMetadata":[{"type":"shape","id":"47074583-f1ce-45ff-82f7-f07fe3750518","elementConfiguration":{"binding":"{{ DataSources.Classification[Form.Classification.Name].Display}}","type":"text","disableUpdates":false}},{"type":"shape","id":"99294a25-a2cd-48b5-9e9c-c52b8a8a8d79","elementConfiguration":{"inheritDimensions":"{{InheritDimensions.InheritNone}}","width":"","height":"1 cm","image":"{{Form.SAPLogo.SubbrandBlue}}","visibility":"","type":"image","disableUpdates":false}},{"type":"shape","id":"7f81b515-e46d-4f87-936b-0254f9c38e86","elementConfiguration":{"binding":"{{Form.Classification.Display}}","visibility":"","type":"text","disableUpdates":false}},{"type":"shape","id":"2bb77844-bfee-4fbe-957c-8518e337ad47","elementConfiguration":{"binding":"{{Form.Classification.Display}}","visibility":"","type":"text","disableUpdates":false}},{"type":"shape","id":"5376e3ef-0104-4c7b-8634-86861b034f7b","elementConfiguration":{"inheritDimensions":"{{InheritDimensions.InheritNone}}","width":"","height":"1 cm","image":"{{Form.SAPLogo.SubbrandBlack}}","visibility":"","type":"image","disableUpdates":false}},{"type":"shape","id":"6516b6d3-d24f-4b8d-bef0-c722a451ec67","elementConfiguration":{"inheritDimensions":"{{InheritDimensions.InheritNone}}","width":"","height":"1 cm","image":"{{Form.SAPLogo.SubbrandWhite}}","visibility":"","type":"image","disableUpdates":false}},{"type":"shape","id":"abf51d92-4718-4e0a-9076-bdff38965116","elementConfiguration":{"binding":"{{Form.Classification.Display}}","visibility":"","type":"text","disableUpdates":false}},{"type":"shape","id":"3d54de16-7ff7-43cf-899c-d5422f27d665","elementConfiguration":{"inheritDimensions":"{{InheritDimensions.InheritNone}}","width":"","height":"1 cm","image":"{{Form.SAPLogo.SubbrandBlue}}","visibility":"","type":"image","disableUpdates":false}},{"type":"shape","id":"8e786751-e0dd-43bd-8e2f-2e14a6417cf4","elementConfiguration":{"binding":"{{Form.Classification.Display}}","visibility":"","type":"text","disableUpdates":false}},{"type":"shape","id":"657a9469-9adf-4104-b5c1-af32619fd809","elementConfiguration":{"inheritDimensions":"{{InheritDimensions.InheritNone}}","width":"","height":"1 cm","image":"{{Form.SAPLogo.SubbrandBlue}}","visibility":"","type":"image","disableUpdates":false}},{"type":"shape","id":"b0f02a1d-f7b5-4a58-b1c4-47d2f83be00a","elementConfiguration":{"binding":"{{Form.Classification.Display}}","visibility":"","type":"text","disableUpdates":false}},{"type":"shape","id":"57f987fd-648c-497d-91d3-c6b107e0881d","elementConfiguration":{"inheritDimensions":"{{InheritDimensions.InheritNone}}","width":"","height":"1 cm","image":"{{Form.SAPLogo.SubbrandBlue}}","visibility":"","type":"image","disableUpdates":false}},{"type":"shape","id":"f3c4adad-6eb3-43dd-933e-84461a8ead49","elementConfiguration":{"binding":"{{Form.Classification.Display}}","visibility":"","type":"text","disableUpdates":false}},{"type":"shape","id":"11bb3951-a028-45cd-b69d-bc5f7c40b564","elementConfiguration":{"inheritDimensions":"{{InheritDimensions.InheritNone}}","width":"","height":"1 cm","image":"{{Form.SAPLogo.SubbrandWhite}}","visibility":"","type":"image","disableUpdates":false}},{"type":"shape","id":"6bcf7b52-6bee-4840-a22f-aadf1006735d","elementConfiguration":{"binding":"{{Form.Classification.Display}}","visibility":"","type":"text","disableUpdates":false}},{"type":"shape","id":"10f2c249-a841-4853-9d96-d30d8cfb31f5","elementConfiguration":{"binding":"{{DataSources.PPTCopyRight[\"Slide 5 copyright\"].CopyrightMessage}}","visibility":"","type":"text","disableUpdates":false}},{"type":"shape","id":"912894d5-805b-4062-b313-07ea7943d559","elementConfiguration":{"inheritDimensions":"{{InheritDimensions.InheritNone}}","width":"","height":"1 cm","image":"{{Form.SAPLogo.SubbrandBlack}}","visibility":"","type":"image","disableUpdates":false}},{"type":"shape","id":"69e89963-8c4f-4b12-b4b2-b7e233f471f6","elementConfiguration":{"binding":"{{Form.Classification.Display}}","visibility":"","type":"text","disableUpdates":false}},{"type":"shape","id":"93f40684-a815-4ee9-b5ee-ceacff6ae990","elementConfiguration":{"inheritDimensions":"{{InheritDimensions.InheritNone}}","width":"","height":"1 cm","image":"{{Form.SAPLogo.SubbrandWhite}}","visibility":"","type":"image","disableUpdates":false}},{"type":"shape","id":"d649dcb7-663d-4c9a-9248-f74425ce0482","elementConfiguration":{"binding":"{{Form.Classification.Display}}","visibility":"","type":"text","disableUpdates":false}},{"type":"shape","id":"6dd23191-5081-469d-95d7-170b44ec3c56","elementConfiguration":{"inheritDimensions":"{{InheritDimensions.InheritNone}}","width":"","height":"1 cm","image":"{{Form.SAPLogo.SubbrandBlack}}","visibility":"","type":"image","disableUpdates":false}},{"type":"shape","id":"7c9d8286-5318-46a8-94cc-3d0e21b361ec","elementConfiguration":{"binding":"{{Form.Classification.Display}}","visibility":"","type":"text","disableUpdates":false}},{"type":"shape","id":"7016da2c-7bb7-4ae1-8330-dc51d6c9b1ca","elementConfiguration":{"inheritDimensions":"{{InheritDimensions.InheritNone}}","width":"","height":"1 cm","image":"{{Form.SAPLogo.SubbrandWhite}}","visibility":"","type":"image","disableUpdates":false}},{"type":"shape","id":"045b5674-992c-40c9-972e-a0a86bed7b08","elementConfiguration":{"binding":"{{Form.Classification.Display}}","visibility":"","type":"text","disableUpdates":false}},{"type":"shape","id":"60442bfc-a378-4eab-82a0-84b85324f7a7","elementConfiguration":{"inheritDimensions":"{{InheritDimensions.InheritNone}}","width":"","height":"1 cm","image":"{{Form.SAPLogo.SubbrandWhite}}","visibility":"","type":"image","disableUpdates":false}},{"type":"shape","id":"9a2b3e38-3cea-43bf-9c4b-a03befda2045","elementConfiguration":{"binding":"{{Form.Classification.Display}}","visibility":"","type":"text","disableUpdates":false}}],"transformationConfigurations":[],"templateName":"Blank - PowerPoint_20240709","templateDescription":"","enableDocumentContentUpdater":true,"version":"2.0"}]]></TemplafyTemplateConfiguration>
</file>

<file path=customXml/item4.xml><?xml version="1.0" encoding="utf-8"?>
<ct:contentTypeSchema xmlns:ct="http://schemas.microsoft.com/office/2006/metadata/contentType" xmlns:ma="http://schemas.microsoft.com/office/2006/metadata/properties/metaAttributes" ct:_="" ma:_="" ma:contentTypeName="Document" ma:contentTypeID="0x010100615F0F9DCBF1E94796646FCF98A7C072" ma:contentTypeVersion="13" ma:contentTypeDescription="Create a new document." ma:contentTypeScope="" ma:versionID="5b306df2387467d165757eb5a8cdddaa">
  <xsd:schema xmlns:xsd="http://www.w3.org/2001/XMLSchema" xmlns:xs="http://www.w3.org/2001/XMLSchema" xmlns:p="http://schemas.microsoft.com/office/2006/metadata/properties" xmlns:ns2="0e00d59e-b0d2-4e67-be34-67e465b0fbed" xmlns:ns3="47fc58d8-9f4b-4bc8-b278-c3cb6f298023" targetNamespace="http://schemas.microsoft.com/office/2006/metadata/properties" ma:root="true" ma:fieldsID="eebd9c38828bcd412c0ba6e1c1867684" ns2:_="" ns3:_="">
    <xsd:import namespace="0e00d59e-b0d2-4e67-be34-67e465b0fbed"/>
    <xsd:import namespace="47fc58d8-9f4b-4bc8-b278-c3cb6f2980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ResponsibleContact"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00d59e-b0d2-4e67-be34-67e465b0fbe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fc58d8-9f4b-4bc8-b278-c3cb6f2980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ResponsibleContact" ma:index="17" nillable="true" ma:displayName="Responsible Contact" ma:format="Dropdown" ma:list="UserInfo" ma:SharePointGroup="0" ma:internalName="ResponsibleContac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TemplafySlideFormConfiguration><![CDATA[{"formFields":[],"formDataEntries":[]}]]></TemplafySlideFormConfiguration>
</file>

<file path=customXml/item6.xml><?xml version="1.0" encoding="utf-8"?>
<p:properties xmlns:p="http://schemas.microsoft.com/office/2006/metadata/properties" xmlns:xsi="http://www.w3.org/2001/XMLSchema-instance" xmlns:pc="http://schemas.microsoft.com/office/infopath/2007/PartnerControls">
  <documentManagement>
    <ResponsibleContact xmlns="47fc58d8-9f4b-4bc8-b278-c3cb6f298023">
      <UserInfo>
        <DisplayName/>
        <AccountId xsi:nil="true"/>
        <AccountType/>
      </UserInfo>
    </ResponsibleContact>
  </documentManagement>
</p:properties>
</file>

<file path=customXml/item7.xml><?xml version="1.0" encoding="utf-8"?>
<?mso-contentType ?>
<FormTemplates xmlns="http://schemas.microsoft.com/sharepoint/v3/contenttype/forms">
  <Display>DocumentLibraryForm</Display>
  <Edit>DocumentLibraryForm</Edit>
  <New>DocumentLibraryForm</New>
</FormTemplates>
</file>

<file path=customXml/item8.xml><?xml version="1.0" encoding="utf-8"?>
<TemplafySlideFormConfiguration><![CDATA[{"formFields":[],"formDataEntries":[]}]]></TemplafySlideFormConfiguration>
</file>

<file path=customXml/item9.xml><?xml version="1.0" encoding="utf-8"?>
<TemplafyFormConfiguration><![CDATA[{"formFields":[{"distinct":false,"hideIfNoUserInteractionRequired":false,"required":false,"defaultValue":" SAP Corporate","autoSelectFirstOption":false,"shareValue":false,"type":"dropDown","dataSourceName":"PPTSubBrandLogos2023","dataSourceFieldName":"Name","name":"SAPLogo","label":"Select Template"},{"distinct":false,"hideIfNoUserInteractionRequired":false,"required":false,"defaultValue":"INTERNAL - SAP Only","autoSelectFirstOption":false,"shareValue":false,"type":"dropDown","dataSourceName":"Classification","dataSourceFieldName":"Name","name":"Classification","label":"Select Classification"}],"formDataEntries":[{"name":"SAPLogo","value":"wE+s8fdhNCaiXuC1E15vlQ=="},{"name":"Classification","value":"wE+s8fdhNCaiXuC1E15vlQ=="}]}]]></TemplafyFormConfiguration>
</file>

<file path=customXml/item10.xml><?xml version="1.0" encoding="utf-8"?>
<TemplafySlideTemplateConfiguration><![CDATA[{"slideVersion":1,"isValidatorEnabled":false,"isLocked":false,"elementsMetadata":[],"slideId":"953956199819640832","enableDocumentContentUpdater":false,"version":"2.0"}]]></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1,"isValidatorEnabled":false,"isLocked":false,"elementsMetadata":[],"slideId":"953956199819640832","enableDocumentContentUpdater":false,"version":"2.0"}]]></TemplafySlideTemplateConfiguration>
</file>

<file path=customXml/item13.xml><?xml version="1.0" encoding="utf-8"?>
<TemplafySlideFormConfiguration><![CDATA[{"formFields":[],"formDataEntries":[]}]]></TemplafySlideFormConfiguration>
</file>

<file path=customXml/itemProps1.xml><?xml version="1.0" encoding="utf-8"?>
<ds:datastoreItem xmlns:ds="http://schemas.openxmlformats.org/officeDocument/2006/customXml" ds:itemID="{2E566E46-38D1-4FF6-AC12-AFCFCA15E440}">
  <ds:schemaRefs/>
</ds:datastoreItem>
</file>

<file path=customXml/itemProps2.xml><?xml version="1.0" encoding="utf-8"?>
<ds:datastoreItem xmlns:ds="http://schemas.openxmlformats.org/officeDocument/2006/customXml" ds:itemID="{7DD30D85-242D-47F2-ADE8-4E264517AC61}">
  <ds:schemaRefs/>
</ds:datastoreItem>
</file>

<file path=customXml/itemProps3.xml><?xml version="1.0" encoding="utf-8"?>
<ds:datastoreItem xmlns:ds="http://schemas.openxmlformats.org/officeDocument/2006/customXml" ds:itemID="{626BBCBB-1894-4E66-BA48-9E91CE3ACBA0}">
  <ds:schemaRefs/>
</ds:datastoreItem>
</file>

<file path=customXml/itemProps4.xml><?xml version="1.0" encoding="utf-8"?>
<ds:datastoreItem xmlns:ds="http://schemas.openxmlformats.org/officeDocument/2006/customXml" ds:itemID="{B3812128-B7DF-461F-A8F2-831754A1D2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00d59e-b0d2-4e67-be34-67e465b0fbed"/>
    <ds:schemaRef ds:uri="47fc58d8-9f4b-4bc8-b278-c3cb6f2980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09561F8A-C5CA-4E90-9A3E-13B0E84583E3}">
  <ds:schemaRefs/>
</ds:datastoreItem>
</file>

<file path=customXml/itemProps6.xml><?xml version="1.0" encoding="utf-8"?>
<ds:datastoreItem xmlns:ds="http://schemas.openxmlformats.org/officeDocument/2006/customXml" ds:itemID="{C1422F45-04DB-421D-8796-270006657806}">
  <ds:schemaRefs>
    <ds:schemaRef ds:uri="http://schemas.microsoft.com/office/2006/metadata/properties"/>
    <ds:schemaRef ds:uri="http://purl.org/dc/terms/"/>
    <ds:schemaRef ds:uri="http://schemas.openxmlformats.org/package/2006/metadata/core-properties"/>
    <ds:schemaRef ds:uri="0e00d59e-b0d2-4e67-be34-67e465b0fbed"/>
    <ds:schemaRef ds:uri="http://schemas.microsoft.com/office/2006/documentManagement/types"/>
    <ds:schemaRef ds:uri="http://schemas.microsoft.com/office/infopath/2007/PartnerControls"/>
    <ds:schemaRef ds:uri="http://purl.org/dc/elements/1.1/"/>
    <ds:schemaRef ds:uri="47fc58d8-9f4b-4bc8-b278-c3cb6f298023"/>
    <ds:schemaRef ds:uri="http://www.w3.org/XML/1998/namespace"/>
    <ds:schemaRef ds:uri="http://purl.org/dc/dcmitype/"/>
  </ds:schemaRefs>
</ds:datastoreItem>
</file>

<file path=customXml/itemProps7.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8.xml><?xml version="1.0" encoding="utf-8"?>
<ds:datastoreItem xmlns:ds="http://schemas.openxmlformats.org/officeDocument/2006/customXml" ds:itemID="{6AC8E625-7EB5-4131-AE74-E813D16EA7B5}">
  <ds:schemaRefs/>
</ds:datastoreItem>
</file>

<file path=customXml/itemProps9.xml><?xml version="1.0" encoding="utf-8"?>
<ds:datastoreItem xmlns:ds="http://schemas.openxmlformats.org/officeDocument/2006/customXml" ds:itemID="{CC49FFC8-2FF3-4057-96F0-3BCD1A4F0351}">
  <ds:schemaRefs/>
</ds:datastoreItem>
</file>

<file path=customXml/itemProps10.xml><?xml version="1.0" encoding="utf-8"?>
<ds:datastoreItem xmlns:ds="http://schemas.openxmlformats.org/officeDocument/2006/customXml" ds:itemID="{476793FD-4B3F-4879-94C2-1FE33A226E7D}">
  <ds:schemaRefs/>
</ds:datastoreItem>
</file>

<file path=customXml/itemProps11.xml><?xml version="1.0" encoding="utf-8"?>
<ds:datastoreItem xmlns:ds="http://schemas.openxmlformats.org/officeDocument/2006/customXml" ds:itemID="{91D4C477-4CBF-4833-A763-167B6759CA65}">
  <ds:schemaRefs/>
</ds:datastoreItem>
</file>

<file path=customXml/itemProps12.xml><?xml version="1.0" encoding="utf-8"?>
<ds:datastoreItem xmlns:ds="http://schemas.openxmlformats.org/officeDocument/2006/customXml" ds:itemID="{B40914FC-685F-4369-BE46-432F09D053E8}">
  <ds:schemaRefs/>
</ds:datastoreItem>
</file>

<file path=customXml/itemProps13.xml><?xml version="1.0" encoding="utf-8"?>
<ds:datastoreItem xmlns:ds="http://schemas.openxmlformats.org/officeDocument/2006/customXml" ds:itemID="{1573DAD5-A4D4-4037-9486-8ED366FF23FD}">
  <ds:schemaRefs/>
</ds:datastoreItem>
</file>

<file path=docMetadata/LabelInfo.xml><?xml version="1.0" encoding="utf-8"?>
<clbl:labelList xmlns:clbl="http://schemas.microsoft.com/office/2020/mipLabelMetadata">
  <clbl:label id="{42f7676c-f455-423c-82f6-dc2d99791af7}" enabled="0" method="" siteId="{42f7676c-f455-423c-82f6-dc2d99791af7}" removed="1"/>
</clbl:labelList>
</file>

<file path=docProps/app.xml><?xml version="1.0" encoding="utf-8"?>
<Properties xmlns="http://schemas.openxmlformats.org/officeDocument/2006/extended-properties" xmlns:vt="http://schemas.openxmlformats.org/officeDocument/2006/docPropsVTypes">
  <Template/>
  <TotalTime>35069</TotalTime>
  <Words>1658</Words>
  <Application>Microsoft Macintosh PowerPoint</Application>
  <PresentationFormat>Custom</PresentationFormat>
  <Paragraphs>346</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72 Brand</vt:lpstr>
      <vt:lpstr>Wingdings</vt:lpstr>
      <vt:lpstr>Roboto</vt:lpstr>
      <vt:lpstr>Courier New</vt:lpstr>
      <vt:lpstr>Symbol</vt:lpstr>
      <vt:lpstr>Arial</vt:lpstr>
      <vt:lpstr>72 Brand Medium</vt:lpstr>
      <vt:lpstr>Wingdings</vt:lpstr>
      <vt:lpstr>SAP Template 2024</vt:lpstr>
      <vt:lpstr>PiLog-BNAC Partnership Scope</vt:lpstr>
      <vt:lpstr>Partnership Scope Executive Summary</vt:lpstr>
      <vt:lpstr>PiLog-BNAC High-level Process Flow</vt:lpstr>
      <vt:lpstr>SAP BNAC – PiLog ICF Integration Process Flow – Based on Improvement Request</vt:lpstr>
      <vt:lpstr>SAP BNAC – PiLog ICF Integration Process Flow – Based on Equipment Request</vt:lpstr>
      <vt:lpstr>SAP BNAC – PiLog ICF Integration Process Flow – Based on Equipment Request</vt:lpstr>
      <vt:lpstr>PiLog Offering</vt:lpstr>
      <vt:lpstr>PiLog Offering Win-win positioning complementing BNAC collaboration capabilities</vt:lpstr>
      <vt:lpstr>PiLog Applications</vt:lpstr>
      <vt:lpstr>PiLog Applications</vt:lpstr>
      <vt:lpstr>Appendix</vt:lpstr>
      <vt:lpstr>SAP BNAC – PiLog ICF Integration High-level flow</vt:lpstr>
      <vt:lpstr>SAP BNAC – PiLog ICF Integration High-level flow</vt:lpstr>
      <vt:lpstr>SAP BNAC – PiLog ICF Integration High-level flow</vt:lpstr>
      <vt:lpstr>SAP BNAC – PiLog ICF Integration High-level flow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subject/>
  <dc:creator/>
  <cp:keywords>2024/16:9/white</cp:keywords>
  <dc:description/>
  <cp:lastModifiedBy>Imad Syed</cp:lastModifiedBy>
  <cp:revision>12</cp:revision>
  <dcterms:created xsi:type="dcterms:W3CDTF">2025-03-21T07:44:44Z</dcterms:created>
  <dcterms:modified xsi:type="dcterms:W3CDTF">2025-06-12T12:30:20Z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y fmtid="{D5CDD505-2E9C-101B-9397-08002B2CF9AE}" pid="8" name="ContentTypeId">
    <vt:lpwstr>0x010100615F0F9DCBF1E94796646FCF98A7C072</vt:lpwstr>
  </property>
  <property fmtid="{D5CDD505-2E9C-101B-9397-08002B2CF9AE}" pid="9" name="TemplafyTimeStamp">
    <vt:lpwstr>2024-07-09T08:38:38</vt:lpwstr>
  </property>
  <property fmtid="{D5CDD505-2E9C-101B-9397-08002B2CF9AE}" pid="10" name="TemplafyTenantId">
    <vt:lpwstr>sap</vt:lpwstr>
  </property>
  <property fmtid="{D5CDD505-2E9C-101B-9397-08002B2CF9AE}" pid="11" name="TemplafyTemplateId">
    <vt:lpwstr>953956191151325618</vt:lpwstr>
  </property>
  <property fmtid="{D5CDD505-2E9C-101B-9397-08002B2CF9AE}" pid="12" name="TemplafyUserProfileId">
    <vt:lpwstr>637708407511005078</vt:lpwstr>
  </property>
  <property fmtid="{D5CDD505-2E9C-101B-9397-08002B2CF9AE}" pid="13" name="TemplafyLanguageCode">
    <vt:lpwstr>en-US</vt:lpwstr>
  </property>
  <property fmtid="{D5CDD505-2E9C-101B-9397-08002B2CF9AE}" pid="14" name="TemplafyFromBlank">
    <vt:bool>true</vt:bool>
  </property>
</Properties>
</file>